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  <Relationship Id="rId2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presents the finalized system design for the Stock Investment Analysis App — a personal-use tool for Jacob across TWSE, TPEx and US markets. The design is implementation-ready: architecture, data model, APIs, sequence flows and a build roadmap. It reflects the QA-baselined specification, including the recommendation-engine business contract and the canonical decision-log schema.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line up front: one app replaces five disconnected tools with a single explainable Buy/Sell call and target price. Five lenses, four of which feed the score; one transparent −2 to +2 composite; free-first data; and a deliberately boring, cheap stack. The defining principle is explainability — every recommendation shows its per-lens reasoning, so it is decision-support, not a black box.</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integration cost. Technical, fundamental, informational, chip and supply-chain signals each live in a separate tool today, so the investor personally does the synthesis — slowly, and inconsistently. That manual step is exactly where good calls are lost. The app collapses five inputs into one decision, in one place, refreshed daily.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Mechanically, one daily pipeline does the heavy lifting overnight. You query a ticker; four lenses have already been scored from last night's batch; a weighted 30/30/25/15 blend produces one −2 to +2 composite; and the app surfaces a five-point call with a Bear/Base/Bull target, a confidence level and the reasoning. The supply-chain lens runs alongside to surface related names. Reads only touch the precomputed snapshot, so the dashboard loads in under five seconds.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lenses, but a precise division of labour. Technical, fundamental, informational and chip each emit a −2 to +2 signal that feeds the composite. The supply-chain lens is discovery-only — it maps the silicon-wafer graph to surface related investable names but does not feed the score. That distinction matters: the composite and confidence math is over the four scoring lenses.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engine is transparent by construction. Four module signals combine at default weights of 30/30/25/15 — configurable — into a −2 to +2 score that maps to a five-point call. The target price is a Bear/Base/Bull range, a fixed plus-or-minus fifteen percent band for the MVP. Confidence is derived from module agreement, and a conflicting-signals flag is raised when modules strongly disagree. All of this is referenced to a six-month horizon, configurable to three or twelve.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degrades gracefully and measures itself honestly. If one of four modules is missing, it renormalises weights and flags reduced confidence; if two or more are missing, it suppresses the call and shows analysis only. The backtest defines a Buy as correct when it beats its benchmark — the TAIEX for Taiwan, the S&amp;P 500 for the US — by more than two percentage points over the horizon; a Sell when it lags. Holds are excluded, rolling accuracy is computed over full-data days, and it needs twelve months of history. This benchmark-relative metric shows whether the model beats simply buying the index, not just whether it made money. A persistent "not financial advice" disclaimer is always shown.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five layers, deliberately boring and cheap. A native iOS client and a Next.js web app consume an auth-gated FastAPI layer, which fronts four domain services over a single Postgres-plus-TimescaleDB store with Redis caching. Underneath, a daily APScheduler pipeline runs four data adapters through the signal calculators and the scoring engine, marking any failed source unavailable rather than aborting the run.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technology choice optimises for low cost and low operational burden — boring, cheap and well-documented over scalable and exotic. Native iOS and Next.js on the client; FastAPI and Python for the API and quant ecosystem; APScheduler instead of Airflow for a single daily job; one Postgres-plus-Timescale store instead of two databases; GDELT for news; and a single roughly twenty-dollar-a-month VM instead of Kubernetes. The app serves one user, once a day.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schema holds facts, signals and decisions. The ticker table is the hub; six per-ticker fact tables carry price, indicators, fundamentals, chip data, US institutional positions and news, with signals stored alongside. The recommendation table doubles as the immutable history log and carries the per-module breakdown and data-completeness. The canonical user_decision_log — with a three-value decision enum, a nullable transaction price and a real composite foreign key — records what the user actually did without ever mutating the original recommendation. Sensitive columns are encrypted at rest.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surface is small, and the dashboard is a single-row read. Endpoints cover stock data, the decision log, config, pipeline status and auth. The dashboard contract always returns all four module keys with an ok-or-unavailable status, and the recommendation always carries a non-empty per-lens breakdown showing both assigned and effective weights — so no call ever ships without its reasoning. A single failed module returns a 200 with that module flagged; 503 is reserved for a total outage.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daily batch is a strict sequence that must finish by seven a.m. Taiwan time. It triggers around three a.m., ingests each source per ticker with per-adapter error isolation, computes signals, scores recommendations, recomputes the backtest segmented by completeness, and persists a versioned snapshot. That single window captures the prior full US session and the TW evening chip data. Clients then read only the snapshot — no live computation — which is how the five-second load target is met.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Resilience is concrete. If yfinance times out, the orchestrator catches it, marks the technical module unavailable, and lets the other three adapters continue. The engine renormalises weights across the survivors, sets data-completeness to point-seven-five, and still ships the call flagged reduced confidence — no crash, no silent stale data. Two or more failures trigger suppression to analysis-only, and partial-data days are kept out of the headline backtest number.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strategy is free-first with a documented escalation path. yfinance for TW and US price and fundamentals; the official TWSE/TPEx OpenAPI for TW chip; SEC 13F for US institutional positioning; GDELT plus VADER for news; and a curated wafer supply-chain dataset. The top risks are logged and owned — yfinance's unofficial status is the headline reliability risk — with paid vendors like TEJ or CMoney adopted only if free feeds prove insufficient.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decisions shape the build. Native iOS rather than a PWA, on the client's call, with the backend unchanged because the API was built platform-agnostic. Split authentication — cookies for web, JWT for iOS — from one verifier. Recommendation and decision tracking, with the recommendation table as the immutable log. Encryption at rest for sensitive financial data. And an English-only, on-demand MVP with no i18n and no watchlist. Each keeps the MVP small and reversible.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client-confirmed Azure PaaS v1.2 footprint, fully managed. App Service on a B2 Always-On plan hosts the Next.js web and FastAPI api from one shared container image; a Container Apps Job runs the nightly batch on a cron trigger at three a.m. Taiwan time and must complete by seven regardless of any web-tier state; PostgreSQL Flexible Server B2s, on a private endpoint, holds the relational tables and hypertables with the data model unchanged; Azure Cache for Redis is read-cache only; and Key Vault with managed identities holds secrets so there are no stored connection strings. Cost is about eighty-four to eighty-nine dollars a month for the safe, privately-networked tier with a budget alert, in the Japan East region for proximity to the Taiwan markets. The same platform-agnostic REST API means both clients are unchanged.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is nine sequenced steps, each a ready-to-assign ticket. Foundation first, then the yfinance adapter to unlock technical and fundamental fastest, then the chip adapters, the signal calculators and recommendation engine, the supply-chain module in parallel, news, the backtest engine, and the two clients — web and native iOS — in parallel, finishing with ops hardening. Every step already has its data model, API contract and acceptance criteria specified. The next step is the formal team review round, then revisions to a final deck.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8" name="Group 8"/>
          <p:cNvGrpSpPr/>
          <p:nvPr/>
        </p:nvGrpSpPr>
        <p:grpSpPr>
          <a:xfrm>
            <a:off x="9315450" y="1428750"/>
            <a:ext cx="1924050" cy="323850"/>
            <a:chOff x="9315450" y="1428750"/>
            <a:chExt cx="1924050" cy="323850"/>
          </a:xfrm>
        </p:grpSpPr>
        <p:sp>
          <p:nvSpPr>
            <p:cNvPr id="3" name="Rectangle 3"/>
            <p:cNvSpPr/>
            <p:nvPr/>
          </p:nvSpPr>
          <p:spPr>
            <a:xfrm>
              <a:off x="9315450" y="1428750"/>
              <a:ext cx="323850" cy="323850"/>
            </a:xfrm>
            <a:prstGeom prst="rect">
              <a:avLst/>
            </a:prstGeom>
            <a:solidFill>
              <a:srgbClr val="0F2A43"/>
            </a:solidFill>
            <a:ln>
              <a:noFill/>
            </a:ln>
          </p:spPr>
        </p:sp>
        <p:sp>
          <p:nvSpPr>
            <p:cNvPr id="4" name="Rectangle 4"/>
            <p:cNvSpPr/>
            <p:nvPr/>
          </p:nvSpPr>
          <p:spPr>
            <a:xfrm>
              <a:off x="9715500" y="1428750"/>
              <a:ext cx="323850" cy="323850"/>
            </a:xfrm>
            <a:prstGeom prst="rect">
              <a:avLst/>
            </a:prstGeom>
            <a:solidFill>
              <a:srgbClr val="2563EB"/>
            </a:solidFill>
            <a:ln>
              <a:noFill/>
            </a:ln>
          </p:spPr>
        </p:sp>
        <p:sp>
          <p:nvSpPr>
            <p:cNvPr id="5" name="Rectangle 5"/>
            <p:cNvSpPr/>
            <p:nvPr/>
          </p:nvSpPr>
          <p:spPr>
            <a:xfrm>
              <a:off x="10115550" y="1428750"/>
              <a:ext cx="323850" cy="323850"/>
            </a:xfrm>
            <a:prstGeom prst="rect">
              <a:avLst/>
            </a:prstGeom>
            <a:solidFill>
              <a:srgbClr val="0E9AA7"/>
            </a:solidFill>
            <a:ln>
              <a:noFill/>
            </a:ln>
          </p:spPr>
        </p:sp>
        <p:sp>
          <p:nvSpPr>
            <p:cNvPr id="6" name="Rectangle 6"/>
            <p:cNvSpPr/>
            <p:nvPr/>
          </p:nvSpPr>
          <p:spPr>
            <a:xfrm>
              <a:off x="10515600" y="1428750"/>
              <a:ext cx="323850" cy="323850"/>
            </a:xfrm>
            <a:prstGeom prst="rect">
              <a:avLst/>
            </a:prstGeom>
            <a:solidFill>
              <a:srgbClr val="0F2A43"/>
            </a:solidFill>
            <a:ln>
              <a:noFill/>
            </a:ln>
          </p:spPr>
        </p:sp>
        <p:sp>
          <p:nvSpPr>
            <p:cNvPr id="7" name="Rectangle 7"/>
            <p:cNvSpPr/>
            <p:nvPr/>
          </p:nvSpPr>
          <p:spPr>
            <a:xfrm>
              <a:off x="10915650" y="1428750"/>
              <a:ext cx="323850" cy="323850"/>
            </a:xfrm>
            <a:prstGeom prst="rect">
              <a:avLst/>
            </a:prstGeom>
            <a:solidFill>
              <a:srgbClr val="2563EB">
                <a:alpha val="35000"/>
              </a:srgbClr>
            </a:solidFill>
            <a:ln>
              <a:noFill/>
            </a:ln>
          </p:spPr>
        </p:sp>
      </p:grpSp>
      <p:grpSp>
        <p:nvGrpSpPr>
          <p:cNvPr id="10" name="Group 10"/>
          <p:cNvGrpSpPr/>
          <p:nvPr/>
        </p:nvGrpSpPr>
        <p:grpSpPr>
          <a:xfrm>
            <a:off x="762000" y="2019300"/>
            <a:ext cx="57150" cy="2381250"/>
            <a:chOff x="762000" y="2019300"/>
            <a:chExt cx="57150" cy="2381250"/>
          </a:xfrm>
        </p:grpSpPr>
        <p:sp>
          <p:nvSpPr>
            <p:cNvPr id="9" name="Rectangle 9"/>
            <p:cNvSpPr/>
            <p:nvPr/>
          </p:nvSpPr>
          <p:spPr>
            <a:xfrm>
              <a:off x="762000" y="2019300"/>
              <a:ext cx="57150" cy="2381250"/>
            </a:xfrm>
            <a:prstGeom prst="rect">
              <a:avLst/>
            </a:prstGeom>
            <a:solidFill>
              <a:srgbClr val="2563EB"/>
            </a:solidFill>
            <a:ln>
              <a:noFill/>
            </a:ln>
          </p:spPr>
        </p:sp>
      </p:grpSp>
      <p:grpSp>
        <p:nvGrpSpPr>
          <p:cNvPr id="16" name="Group 16"/>
          <p:cNvGrpSpPr/>
          <p:nvPr/>
        </p:nvGrpSpPr>
        <p:grpSpPr>
          <a:xfrm>
            <a:off x="990600" y="1775460"/>
            <a:ext cx="9936093" cy="2680335"/>
            <a:chOff x="990600" y="1775460"/>
            <a:chExt cx="9936093" cy="2680335"/>
          </a:xfrm>
        </p:grpSpPr>
        <p:sp>
          <p:nvSpPr>
            <p:cNvPr id="11" name="TextBox 11"/>
            <p:cNvSpPr txBox="1"/>
            <p:nvPr/>
          </p:nvSpPr>
          <p:spPr>
            <a:xfrm>
              <a:off x="1041654" y="1775460"/>
              <a:ext cx="1693469" cy="234696"/>
            </a:xfrm>
            <a:prstGeom prst="rect">
              <a:avLst/>
            </a:prstGeom>
            <a:noFill/>
            <a:ln>
              <a:noFill/>
            </a:ln>
          </p:spPr>
          <p:txBody>
            <a:bodyPr wrap="none" lIns="0" tIns="0" rIns="0" bIns="0" anchor="t" anchorCtr="0">
              <a:spAutoFit/>
            </a:bodyPr>
            <a:lstStyle/>
            <a:p>
              <a:pPr algn="l"/>
              <a:r>
                <a:rPr lang="en-US" sz="1200" spc="300" dirty="0">
                  <a:solidFill>
                    <a:srgbClr val="5B6B7B"/>
                  </a:solidFill>
                  <a:latin typeface="Arial"/>
                  <a:ea typeface="Arial"/>
                  <a:cs typeface="Arial"/>
                </a:rPr>
                <a:t>SYSTEM DESIGN</a:t>
              </a:r>
            </a:p>
          </p:txBody>
        </p:sp>
        <p:sp>
          <p:nvSpPr>
            <p:cNvPr id="12" name="TextBox 12"/>
            <p:cNvSpPr txBox="1"/>
            <p:nvPr/>
          </p:nvSpPr>
          <p:spPr>
            <a:xfrm>
              <a:off x="990600" y="2257425"/>
              <a:ext cx="5485581" cy="876300"/>
            </a:xfrm>
            <a:prstGeom prst="rect">
              <a:avLst/>
            </a:prstGeom>
            <a:noFill/>
            <a:ln>
              <a:noFill/>
            </a:ln>
          </p:spPr>
          <p:txBody>
            <a:bodyPr wrap="none" lIns="0" tIns="0" rIns="0" bIns="0" anchor="t" anchorCtr="0">
              <a:spAutoFit/>
            </a:bodyPr>
            <a:lstStyle/>
            <a:p>
              <a:pPr algn="l"/>
              <a:r>
                <a:rPr lang="en-US" sz="4500" b="1" dirty="0">
                  <a:solidFill>
                    <a:srgbClr val="0F2A43"/>
                  </a:solidFill>
                  <a:latin typeface="Arial"/>
                  <a:ea typeface="Arial"/>
                  <a:cs typeface="Arial"/>
                </a:rPr>
                <a:t>Stock Investment</a:t>
              </a:r>
            </a:p>
          </p:txBody>
        </p:sp>
        <p:sp>
          <p:nvSpPr>
            <p:cNvPr id="13" name="TextBox 13"/>
            <p:cNvSpPr txBox="1"/>
            <p:nvPr/>
          </p:nvSpPr>
          <p:spPr>
            <a:xfrm>
              <a:off x="990600" y="2905125"/>
              <a:ext cx="3797461" cy="876300"/>
            </a:xfrm>
            <a:prstGeom prst="rect">
              <a:avLst/>
            </a:prstGeom>
            <a:noFill/>
            <a:ln>
              <a:noFill/>
            </a:ln>
          </p:spPr>
          <p:txBody>
            <a:bodyPr wrap="none" lIns="0" tIns="0" rIns="0" bIns="0" anchor="t" anchorCtr="0">
              <a:spAutoFit/>
            </a:bodyPr>
            <a:lstStyle/>
            <a:p>
              <a:pPr algn="l"/>
              <a:r>
                <a:rPr lang="en-US" sz="4500" b="1" dirty="0">
                  <a:solidFill>
                    <a:srgbClr val="0F2A43"/>
                  </a:solidFill>
                  <a:latin typeface="Arial"/>
                  <a:ea typeface="Arial"/>
                  <a:cs typeface="Arial"/>
                </a:rPr>
                <a:t>Analysis App</a:t>
              </a:r>
            </a:p>
          </p:txBody>
        </p:sp>
        <p:sp>
          <p:nvSpPr>
            <p:cNvPr id="14" name="TextBox 14"/>
            <p:cNvSpPr txBox="1"/>
            <p:nvPr/>
          </p:nvSpPr>
          <p:spPr>
            <a:xfrm>
              <a:off x="1037844" y="3751898"/>
              <a:ext cx="9888849" cy="381381"/>
            </a:xfrm>
            <a:prstGeom prst="rect">
              <a:avLst/>
            </a:prstGeom>
            <a:noFill/>
            <a:ln>
              <a:noFill/>
            </a:ln>
          </p:spPr>
          <p:txBody>
            <a:bodyPr wrap="none" lIns="0" tIns="0" rIns="0" bIns="0" anchor="t" anchorCtr="0">
              <a:spAutoFit/>
            </a:bodyPr>
            <a:lstStyle/>
            <a:p>
              <a:pPr algn="l"/>
              <a:r>
                <a:rPr lang="en-US" sz="1950" dirty="0">
                  <a:solidFill>
                    <a:srgbClr val="5B6B7B"/>
                  </a:solidFill>
                  <a:latin typeface="Arial"/>
                  <a:ea typeface="Arial"/>
                  <a:cs typeface="Arial"/>
                </a:rPr>
                <a:t>Five-lens holistic equity analysis with explainable Buy / Sell recommendations</a:t>
              </a:r>
            </a:p>
          </p:txBody>
        </p:sp>
        <p:sp>
          <p:nvSpPr>
            <p:cNvPr id="15" name="TextBox 15"/>
            <p:cNvSpPr txBox="1"/>
            <p:nvPr/>
          </p:nvSpPr>
          <p:spPr>
            <a:xfrm>
              <a:off x="1040130" y="4162425"/>
              <a:ext cx="6361684" cy="293370"/>
            </a:xfrm>
            <a:prstGeom prst="rect">
              <a:avLst/>
            </a:prstGeom>
            <a:noFill/>
            <a:ln>
              <a:noFill/>
            </a:ln>
          </p:spPr>
          <p:txBody>
            <a:bodyPr wrap="none" lIns="0" tIns="0" rIns="0" bIns="0" anchor="t" anchorCtr="0">
              <a:spAutoFit/>
            </a:bodyPr>
            <a:lstStyle/>
            <a:p>
              <a:pPr algn="l"/>
              <a:r>
                <a:rPr lang="en-US" sz="1500" dirty="0">
                  <a:solidFill>
                    <a:srgbClr val="2563EB"/>
                  </a:solidFill>
                  <a:latin typeface="Arial"/>
                  <a:ea typeface="Arial"/>
                  <a:cs typeface="Arial"/>
                </a:rPr>
                <a:t>TWSE · TPEx · US markets · single daily batch · native iOS + web</a:t>
              </a:r>
            </a:p>
          </p:txBody>
        </p:sp>
      </p:grpSp>
      <p:grpSp>
        <p:nvGrpSpPr>
          <p:cNvPr id="26" name="Group 26"/>
          <p:cNvGrpSpPr/>
          <p:nvPr/>
        </p:nvGrpSpPr>
        <p:grpSpPr>
          <a:xfrm>
            <a:off x="754761" y="5715000"/>
            <a:ext cx="10675239" cy="715423"/>
            <a:chOff x="754761" y="5715000"/>
            <a:chExt cx="10675239" cy="715423"/>
          </a:xfrm>
        </p:grpSpPr>
        <p:sp>
          <p:nvSpPr>
            <p:cNvPr id="17" name="Line 17"/>
            <p:cNvSpPr/>
            <p:nvPr/>
          </p:nvSpPr>
          <p:spPr>
            <a:xfrm>
              <a:off x="762000" y="5715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18" name="TextBox 18"/>
            <p:cNvSpPr txBox="1"/>
            <p:nvPr/>
          </p:nvSpPr>
          <p:spPr>
            <a:xfrm>
              <a:off x="757047" y="5952649"/>
              <a:ext cx="539572"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CLIENT</a:t>
              </a:r>
            </a:p>
          </p:txBody>
        </p:sp>
        <p:sp>
          <p:nvSpPr>
            <p:cNvPr id="19" name="TextBox 19"/>
            <p:cNvSpPr txBox="1"/>
            <p:nvPr/>
          </p:nvSpPr>
          <p:spPr>
            <a:xfrm>
              <a:off x="754761" y="6151721"/>
              <a:ext cx="928854" cy="278702"/>
            </a:xfrm>
            <a:prstGeom prst="rect">
              <a:avLst/>
            </a:prstGeom>
            <a:noFill/>
            <a:ln>
              <a:noFill/>
            </a:ln>
          </p:spPr>
          <p:txBody>
            <a:bodyPr wrap="none" lIns="0" tIns="0" rIns="0" bIns="0" anchor="t" anchorCtr="0">
              <a:spAutoFit/>
            </a:bodyPr>
            <a:lstStyle/>
            <a:p>
              <a:pPr algn="l"/>
              <a:r>
                <a:rPr lang="en-US" sz="1420" dirty="0">
                  <a:solidFill>
                    <a:srgbClr val="0F2A43"/>
                  </a:solidFill>
                  <a:latin typeface="Arial"/>
                  <a:ea typeface="Arial"/>
                  <a:cs typeface="Arial"/>
                </a:rPr>
                <a:t>Jacob Lee</a:t>
              </a:r>
            </a:p>
          </p:txBody>
        </p:sp>
        <p:sp>
          <p:nvSpPr>
            <p:cNvPr id="20" name="TextBox 20"/>
            <p:cNvSpPr txBox="1"/>
            <p:nvPr/>
          </p:nvSpPr>
          <p:spPr>
            <a:xfrm>
              <a:off x="3614547" y="5952649"/>
              <a:ext cx="1027633"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PREPARED BY</a:t>
              </a:r>
            </a:p>
          </p:txBody>
        </p:sp>
        <p:sp>
          <p:nvSpPr>
            <p:cNvPr id="21" name="TextBox 21"/>
            <p:cNvSpPr txBox="1"/>
            <p:nvPr/>
          </p:nvSpPr>
          <p:spPr>
            <a:xfrm>
              <a:off x="3612261" y="6151721"/>
              <a:ext cx="1398032" cy="278702"/>
            </a:xfrm>
            <a:prstGeom prst="rect">
              <a:avLst/>
            </a:prstGeom>
            <a:noFill/>
            <a:ln>
              <a:noFill/>
            </a:ln>
          </p:spPr>
          <p:txBody>
            <a:bodyPr wrap="none" lIns="0" tIns="0" rIns="0" bIns="0" anchor="t" anchorCtr="0">
              <a:spAutoFit/>
            </a:bodyPr>
            <a:lstStyle/>
            <a:p>
              <a:pPr algn="l"/>
              <a:r>
                <a:rPr lang="en-US" sz="1420" dirty="0">
                  <a:solidFill>
                    <a:srgbClr val="0F2A43"/>
                  </a:solidFill>
                  <a:latin typeface="Arial"/>
                  <a:ea typeface="Arial"/>
                  <a:cs typeface="Arial"/>
                </a:rPr>
                <a:t>DeckGenerator</a:t>
              </a:r>
            </a:p>
          </p:txBody>
        </p:sp>
        <p:sp>
          <p:nvSpPr>
            <p:cNvPr id="22" name="TextBox 22"/>
            <p:cNvSpPr txBox="1"/>
            <p:nvPr/>
          </p:nvSpPr>
          <p:spPr>
            <a:xfrm>
              <a:off x="6853047" y="5952649"/>
              <a:ext cx="379019"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DATE</a:t>
              </a:r>
            </a:p>
          </p:txBody>
        </p:sp>
        <p:sp>
          <p:nvSpPr>
            <p:cNvPr id="23" name="TextBox 23"/>
            <p:cNvSpPr txBox="1"/>
            <p:nvPr/>
          </p:nvSpPr>
          <p:spPr>
            <a:xfrm>
              <a:off x="6850761" y="6151721"/>
              <a:ext cx="1069562" cy="278702"/>
            </a:xfrm>
            <a:prstGeom prst="rect">
              <a:avLst/>
            </a:prstGeom>
            <a:noFill/>
            <a:ln>
              <a:noFill/>
            </a:ln>
          </p:spPr>
          <p:txBody>
            <a:bodyPr wrap="none" lIns="0" tIns="0" rIns="0" bIns="0" anchor="t" anchorCtr="0">
              <a:spAutoFit/>
            </a:bodyPr>
            <a:lstStyle/>
            <a:p>
              <a:pPr algn="l"/>
              <a:r>
                <a:rPr lang="en-US" sz="1420" dirty="0">
                  <a:solidFill>
                    <a:srgbClr val="0F2A43"/>
                  </a:solidFill>
                  <a:latin typeface="Arial"/>
                  <a:ea typeface="Arial"/>
                  <a:cs typeface="Arial"/>
                </a:rPr>
                <a:t>2026-07-07</a:t>
              </a:r>
            </a:p>
          </p:txBody>
        </p:sp>
        <p:sp>
          <p:nvSpPr>
            <p:cNvPr id="24" name="TextBox 24"/>
            <p:cNvSpPr txBox="1"/>
            <p:nvPr/>
          </p:nvSpPr>
          <p:spPr>
            <a:xfrm>
              <a:off x="9520047" y="5952649"/>
              <a:ext cx="574243"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STATUS</a:t>
              </a:r>
            </a:p>
          </p:txBody>
        </p:sp>
        <p:sp>
          <p:nvSpPr>
            <p:cNvPr id="25" name="TextBox 25"/>
            <p:cNvSpPr txBox="1"/>
            <p:nvPr/>
          </p:nvSpPr>
          <p:spPr>
            <a:xfrm>
              <a:off x="9517761" y="6151721"/>
              <a:ext cx="436512" cy="278702"/>
            </a:xfrm>
            <a:prstGeom prst="rect">
              <a:avLst/>
            </a:prstGeom>
            <a:noFill/>
            <a:ln>
              <a:noFill/>
            </a:ln>
          </p:spPr>
          <p:txBody>
            <a:bodyPr wrap="none" lIns="0" tIns="0" rIns="0" bIns="0" anchor="t" anchorCtr="0">
              <a:spAutoFit/>
            </a:bodyPr>
            <a:lstStyle/>
            <a:p>
              <a:pPr algn="l"/>
              <a:r>
                <a:rPr lang="en-US" sz="1420" dirty="0">
                  <a:solidFill>
                    <a:srgbClr val="2563EB"/>
                  </a:solidFill>
                  <a:latin typeface="Arial"/>
                  <a:ea typeface="Arial"/>
                  <a:cs typeface="Arial"/>
                </a:rPr>
                <a:t>v1.0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49808" y="572452"/>
            <a:ext cx="15191732" cy="1019937"/>
            <a:chOff x="749808" y="572452"/>
            <a:chExt cx="15191732" cy="1019937"/>
          </a:xfrm>
        </p:grpSpPr>
        <p:sp>
          <p:nvSpPr>
            <p:cNvPr id="3" name="TextBox 3"/>
            <p:cNvSpPr txBox="1"/>
            <p:nvPr/>
          </p:nvSpPr>
          <p:spPr>
            <a:xfrm>
              <a:off x="756666" y="572452"/>
              <a:ext cx="1904238"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EXECUTIVE SUMMARY</a:t>
              </a:r>
            </a:p>
          </p:txBody>
        </p:sp>
        <p:sp>
          <p:nvSpPr>
            <p:cNvPr id="4" name="TextBox 4"/>
            <p:cNvSpPr txBox="1"/>
            <p:nvPr/>
          </p:nvSpPr>
          <p:spPr>
            <a:xfrm>
              <a:off x="749808" y="845820"/>
              <a:ext cx="10754906"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One app unifies five analysis lenses into one explainable daily call</a:t>
              </a:r>
            </a:p>
          </p:txBody>
        </p:sp>
        <p:sp>
          <p:nvSpPr>
            <p:cNvPr id="5" name="TextBox 5"/>
            <p:cNvSpPr txBox="1"/>
            <p:nvPr/>
          </p:nvSpPr>
          <p:spPr>
            <a:xfrm>
              <a:off x="753618" y="1269682"/>
              <a:ext cx="15187922" cy="322707"/>
            </a:xfrm>
            <a:prstGeom prst="rect">
              <a:avLst/>
            </a:prstGeom>
            <a:noFill/>
            <a:ln>
              <a:noFill/>
            </a:ln>
          </p:spPr>
          <p:txBody>
            <a:bodyPr wrap="none" lIns="0" tIns="0" rIns="0" bIns="0" anchor="t" anchorCtr="0">
              <a:spAutoFit/>
            </a:bodyPr>
            <a:lstStyle/>
            <a:p>
              <a:pPr algn="l"/>
              <a:r>
                <a:rPr lang="en-US" sz="1650" dirty="0">
                  <a:solidFill>
                    <a:srgbClr val="5B6B7B"/>
                  </a:solidFill>
                  <a:latin typeface="Arial"/>
                  <a:ea typeface="Arial"/>
                  <a:cs typeface="Arial"/>
                </a:rPr>
                <a:t>A personal-use tool that turns fragmented market signals into a single Buy / Sell recommendation with a target price and visible reasoning.</a:t>
              </a:r>
            </a:p>
          </p:txBody>
        </p:sp>
      </p:grpSp>
      <p:grpSp>
        <p:nvGrpSpPr>
          <p:cNvPr id="15" name="Group 15"/>
          <p:cNvGrpSpPr/>
          <p:nvPr/>
        </p:nvGrpSpPr>
        <p:grpSpPr>
          <a:xfrm>
            <a:off x="762000" y="2000250"/>
            <a:ext cx="2415654" cy="2381250"/>
            <a:chOff x="762000" y="2000250"/>
            <a:chExt cx="2415654" cy="2381250"/>
          </a:xfrm>
        </p:grpSpPr>
        <p:sp>
          <p:nvSpPr>
            <p:cNvPr id="7" name="Rectangle 7"/>
            <p:cNvSpPr/>
            <p:nvPr/>
          </p:nvSpPr>
          <p:spPr>
            <a:xfrm>
              <a:off x="762000" y="2000250"/>
              <a:ext cx="57150" cy="2381250"/>
            </a:xfrm>
            <a:prstGeom prst="rect">
              <a:avLst/>
            </a:prstGeom>
            <a:solidFill>
              <a:srgbClr val="2563EB"/>
            </a:solidFill>
            <a:ln>
              <a:noFill/>
            </a:ln>
          </p:spPr>
        </p:sp>
        <p:sp>
          <p:nvSpPr>
            <p:cNvPr id="8" name="TextBox 8"/>
            <p:cNvSpPr txBox="1"/>
            <p:nvPr/>
          </p:nvSpPr>
          <p:spPr>
            <a:xfrm>
              <a:off x="1002030" y="2105025"/>
              <a:ext cx="1145341"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Five lenses</a:t>
              </a:r>
            </a:p>
          </p:txBody>
        </p:sp>
        <p:sp>
          <p:nvSpPr>
            <p:cNvPr id="9" name="TextBox 9"/>
            <p:cNvSpPr txBox="1"/>
            <p:nvPr/>
          </p:nvSpPr>
          <p:spPr>
            <a:xfrm>
              <a:off x="1003173" y="2510314"/>
              <a:ext cx="781558"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Technical</a:t>
              </a:r>
            </a:p>
          </p:txBody>
        </p:sp>
        <p:sp>
          <p:nvSpPr>
            <p:cNvPr id="10" name="TextBox 10"/>
            <p:cNvSpPr txBox="1"/>
            <p:nvPr/>
          </p:nvSpPr>
          <p:spPr>
            <a:xfrm>
              <a:off x="1003173" y="2777014"/>
              <a:ext cx="1048096"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Fundamental</a:t>
              </a:r>
            </a:p>
          </p:txBody>
        </p:sp>
        <p:sp>
          <p:nvSpPr>
            <p:cNvPr id="11" name="TextBox 11"/>
            <p:cNvSpPr txBox="1"/>
            <p:nvPr/>
          </p:nvSpPr>
          <p:spPr>
            <a:xfrm>
              <a:off x="1003173" y="3043714"/>
              <a:ext cx="1150714"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Informational</a:t>
              </a:r>
            </a:p>
          </p:txBody>
        </p:sp>
        <p:sp>
          <p:nvSpPr>
            <p:cNvPr id="12" name="TextBox 12"/>
            <p:cNvSpPr txBox="1"/>
            <p:nvPr/>
          </p:nvSpPr>
          <p:spPr>
            <a:xfrm>
              <a:off x="1003173" y="3310414"/>
              <a:ext cx="1605915"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Chip / institutional</a:t>
              </a:r>
            </a:p>
          </p:txBody>
        </p:sp>
        <p:sp>
          <p:nvSpPr>
            <p:cNvPr id="13" name="TextBox 13"/>
            <p:cNvSpPr txBox="1"/>
            <p:nvPr/>
          </p:nvSpPr>
          <p:spPr>
            <a:xfrm>
              <a:off x="1003173" y="3577114"/>
              <a:ext cx="1022218"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Supply chain</a:t>
              </a:r>
            </a:p>
          </p:txBody>
        </p:sp>
        <p:sp>
          <p:nvSpPr>
            <p:cNvPr id="14" name="TextBox 14"/>
            <p:cNvSpPr txBox="1"/>
            <p:nvPr/>
          </p:nvSpPr>
          <p:spPr>
            <a:xfrm>
              <a:off x="1004316" y="3982402"/>
              <a:ext cx="2173338" cy="205359"/>
            </a:xfrm>
            <a:prstGeom prst="rect">
              <a:avLst/>
            </a:prstGeom>
            <a:noFill/>
            <a:ln>
              <a:noFill/>
            </a:ln>
          </p:spPr>
          <p:txBody>
            <a:bodyPr wrap="none" lIns="0" tIns="0" rIns="0" bIns="0" anchor="t" anchorCtr="0">
              <a:spAutoFit/>
            </a:bodyPr>
            <a:lstStyle/>
            <a:p>
              <a:pPr algn="l"/>
              <a:r>
                <a:rPr lang="en-US" sz="1050" dirty="0">
                  <a:solidFill>
                    <a:srgbClr val="0E9AA7"/>
                  </a:solidFill>
                  <a:latin typeface="Arial"/>
                  <a:ea typeface="Arial"/>
                  <a:cs typeface="Arial"/>
                </a:rPr>
                <a:t>4 score the call · 1 finds names</a:t>
              </a:r>
            </a:p>
          </p:txBody>
        </p:sp>
      </p:grpSp>
      <p:grpSp>
        <p:nvGrpSpPr>
          <p:cNvPr id="24" name="Group 24"/>
          <p:cNvGrpSpPr/>
          <p:nvPr/>
        </p:nvGrpSpPr>
        <p:grpSpPr>
          <a:xfrm>
            <a:off x="3581400" y="2000250"/>
            <a:ext cx="2436857" cy="2381250"/>
            <a:chOff x="3581400" y="2000250"/>
            <a:chExt cx="2436857" cy="2381250"/>
          </a:xfrm>
        </p:grpSpPr>
        <p:sp>
          <p:nvSpPr>
            <p:cNvPr id="16" name="Rectangle 16"/>
            <p:cNvSpPr/>
            <p:nvPr/>
          </p:nvSpPr>
          <p:spPr>
            <a:xfrm>
              <a:off x="3581400" y="2000250"/>
              <a:ext cx="57150" cy="2381250"/>
            </a:xfrm>
            <a:prstGeom prst="rect">
              <a:avLst/>
            </a:prstGeom>
            <a:solidFill>
              <a:srgbClr val="2563EB"/>
            </a:solidFill>
            <a:ln>
              <a:noFill/>
            </a:ln>
          </p:spPr>
        </p:sp>
        <p:sp>
          <p:nvSpPr>
            <p:cNvPr id="17" name="TextBox 17"/>
            <p:cNvSpPr txBox="1"/>
            <p:nvPr/>
          </p:nvSpPr>
          <p:spPr>
            <a:xfrm>
              <a:off x="3821430" y="2105025"/>
              <a:ext cx="1061521"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One score</a:t>
              </a:r>
            </a:p>
          </p:txBody>
        </p:sp>
        <p:sp>
          <p:nvSpPr>
            <p:cNvPr id="18" name="TextBox 18"/>
            <p:cNvSpPr txBox="1"/>
            <p:nvPr/>
          </p:nvSpPr>
          <p:spPr>
            <a:xfrm>
              <a:off x="3822573" y="2510314"/>
              <a:ext cx="1779929"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Transparent −2 to +2</a:t>
              </a:r>
            </a:p>
          </p:txBody>
        </p:sp>
        <p:sp>
          <p:nvSpPr>
            <p:cNvPr id="19" name="TextBox 19"/>
            <p:cNvSpPr txBox="1"/>
            <p:nvPr/>
          </p:nvSpPr>
          <p:spPr>
            <a:xfrm>
              <a:off x="3822573" y="2777014"/>
              <a:ext cx="1652121"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weighted composite</a:t>
              </a:r>
            </a:p>
          </p:txBody>
        </p:sp>
        <p:sp>
          <p:nvSpPr>
            <p:cNvPr id="20" name="TextBox 20"/>
            <p:cNvSpPr txBox="1"/>
            <p:nvPr/>
          </p:nvSpPr>
          <p:spPr>
            <a:xfrm>
              <a:off x="3822573" y="3043714"/>
              <a:ext cx="2092071"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5-point Strong Buy → Sell</a:t>
              </a:r>
            </a:p>
          </p:txBody>
        </p:sp>
        <p:sp>
          <p:nvSpPr>
            <p:cNvPr id="21" name="TextBox 21"/>
            <p:cNvSpPr txBox="1"/>
            <p:nvPr/>
          </p:nvSpPr>
          <p:spPr>
            <a:xfrm>
              <a:off x="3822573" y="3310414"/>
              <a:ext cx="2092071"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Bear / Base / Bull target</a:t>
              </a:r>
            </a:p>
          </p:txBody>
        </p:sp>
        <p:sp>
          <p:nvSpPr>
            <p:cNvPr id="22" name="TextBox 22"/>
            <p:cNvSpPr txBox="1"/>
            <p:nvPr/>
          </p:nvSpPr>
          <p:spPr>
            <a:xfrm>
              <a:off x="3822573" y="3577114"/>
              <a:ext cx="2172585"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Confidence + conflict flag</a:t>
              </a:r>
            </a:p>
          </p:txBody>
        </p:sp>
        <p:sp>
          <p:nvSpPr>
            <p:cNvPr id="23" name="TextBox 23"/>
            <p:cNvSpPr txBox="1"/>
            <p:nvPr/>
          </p:nvSpPr>
          <p:spPr>
            <a:xfrm>
              <a:off x="3823716" y="3982402"/>
              <a:ext cx="2194541" cy="205359"/>
            </a:xfrm>
            <a:prstGeom prst="rect">
              <a:avLst/>
            </a:prstGeom>
            <a:noFill/>
            <a:ln>
              <a:noFill/>
            </a:ln>
          </p:spPr>
          <p:txBody>
            <a:bodyPr wrap="none" lIns="0" tIns="0" rIns="0" bIns="0" anchor="t" anchorCtr="0">
              <a:spAutoFit/>
            </a:bodyPr>
            <a:lstStyle/>
            <a:p>
              <a:pPr algn="l"/>
              <a:r>
                <a:rPr lang="en-US" sz="1050" dirty="0">
                  <a:solidFill>
                    <a:srgbClr val="0E9AA7"/>
                  </a:solidFill>
                  <a:latin typeface="Arial"/>
                  <a:ea typeface="Arial"/>
                  <a:cs typeface="Arial"/>
                </a:rPr>
                <a:t>6-month horizon (configurable)</a:t>
              </a:r>
            </a:p>
          </p:txBody>
        </p:sp>
      </p:grpSp>
      <p:grpSp>
        <p:nvGrpSpPr>
          <p:cNvPr id="32" name="Group 32"/>
          <p:cNvGrpSpPr/>
          <p:nvPr/>
        </p:nvGrpSpPr>
        <p:grpSpPr>
          <a:xfrm>
            <a:off x="6400800" y="2000250"/>
            <a:ext cx="2914555" cy="2381250"/>
            <a:chOff x="6400800" y="2000250"/>
            <a:chExt cx="2914555" cy="2381250"/>
          </a:xfrm>
        </p:grpSpPr>
        <p:sp>
          <p:nvSpPr>
            <p:cNvPr id="25" name="Rectangle 25"/>
            <p:cNvSpPr/>
            <p:nvPr/>
          </p:nvSpPr>
          <p:spPr>
            <a:xfrm>
              <a:off x="6400800" y="2000250"/>
              <a:ext cx="57150" cy="2381250"/>
            </a:xfrm>
            <a:prstGeom prst="rect">
              <a:avLst/>
            </a:prstGeom>
            <a:solidFill>
              <a:srgbClr val="2563EB"/>
            </a:solidFill>
            <a:ln>
              <a:noFill/>
            </a:ln>
          </p:spPr>
        </p:sp>
        <p:sp>
          <p:nvSpPr>
            <p:cNvPr id="26" name="TextBox 26"/>
            <p:cNvSpPr txBox="1"/>
            <p:nvPr/>
          </p:nvSpPr>
          <p:spPr>
            <a:xfrm>
              <a:off x="6640830" y="2105025"/>
              <a:ext cx="1665600"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Free-first data</a:t>
              </a:r>
            </a:p>
          </p:txBody>
        </p:sp>
        <p:sp>
          <p:nvSpPr>
            <p:cNvPr id="27" name="TextBox 27"/>
            <p:cNvSpPr txBox="1"/>
            <p:nvPr/>
          </p:nvSpPr>
          <p:spPr>
            <a:xfrm>
              <a:off x="6641973" y="2510314"/>
              <a:ext cx="2673382"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yfinance — price / fundamentals</a:t>
              </a:r>
            </a:p>
          </p:txBody>
        </p:sp>
        <p:sp>
          <p:nvSpPr>
            <p:cNvPr id="28" name="TextBox 28"/>
            <p:cNvSpPr txBox="1"/>
            <p:nvPr/>
          </p:nvSpPr>
          <p:spPr>
            <a:xfrm>
              <a:off x="6641973" y="2777014"/>
              <a:ext cx="2308539"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TWSE / TPEx OpenAPI — chip</a:t>
              </a:r>
            </a:p>
          </p:txBody>
        </p:sp>
        <p:sp>
          <p:nvSpPr>
            <p:cNvPr id="29" name="TextBox 29"/>
            <p:cNvSpPr txBox="1"/>
            <p:nvPr/>
          </p:nvSpPr>
          <p:spPr>
            <a:xfrm>
              <a:off x="6641973" y="3043714"/>
              <a:ext cx="2104507"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SEC EDGAR 13F — US inst.</a:t>
              </a:r>
            </a:p>
          </p:txBody>
        </p:sp>
        <p:sp>
          <p:nvSpPr>
            <p:cNvPr id="30" name="TextBox 30"/>
            <p:cNvSpPr txBox="1"/>
            <p:nvPr/>
          </p:nvSpPr>
          <p:spPr>
            <a:xfrm>
              <a:off x="6641973" y="3310414"/>
              <a:ext cx="1834471"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GDELT — news + VADER</a:t>
              </a:r>
            </a:p>
          </p:txBody>
        </p:sp>
        <p:sp>
          <p:nvSpPr>
            <p:cNvPr id="31" name="TextBox 31"/>
            <p:cNvSpPr txBox="1"/>
            <p:nvPr/>
          </p:nvSpPr>
          <p:spPr>
            <a:xfrm>
              <a:off x="6643116" y="3982402"/>
              <a:ext cx="1711452" cy="205359"/>
            </a:xfrm>
            <a:prstGeom prst="rect">
              <a:avLst/>
            </a:prstGeom>
            <a:noFill/>
            <a:ln>
              <a:noFill/>
            </a:ln>
          </p:spPr>
          <p:txBody>
            <a:bodyPr wrap="none" lIns="0" tIns="0" rIns="0" bIns="0" anchor="t" anchorCtr="0">
              <a:spAutoFit/>
            </a:bodyPr>
            <a:lstStyle/>
            <a:p>
              <a:pPr algn="l"/>
              <a:r>
                <a:rPr lang="en-US" sz="1050" dirty="0">
                  <a:solidFill>
                    <a:srgbClr val="0E9AA7"/>
                  </a:solidFill>
                  <a:latin typeface="Arial"/>
                  <a:ea typeface="Arial"/>
                  <a:cs typeface="Arial"/>
                </a:rPr>
                <a:t>Paid feeds only if needed</a:t>
              </a:r>
            </a:p>
          </p:txBody>
        </p:sp>
      </p:grpSp>
      <p:grpSp>
        <p:nvGrpSpPr>
          <p:cNvPr id="40" name="Group 40"/>
          <p:cNvGrpSpPr/>
          <p:nvPr/>
        </p:nvGrpSpPr>
        <p:grpSpPr>
          <a:xfrm>
            <a:off x="9220200" y="2000250"/>
            <a:ext cx="2592390" cy="2381250"/>
            <a:chOff x="9220200" y="2000250"/>
            <a:chExt cx="2592390" cy="2381250"/>
          </a:xfrm>
        </p:grpSpPr>
        <p:sp>
          <p:nvSpPr>
            <p:cNvPr id="33" name="Rectangle 33"/>
            <p:cNvSpPr/>
            <p:nvPr/>
          </p:nvSpPr>
          <p:spPr>
            <a:xfrm>
              <a:off x="9220200" y="2000250"/>
              <a:ext cx="57150" cy="2381250"/>
            </a:xfrm>
            <a:prstGeom prst="rect">
              <a:avLst/>
            </a:prstGeom>
            <a:solidFill>
              <a:srgbClr val="2563EB"/>
            </a:solidFill>
            <a:ln>
              <a:noFill/>
            </a:ln>
          </p:spPr>
        </p:sp>
        <p:sp>
          <p:nvSpPr>
            <p:cNvPr id="34" name="TextBox 34"/>
            <p:cNvSpPr txBox="1"/>
            <p:nvPr/>
          </p:nvSpPr>
          <p:spPr>
            <a:xfrm>
              <a:off x="9460230" y="2105025"/>
              <a:ext cx="1496407"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Boring &amp; cheap</a:t>
              </a:r>
            </a:p>
          </p:txBody>
        </p:sp>
        <p:sp>
          <p:nvSpPr>
            <p:cNvPr id="35" name="TextBox 35"/>
            <p:cNvSpPr txBox="1"/>
            <p:nvPr/>
          </p:nvSpPr>
          <p:spPr>
            <a:xfrm>
              <a:off x="9461373" y="2510314"/>
              <a:ext cx="1459835"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Single daily batch</a:t>
              </a:r>
            </a:p>
          </p:txBody>
        </p:sp>
        <p:sp>
          <p:nvSpPr>
            <p:cNvPr id="36" name="TextBox 36"/>
            <p:cNvSpPr txBox="1"/>
            <p:nvPr/>
          </p:nvSpPr>
          <p:spPr>
            <a:xfrm>
              <a:off x="9461373" y="2777014"/>
              <a:ext cx="2351217"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One Postgres + TimescaleDB</a:t>
              </a:r>
            </a:p>
          </p:txBody>
        </p:sp>
        <p:sp>
          <p:nvSpPr>
            <p:cNvPr id="37" name="TextBox 37"/>
            <p:cNvSpPr txBox="1"/>
            <p:nvPr/>
          </p:nvSpPr>
          <p:spPr>
            <a:xfrm>
              <a:off x="9461373" y="3043714"/>
              <a:ext cx="2256957"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Single VM, Docker Compose</a:t>
              </a:r>
            </a:p>
          </p:txBody>
        </p:sp>
        <p:sp>
          <p:nvSpPr>
            <p:cNvPr id="38" name="TextBox 38"/>
            <p:cNvSpPr txBox="1"/>
            <p:nvPr/>
          </p:nvSpPr>
          <p:spPr>
            <a:xfrm>
              <a:off x="9461373" y="3310414"/>
              <a:ext cx="1927474"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Native iOS + web client</a:t>
              </a:r>
            </a:p>
          </p:txBody>
        </p:sp>
        <p:sp>
          <p:nvSpPr>
            <p:cNvPr id="39" name="TextBox 39"/>
            <p:cNvSpPr txBox="1"/>
            <p:nvPr/>
          </p:nvSpPr>
          <p:spPr>
            <a:xfrm>
              <a:off x="9462516" y="3982402"/>
              <a:ext cx="1692745" cy="205359"/>
            </a:xfrm>
            <a:prstGeom prst="rect">
              <a:avLst/>
            </a:prstGeom>
            <a:noFill/>
            <a:ln>
              <a:noFill/>
            </a:ln>
          </p:spPr>
          <p:txBody>
            <a:bodyPr wrap="none" lIns="0" tIns="0" rIns="0" bIns="0" anchor="t" anchorCtr="0">
              <a:spAutoFit/>
            </a:bodyPr>
            <a:lstStyle/>
            <a:p>
              <a:pPr algn="l"/>
              <a:r>
                <a:rPr lang="en-US" sz="1050" dirty="0">
                  <a:solidFill>
                    <a:srgbClr val="0E9AA7"/>
                  </a:solidFill>
                  <a:latin typeface="Arial"/>
                  <a:ea typeface="Arial"/>
                  <a:cs typeface="Arial"/>
                </a:rPr>
                <a:t>~$20 / month single node</a:t>
              </a:r>
            </a:p>
          </p:txBody>
        </p:sp>
      </p:grpSp>
      <p:grpSp>
        <p:nvGrpSpPr>
          <p:cNvPr id="45" name="Group 45"/>
          <p:cNvGrpSpPr/>
          <p:nvPr/>
        </p:nvGrpSpPr>
        <p:grpSpPr>
          <a:xfrm>
            <a:off x="762000" y="4876800"/>
            <a:ext cx="10668000" cy="914400"/>
            <a:chOff x="762000" y="4876800"/>
            <a:chExt cx="10668000" cy="914400"/>
          </a:xfrm>
        </p:grpSpPr>
        <p:sp>
          <p:nvSpPr>
            <p:cNvPr id="41" name="Rectangle 41"/>
            <p:cNvSpPr/>
            <p:nvPr/>
          </p:nvSpPr>
          <p:spPr>
            <a:xfrm>
              <a:off x="762000" y="4876800"/>
              <a:ext cx="10668000" cy="914400"/>
            </a:xfrm>
            <a:prstGeom prst="rect">
              <a:avLst/>
            </a:prstGeom>
            <a:solidFill>
              <a:srgbClr val="0F2A43"/>
            </a:solidFill>
            <a:ln>
              <a:noFill/>
            </a:ln>
          </p:spPr>
        </p:sp>
        <p:sp>
          <p:nvSpPr>
            <p:cNvPr id="42" name="Rectangle 42"/>
            <p:cNvSpPr/>
            <p:nvPr/>
          </p:nvSpPr>
          <p:spPr>
            <a:xfrm>
              <a:off x="762000" y="4876800"/>
              <a:ext cx="57150" cy="914400"/>
            </a:xfrm>
            <a:prstGeom prst="rect">
              <a:avLst/>
            </a:prstGeom>
            <a:solidFill>
              <a:srgbClr val="2563EB"/>
            </a:solidFill>
            <a:ln>
              <a:noFill/>
            </a:ln>
          </p:spPr>
        </p:sp>
        <p:sp>
          <p:nvSpPr>
            <p:cNvPr id="43" name="TextBox 43"/>
            <p:cNvSpPr txBox="1"/>
            <p:nvPr/>
          </p:nvSpPr>
          <p:spPr>
            <a:xfrm>
              <a:off x="1137666" y="5144452"/>
              <a:ext cx="1668475" cy="205359"/>
            </a:xfrm>
            <a:prstGeom prst="rect">
              <a:avLst/>
            </a:prstGeom>
            <a:noFill/>
            <a:ln>
              <a:noFill/>
            </a:ln>
          </p:spPr>
          <p:txBody>
            <a:bodyPr wrap="none" lIns="0" tIns="0" rIns="0" bIns="0" anchor="t" anchorCtr="0">
              <a:spAutoFit/>
            </a:bodyPr>
            <a:lstStyle/>
            <a:p>
              <a:pPr algn="l"/>
              <a:r>
                <a:rPr lang="en-US" sz="1050" spc="225" dirty="0">
                  <a:solidFill>
                    <a:srgbClr val="8FB4F5"/>
                  </a:solidFill>
                  <a:latin typeface="Arial"/>
                  <a:ea typeface="Arial"/>
                  <a:cs typeface="Arial"/>
                </a:rPr>
                <a:t>THE BOTTOM LINE</a:t>
              </a:r>
            </a:p>
          </p:txBody>
        </p:sp>
        <p:sp>
          <p:nvSpPr>
            <p:cNvPr id="44" name="TextBox 44"/>
            <p:cNvSpPr txBox="1"/>
            <p:nvPr/>
          </p:nvSpPr>
          <p:spPr>
            <a:xfrm>
              <a:off x="1134618" y="5403532"/>
              <a:ext cx="9853099" cy="322707"/>
            </a:xfrm>
            <a:prstGeom prst="rect">
              <a:avLst/>
            </a:prstGeom>
            <a:noFill/>
            <a:ln>
              <a:noFill/>
            </a:ln>
          </p:spPr>
          <p:txBody>
            <a:bodyPr wrap="none" lIns="0" tIns="0" rIns="0" bIns="0" anchor="t" anchorCtr="0">
              <a:spAutoFit/>
            </a:bodyPr>
            <a:lstStyle/>
            <a:p>
              <a:pPr algn="l"/>
              <a:r>
                <a:rPr lang="en-US" sz="1650" dirty="0">
                  <a:solidFill>
                    <a:srgbClr val="FFFFFF"/>
                  </a:solidFill>
                  <a:latin typeface="Arial"/>
                  <a:ea typeface="Arial"/>
                  <a:cs typeface="Arial"/>
                </a:rPr>
                <a:t xml:space="preserve">Every recommendation shows its per-lens reasoning — </a:t>
              </a:r>
              <a:r>
                <a:rPr lang="en-US" sz="1650" b="1" dirty="0">
                  <a:solidFill>
                    <a:srgbClr val="FFFFFF"/>
                  </a:solidFill>
                  <a:latin typeface="Arial"/>
                  <a:ea typeface="Arial"/>
                  <a:cs typeface="Arial"/>
                </a:rPr>
                <a:t>decision-support, not a black box.</a:t>
              </a:r>
            </a:p>
          </p:txBody>
        </p:sp>
      </p:grpSp>
      <p:grpSp>
        <p:nvGrpSpPr>
          <p:cNvPr id="49" name="Group 49"/>
          <p:cNvGrpSpPr/>
          <p:nvPr/>
        </p:nvGrpSpPr>
        <p:grpSpPr>
          <a:xfrm>
            <a:off x="757047" y="6477000"/>
            <a:ext cx="10677906" cy="285464"/>
            <a:chOff x="757047" y="6477000"/>
            <a:chExt cx="10677906" cy="285464"/>
          </a:xfrm>
        </p:grpSpPr>
        <p:sp>
          <p:nvSpPr>
            <p:cNvPr id="46" name="Line 46"/>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47" name="TextBox 47"/>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48" name="TextBox 48"/>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02 / 17</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9808" y="572452"/>
            <a:ext cx="7312266" cy="780860"/>
            <a:chOff x="749808" y="572452"/>
            <a:chExt cx="7312266" cy="780860"/>
          </a:xfrm>
        </p:grpSpPr>
        <p:sp>
          <p:nvSpPr>
            <p:cNvPr id="3" name="TextBox 3"/>
            <p:cNvSpPr txBox="1"/>
            <p:nvPr/>
          </p:nvSpPr>
          <p:spPr>
            <a:xfrm>
              <a:off x="756666" y="572452"/>
              <a:ext cx="1256690"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THE PROBLEM</a:t>
              </a:r>
            </a:p>
          </p:txBody>
        </p:sp>
        <p:sp>
          <p:nvSpPr>
            <p:cNvPr id="4" name="TextBox 4"/>
            <p:cNvSpPr txBox="1"/>
            <p:nvPr/>
          </p:nvSpPr>
          <p:spPr>
            <a:xfrm>
              <a:off x="749808" y="883920"/>
              <a:ext cx="7312266"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Today, the investor is the integration layer</a:t>
              </a:r>
            </a:p>
          </p:txBody>
        </p:sp>
      </p:grpSp>
      <p:grpSp>
        <p:nvGrpSpPr>
          <p:cNvPr id="9" name="Group 9"/>
          <p:cNvGrpSpPr/>
          <p:nvPr/>
        </p:nvGrpSpPr>
        <p:grpSpPr>
          <a:xfrm>
            <a:off x="752856" y="1672590"/>
            <a:ext cx="9246319" cy="999744"/>
            <a:chOff x="752856" y="1672590"/>
            <a:chExt cx="9246319" cy="999744"/>
          </a:xfrm>
        </p:grpSpPr>
        <p:sp>
          <p:nvSpPr>
            <p:cNvPr id="6" name="TextBox 6"/>
            <p:cNvSpPr txBox="1"/>
            <p:nvPr/>
          </p:nvSpPr>
          <p:spPr>
            <a:xfrm>
              <a:off x="752856" y="1672590"/>
              <a:ext cx="9246319" cy="352044"/>
            </a:xfrm>
            <a:prstGeom prst="rect">
              <a:avLst/>
            </a:prstGeom>
            <a:noFill/>
            <a:ln>
              <a:noFill/>
            </a:ln>
          </p:spPr>
          <p:txBody>
            <a:bodyPr wrap="none" lIns="0" tIns="0" rIns="0" bIns="0" anchor="t" anchorCtr="0">
              <a:spAutoFit/>
            </a:bodyPr>
            <a:lstStyle/>
            <a:p>
              <a:pPr algn="l"/>
              <a:r>
                <a:rPr lang="en-US" sz="1800" dirty="0">
                  <a:solidFill>
                    <a:srgbClr val="5B6B7B"/>
                  </a:solidFill>
                  <a:latin typeface="Arial"/>
                  <a:ea typeface="Arial"/>
                  <a:cs typeface="Arial"/>
                </a:rPr>
                <a:t>Technical, fundamental, informational, chip and supply-chain signals each live</a:t>
              </a:r>
            </a:p>
          </p:txBody>
        </p:sp>
        <p:sp>
          <p:nvSpPr>
            <p:cNvPr id="7" name="TextBox 7"/>
            <p:cNvSpPr txBox="1"/>
            <p:nvPr/>
          </p:nvSpPr>
          <p:spPr>
            <a:xfrm>
              <a:off x="752856" y="1996440"/>
              <a:ext cx="8921963" cy="352044"/>
            </a:xfrm>
            <a:prstGeom prst="rect">
              <a:avLst/>
            </a:prstGeom>
            <a:noFill/>
            <a:ln>
              <a:noFill/>
            </a:ln>
          </p:spPr>
          <p:txBody>
            <a:bodyPr wrap="none" lIns="0" tIns="0" rIns="0" bIns="0" anchor="t" anchorCtr="0">
              <a:spAutoFit/>
            </a:bodyPr>
            <a:lstStyle/>
            <a:p>
              <a:pPr algn="l"/>
              <a:r>
                <a:rPr lang="en-US" sz="1800" dirty="0">
                  <a:solidFill>
                    <a:srgbClr val="5B6B7B"/>
                  </a:solidFill>
                  <a:latin typeface="Arial"/>
                  <a:ea typeface="Arial"/>
                  <a:cs typeface="Arial"/>
                </a:rPr>
                <a:t xml:space="preserve">in a </a:t>
              </a:r>
              <a:r>
                <a:rPr lang="en-US" sz="1800" b="1" dirty="0">
                  <a:solidFill>
                    <a:srgbClr val="0F2A43"/>
                  </a:solidFill>
                  <a:latin typeface="Arial"/>
                  <a:ea typeface="Arial"/>
                  <a:cs typeface="Arial"/>
                </a:rPr>
                <a:t>separate tool.</a:t>
              </a:r>
              <a:r>
                <a:rPr lang="en-US" sz="1800" dirty="0">
                  <a:solidFill>
                    <a:srgbClr val="5B6B7B"/>
                  </a:solidFill>
                  <a:latin typeface="Arial"/>
                  <a:ea typeface="Arial"/>
                  <a:cs typeface="Arial"/>
                </a:rPr>
                <a:t xml:space="preserve"> Synthesising them into one decision is manual, slow and</a:t>
              </a:r>
            </a:p>
          </p:txBody>
        </p:sp>
        <p:sp>
          <p:nvSpPr>
            <p:cNvPr id="8" name="TextBox 8"/>
            <p:cNvSpPr txBox="1"/>
            <p:nvPr/>
          </p:nvSpPr>
          <p:spPr>
            <a:xfrm>
              <a:off x="752856" y="2320290"/>
              <a:ext cx="5809640" cy="352044"/>
            </a:xfrm>
            <a:prstGeom prst="rect">
              <a:avLst/>
            </a:prstGeom>
            <a:noFill/>
            <a:ln>
              <a:noFill/>
            </a:ln>
          </p:spPr>
          <p:txBody>
            <a:bodyPr wrap="none" lIns="0" tIns="0" rIns="0" bIns="0" anchor="t" anchorCtr="0">
              <a:spAutoFit/>
            </a:bodyPr>
            <a:lstStyle/>
            <a:p>
              <a:pPr algn="l"/>
              <a:r>
                <a:rPr lang="en-US" sz="1800" dirty="0">
                  <a:solidFill>
                    <a:srgbClr val="5B6B7B"/>
                  </a:solidFill>
                  <a:latin typeface="Arial"/>
                  <a:ea typeface="Arial"/>
                  <a:cs typeface="Arial"/>
                </a:rPr>
                <a:t>inconsistent — exactly where good calls are lost.</a:t>
              </a:r>
            </a:p>
          </p:txBody>
        </p:sp>
      </p:grpSp>
      <p:grpSp>
        <p:nvGrpSpPr>
          <p:cNvPr id="21" name="Group 21"/>
          <p:cNvGrpSpPr/>
          <p:nvPr/>
        </p:nvGrpSpPr>
        <p:grpSpPr>
          <a:xfrm>
            <a:off x="666750" y="3239452"/>
            <a:ext cx="3829050" cy="2189798"/>
            <a:chOff x="666750" y="3239452"/>
            <a:chExt cx="3829050" cy="2189798"/>
          </a:xfrm>
        </p:grpSpPr>
        <p:sp>
          <p:nvSpPr>
            <p:cNvPr id="10" name="TextBox 10"/>
            <p:cNvSpPr txBox="1"/>
            <p:nvPr/>
          </p:nvSpPr>
          <p:spPr>
            <a:xfrm>
              <a:off x="756666" y="3239452"/>
              <a:ext cx="2309622" cy="205359"/>
            </a:xfrm>
            <a:prstGeom prst="rect">
              <a:avLst/>
            </a:prstGeom>
            <a:noFill/>
            <a:ln>
              <a:noFill/>
            </a:ln>
          </p:spPr>
          <p:txBody>
            <a:bodyPr wrap="none" lIns="0" tIns="0" rIns="0" bIns="0" anchor="t" anchorCtr="0">
              <a:spAutoFit/>
            </a:bodyPr>
            <a:lstStyle/>
            <a:p>
              <a:pPr algn="l"/>
              <a:r>
                <a:rPr lang="en-US" sz="1050" spc="150" dirty="0">
                  <a:solidFill>
                    <a:srgbClr val="5B6B7B"/>
                  </a:solidFill>
                  <a:latin typeface="Arial"/>
                  <a:ea typeface="Arial"/>
                  <a:cs typeface="Arial"/>
                </a:rPr>
                <a:t>FIVE DISCONNECTED TOOLS</a:t>
              </a:r>
            </a:p>
          </p:txBody>
        </p:sp>
        <p:sp>
          <p:nvSpPr>
            <p:cNvPr id="11" name="Rectangle 11"/>
            <p:cNvSpPr/>
            <p:nvPr/>
          </p:nvSpPr>
          <p:spPr>
            <a:xfrm>
              <a:off x="762000" y="3543300"/>
              <a:ext cx="1143000" cy="666750"/>
            </a:xfrm>
            <a:prstGeom prst="rect">
              <a:avLst/>
            </a:prstGeom>
            <a:noFill/>
            <a:ln w="14288">
              <a:solidFill>
                <a:srgbClr val="D6DDE5"/>
              </a:solidFill>
            </a:ln>
          </p:spPr>
        </p:sp>
        <p:sp>
          <p:nvSpPr>
            <p:cNvPr id="12" name="TextBox 12"/>
            <p:cNvSpPr txBox="1"/>
            <p:nvPr/>
          </p:nvSpPr>
          <p:spPr>
            <a:xfrm>
              <a:off x="965708" y="3804285"/>
              <a:ext cx="735584" cy="234696"/>
            </a:xfrm>
            <a:prstGeom prst="rect">
              <a:avLst/>
            </a:prstGeom>
            <a:noFill/>
            <a:ln>
              <a:noFill/>
            </a:ln>
          </p:spPr>
          <p:txBody>
            <a:bodyPr wrap="none" lIns="0" tIns="0" rIns="0" bIns="0" anchor="t" anchorCtr="0">
              <a:spAutoFit/>
            </a:bodyPr>
            <a:lstStyle/>
            <a:p>
              <a:pPr algn="ctr"/>
              <a:r>
                <a:rPr lang="en-US" sz="1200" dirty="0">
                  <a:solidFill>
                    <a:srgbClr val="5B6B7B"/>
                  </a:solidFill>
                  <a:latin typeface="Arial"/>
                  <a:ea typeface="Arial"/>
                  <a:cs typeface="Arial"/>
                </a:rPr>
                <a:t>Technical</a:t>
              </a:r>
            </a:p>
          </p:txBody>
        </p:sp>
        <p:sp>
          <p:nvSpPr>
            <p:cNvPr id="13" name="Rectangle 13"/>
            <p:cNvSpPr/>
            <p:nvPr/>
          </p:nvSpPr>
          <p:spPr>
            <a:xfrm>
              <a:off x="2057400" y="3905250"/>
              <a:ext cx="1143000" cy="666750"/>
            </a:xfrm>
            <a:prstGeom prst="rect">
              <a:avLst/>
            </a:prstGeom>
            <a:noFill/>
            <a:ln w="14288">
              <a:solidFill>
                <a:srgbClr val="D6DDE5"/>
              </a:solidFill>
            </a:ln>
          </p:spPr>
        </p:sp>
        <p:sp>
          <p:nvSpPr>
            <p:cNvPr id="14" name="TextBox 14"/>
            <p:cNvSpPr txBox="1"/>
            <p:nvPr/>
          </p:nvSpPr>
          <p:spPr>
            <a:xfrm>
              <a:off x="2135678" y="4166235"/>
              <a:ext cx="986444" cy="234696"/>
            </a:xfrm>
            <a:prstGeom prst="rect">
              <a:avLst/>
            </a:prstGeom>
            <a:noFill/>
            <a:ln>
              <a:noFill/>
            </a:ln>
          </p:spPr>
          <p:txBody>
            <a:bodyPr wrap="none" lIns="0" tIns="0" rIns="0" bIns="0" anchor="t" anchorCtr="0">
              <a:spAutoFit/>
            </a:bodyPr>
            <a:lstStyle/>
            <a:p>
              <a:pPr algn="ctr"/>
              <a:r>
                <a:rPr lang="en-US" sz="1200" dirty="0">
                  <a:solidFill>
                    <a:srgbClr val="5B6B7B"/>
                  </a:solidFill>
                  <a:latin typeface="Arial"/>
                  <a:ea typeface="Arial"/>
                  <a:cs typeface="Arial"/>
                </a:rPr>
                <a:t>Fundamental</a:t>
              </a:r>
            </a:p>
          </p:txBody>
        </p:sp>
        <p:sp>
          <p:nvSpPr>
            <p:cNvPr id="15" name="Rectangle 15"/>
            <p:cNvSpPr/>
            <p:nvPr/>
          </p:nvSpPr>
          <p:spPr>
            <a:xfrm>
              <a:off x="3352800" y="3486150"/>
              <a:ext cx="1143000" cy="666750"/>
            </a:xfrm>
            <a:prstGeom prst="rect">
              <a:avLst/>
            </a:prstGeom>
            <a:noFill/>
            <a:ln w="14288">
              <a:solidFill>
                <a:srgbClr val="D6DDE5"/>
              </a:solidFill>
            </a:ln>
          </p:spPr>
        </p:sp>
        <p:sp>
          <p:nvSpPr>
            <p:cNvPr id="16" name="TextBox 16"/>
            <p:cNvSpPr txBox="1"/>
            <p:nvPr/>
          </p:nvSpPr>
          <p:spPr>
            <a:xfrm>
              <a:off x="3721608" y="3747135"/>
              <a:ext cx="405384" cy="234696"/>
            </a:xfrm>
            <a:prstGeom prst="rect">
              <a:avLst/>
            </a:prstGeom>
            <a:noFill/>
            <a:ln>
              <a:noFill/>
            </a:ln>
          </p:spPr>
          <p:txBody>
            <a:bodyPr wrap="none" lIns="0" tIns="0" rIns="0" bIns="0" anchor="t" anchorCtr="0">
              <a:spAutoFit/>
            </a:bodyPr>
            <a:lstStyle/>
            <a:p>
              <a:pPr algn="ctr"/>
              <a:r>
                <a:rPr lang="en-US" sz="1200" dirty="0">
                  <a:solidFill>
                    <a:srgbClr val="5B6B7B"/>
                  </a:solidFill>
                  <a:latin typeface="Arial"/>
                  <a:ea typeface="Arial"/>
                  <a:cs typeface="Arial"/>
                </a:rPr>
                <a:t>News</a:t>
              </a:r>
            </a:p>
          </p:txBody>
        </p:sp>
        <p:sp>
          <p:nvSpPr>
            <p:cNvPr id="17" name="Rectangle 17"/>
            <p:cNvSpPr/>
            <p:nvPr/>
          </p:nvSpPr>
          <p:spPr>
            <a:xfrm>
              <a:off x="1905000" y="4762500"/>
              <a:ext cx="1143000" cy="666750"/>
            </a:xfrm>
            <a:prstGeom prst="rect">
              <a:avLst/>
            </a:prstGeom>
            <a:noFill/>
            <a:ln w="14288">
              <a:solidFill>
                <a:srgbClr val="D6DDE5"/>
              </a:solidFill>
            </a:ln>
          </p:spPr>
        </p:sp>
        <p:sp>
          <p:nvSpPr>
            <p:cNvPr id="18" name="TextBox 18"/>
            <p:cNvSpPr txBox="1"/>
            <p:nvPr/>
          </p:nvSpPr>
          <p:spPr>
            <a:xfrm>
              <a:off x="2310670" y="5023485"/>
              <a:ext cx="331661" cy="234696"/>
            </a:xfrm>
            <a:prstGeom prst="rect">
              <a:avLst/>
            </a:prstGeom>
            <a:noFill/>
            <a:ln>
              <a:noFill/>
            </a:ln>
          </p:spPr>
          <p:txBody>
            <a:bodyPr wrap="none" lIns="0" tIns="0" rIns="0" bIns="0" anchor="t" anchorCtr="0">
              <a:spAutoFit/>
            </a:bodyPr>
            <a:lstStyle/>
            <a:p>
              <a:pPr algn="ctr"/>
              <a:r>
                <a:rPr lang="en-US" sz="1200" dirty="0">
                  <a:solidFill>
                    <a:srgbClr val="5B6B7B"/>
                  </a:solidFill>
                  <a:latin typeface="Arial"/>
                  <a:ea typeface="Arial"/>
                  <a:cs typeface="Arial"/>
                </a:rPr>
                <a:t>Chip</a:t>
              </a:r>
            </a:p>
          </p:txBody>
        </p:sp>
        <p:sp>
          <p:nvSpPr>
            <p:cNvPr id="19" name="Rectangle 19"/>
            <p:cNvSpPr/>
            <p:nvPr/>
          </p:nvSpPr>
          <p:spPr>
            <a:xfrm>
              <a:off x="666750" y="4667250"/>
              <a:ext cx="1143000" cy="666750"/>
            </a:xfrm>
            <a:prstGeom prst="rect">
              <a:avLst/>
            </a:prstGeom>
            <a:noFill/>
            <a:ln w="14288">
              <a:solidFill>
                <a:srgbClr val="D6DDE5"/>
              </a:solidFill>
            </a:ln>
          </p:spPr>
        </p:sp>
        <p:sp>
          <p:nvSpPr>
            <p:cNvPr id="20" name="TextBox 20"/>
            <p:cNvSpPr txBox="1"/>
            <p:nvPr/>
          </p:nvSpPr>
          <p:spPr>
            <a:xfrm>
              <a:off x="757206" y="4928235"/>
              <a:ext cx="962087" cy="234696"/>
            </a:xfrm>
            <a:prstGeom prst="rect">
              <a:avLst/>
            </a:prstGeom>
            <a:noFill/>
            <a:ln>
              <a:noFill/>
            </a:ln>
          </p:spPr>
          <p:txBody>
            <a:bodyPr wrap="none" lIns="0" tIns="0" rIns="0" bIns="0" anchor="t" anchorCtr="0">
              <a:spAutoFit/>
            </a:bodyPr>
            <a:lstStyle/>
            <a:p>
              <a:pPr algn="ctr"/>
              <a:r>
                <a:rPr lang="en-US" sz="1200" dirty="0">
                  <a:solidFill>
                    <a:srgbClr val="5B6B7B"/>
                  </a:solidFill>
                  <a:latin typeface="Arial"/>
                  <a:ea typeface="Arial"/>
                  <a:cs typeface="Arial"/>
                </a:rPr>
                <a:t>Supply chain</a:t>
              </a:r>
            </a:p>
          </p:txBody>
        </p:sp>
      </p:grpSp>
      <p:grpSp>
        <p:nvGrpSpPr>
          <p:cNvPr id="24" name="Group 24"/>
          <p:cNvGrpSpPr/>
          <p:nvPr/>
        </p:nvGrpSpPr>
        <p:grpSpPr>
          <a:xfrm>
            <a:off x="5143500" y="4183856"/>
            <a:ext cx="1524000" cy="254795"/>
            <a:chOff x="5143500" y="4183856"/>
            <a:chExt cx="1524000" cy="254795"/>
          </a:xfrm>
        </p:grpSpPr>
        <p:sp>
          <p:nvSpPr>
            <p:cNvPr id="22" name="Line 22"/>
            <p:cNvSpPr/>
            <p:nvPr/>
          </p:nvSpPr>
          <p:spPr>
            <a:xfrm>
              <a:off x="5143500" y="4438650"/>
              <a:ext cx="1524000" cy="1"/>
            </a:xfrm>
            <a:prstGeom prst="line">
              <a:avLst/>
            </a:prstGeom>
            <a:noFill/>
            <a:ln w="28575">
              <a:solidFill>
                <a:srgbClr val="2563EB"/>
              </a:solidFill>
              <a:tailEnd type="triangle" w="lg" len="lg"/>
            </a:ln>
          </p:spPr>
        </p:sp>
        <p:sp>
          <p:nvSpPr>
            <p:cNvPr id="23" name="TextBox 23"/>
            <p:cNvSpPr txBox="1"/>
            <p:nvPr/>
          </p:nvSpPr>
          <p:spPr>
            <a:xfrm>
              <a:off x="5627180" y="4183856"/>
              <a:ext cx="556641" cy="220028"/>
            </a:xfrm>
            <a:prstGeom prst="rect">
              <a:avLst/>
            </a:prstGeom>
            <a:noFill/>
            <a:ln>
              <a:noFill/>
            </a:ln>
          </p:spPr>
          <p:txBody>
            <a:bodyPr wrap="none" lIns="0" tIns="0" rIns="0" bIns="0" anchor="t" anchorCtr="0">
              <a:spAutoFit/>
            </a:bodyPr>
            <a:lstStyle/>
            <a:p>
              <a:pPr algn="ctr"/>
              <a:r>
                <a:rPr lang="en-US" sz="1120" dirty="0">
                  <a:solidFill>
                    <a:srgbClr val="2563EB"/>
                  </a:solidFill>
                  <a:latin typeface="Arial"/>
                  <a:ea typeface="Arial"/>
                  <a:cs typeface="Arial"/>
                </a:rPr>
                <a:t>the app</a:t>
              </a:r>
            </a:p>
          </p:txBody>
        </p:sp>
      </p:grpSp>
      <p:grpSp>
        <p:nvGrpSpPr>
          <p:cNvPr id="31" name="Group 31"/>
          <p:cNvGrpSpPr/>
          <p:nvPr/>
        </p:nvGrpSpPr>
        <p:grpSpPr>
          <a:xfrm>
            <a:off x="7233666" y="3239452"/>
            <a:ext cx="3812926" cy="2189798"/>
            <a:chOff x="7233666" y="3239452"/>
            <a:chExt cx="3812926" cy="2189798"/>
          </a:xfrm>
        </p:grpSpPr>
        <p:sp>
          <p:nvSpPr>
            <p:cNvPr id="25" name="TextBox 25"/>
            <p:cNvSpPr txBox="1"/>
            <p:nvPr/>
          </p:nvSpPr>
          <p:spPr>
            <a:xfrm>
              <a:off x="7233666" y="3239452"/>
              <a:ext cx="1651406" cy="205359"/>
            </a:xfrm>
            <a:prstGeom prst="rect">
              <a:avLst/>
            </a:prstGeom>
            <a:noFill/>
            <a:ln>
              <a:noFill/>
            </a:ln>
          </p:spPr>
          <p:txBody>
            <a:bodyPr wrap="none" lIns="0" tIns="0" rIns="0" bIns="0" anchor="t" anchorCtr="0">
              <a:spAutoFit/>
            </a:bodyPr>
            <a:lstStyle/>
            <a:p>
              <a:pPr algn="l"/>
              <a:r>
                <a:rPr lang="en-US" sz="1050" spc="150" dirty="0">
                  <a:solidFill>
                    <a:srgbClr val="0F2A43"/>
                  </a:solidFill>
                  <a:latin typeface="Arial"/>
                  <a:ea typeface="Arial"/>
                  <a:cs typeface="Arial"/>
                </a:rPr>
                <a:t>ONE HOLISTIC VIEW</a:t>
              </a:r>
            </a:p>
          </p:txBody>
        </p:sp>
        <p:sp>
          <p:nvSpPr>
            <p:cNvPr id="26" name="Rectangle 26"/>
            <p:cNvSpPr/>
            <p:nvPr/>
          </p:nvSpPr>
          <p:spPr>
            <a:xfrm>
              <a:off x="7239000" y="3543300"/>
              <a:ext cx="3619500" cy="1885950"/>
            </a:xfrm>
            <a:prstGeom prst="rect">
              <a:avLst/>
            </a:prstGeom>
            <a:solidFill>
              <a:srgbClr val="0F2A43"/>
            </a:solidFill>
            <a:ln>
              <a:noFill/>
            </a:ln>
          </p:spPr>
        </p:sp>
        <p:sp>
          <p:nvSpPr>
            <p:cNvPr id="27" name="Rectangle 27"/>
            <p:cNvSpPr/>
            <p:nvPr/>
          </p:nvSpPr>
          <p:spPr>
            <a:xfrm>
              <a:off x="7239000" y="3543300"/>
              <a:ext cx="57150" cy="1885950"/>
            </a:xfrm>
            <a:prstGeom prst="rect">
              <a:avLst/>
            </a:prstGeom>
            <a:solidFill>
              <a:srgbClr val="2563EB"/>
            </a:solidFill>
            <a:ln>
              <a:noFill/>
            </a:ln>
          </p:spPr>
        </p:sp>
        <p:sp>
          <p:nvSpPr>
            <p:cNvPr id="28" name="TextBox 28"/>
            <p:cNvSpPr txBox="1"/>
            <p:nvPr/>
          </p:nvSpPr>
          <p:spPr>
            <a:xfrm>
              <a:off x="7533894" y="3980498"/>
              <a:ext cx="3278886"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Arial"/>
                  <a:ea typeface="Arial"/>
                  <a:cs typeface="Arial"/>
                </a:rPr>
                <a:t>Buy / Sell + target price</a:t>
              </a:r>
            </a:p>
          </p:txBody>
        </p:sp>
        <p:sp>
          <p:nvSpPr>
            <p:cNvPr id="29" name="TextBox 29"/>
            <p:cNvSpPr txBox="1"/>
            <p:nvPr/>
          </p:nvSpPr>
          <p:spPr>
            <a:xfrm>
              <a:off x="7536942" y="4407218"/>
              <a:ext cx="3439458" cy="264033"/>
            </a:xfrm>
            <a:prstGeom prst="rect">
              <a:avLst/>
            </a:prstGeom>
            <a:noFill/>
            <a:ln>
              <a:noFill/>
            </a:ln>
          </p:spPr>
          <p:txBody>
            <a:bodyPr wrap="none" lIns="0" tIns="0" rIns="0" bIns="0" anchor="t" anchorCtr="0">
              <a:spAutoFit/>
            </a:bodyPr>
            <a:lstStyle/>
            <a:p>
              <a:pPr algn="l"/>
              <a:r>
                <a:rPr lang="en-US" sz="1350" dirty="0">
                  <a:solidFill>
                    <a:srgbClr val="8FB4F5"/>
                  </a:solidFill>
                  <a:latin typeface="Arial"/>
                  <a:ea typeface="Arial"/>
                  <a:cs typeface="Arial"/>
                </a:rPr>
                <a:t>with per-lens reasoning, updated daily</a:t>
              </a:r>
            </a:p>
          </p:txBody>
        </p:sp>
        <p:sp>
          <p:nvSpPr>
            <p:cNvPr id="30" name="TextBox 30"/>
            <p:cNvSpPr txBox="1"/>
            <p:nvPr/>
          </p:nvSpPr>
          <p:spPr>
            <a:xfrm>
              <a:off x="7536942" y="4807268"/>
              <a:ext cx="3509650"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Arial"/>
                  <a:ea typeface="Arial"/>
                  <a:cs typeface="Arial"/>
                </a:rPr>
                <a:t>One ticker → one decision, in one place.</a:t>
              </a:r>
            </a:p>
          </p:txBody>
        </p:sp>
      </p:grpSp>
      <p:grpSp>
        <p:nvGrpSpPr>
          <p:cNvPr id="35" name="Group 35"/>
          <p:cNvGrpSpPr/>
          <p:nvPr/>
        </p:nvGrpSpPr>
        <p:grpSpPr>
          <a:xfrm>
            <a:off x="757047" y="6477000"/>
            <a:ext cx="10677906" cy="285464"/>
            <a:chOff x="757047" y="6477000"/>
            <a:chExt cx="10677906" cy="285464"/>
          </a:xfrm>
        </p:grpSpPr>
        <p:sp>
          <p:nvSpPr>
            <p:cNvPr id="32" name="Line 32"/>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33" name="TextBox 33"/>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34" name="TextBox 34"/>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03 / 17</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49808" y="572452"/>
            <a:ext cx="9830628" cy="1006793"/>
            <a:chOff x="749808" y="572452"/>
            <a:chExt cx="9830628" cy="1006793"/>
          </a:xfrm>
        </p:grpSpPr>
        <p:sp>
          <p:nvSpPr>
            <p:cNvPr id="3" name="TextBox 3"/>
            <p:cNvSpPr txBox="1"/>
            <p:nvPr/>
          </p:nvSpPr>
          <p:spPr>
            <a:xfrm>
              <a:off x="756666" y="572452"/>
              <a:ext cx="1355903"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HOW IT WORKS</a:t>
              </a:r>
            </a:p>
          </p:txBody>
        </p:sp>
        <p:sp>
          <p:nvSpPr>
            <p:cNvPr id="4" name="TextBox 4"/>
            <p:cNvSpPr txBox="1"/>
            <p:nvPr/>
          </p:nvSpPr>
          <p:spPr>
            <a:xfrm>
              <a:off x="749808" y="845820"/>
              <a:ext cx="9805000"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One daily pipeline turns five lenses into one explainable call</a:t>
              </a:r>
            </a:p>
          </p:txBody>
        </p:sp>
        <p:sp>
          <p:nvSpPr>
            <p:cNvPr id="5" name="TextBox 5"/>
            <p:cNvSpPr txBox="1"/>
            <p:nvPr/>
          </p:nvSpPr>
          <p:spPr>
            <a:xfrm>
              <a:off x="754380" y="1285875"/>
              <a:ext cx="9826056" cy="293370"/>
            </a:xfrm>
            <a:prstGeom prst="rect">
              <a:avLst/>
            </a:prstGeom>
            <a:noFill/>
            <a:ln>
              <a:noFill/>
            </a:ln>
          </p:spPr>
          <p:txBody>
            <a:bodyPr wrap="none" lIns="0" tIns="0" rIns="0" bIns="0" anchor="t" anchorCtr="0">
              <a:spAutoFit/>
            </a:bodyPr>
            <a:lstStyle/>
            <a:p>
              <a:pPr algn="l"/>
              <a:r>
                <a:rPr lang="en-US" sz="1500" dirty="0">
                  <a:solidFill>
                    <a:srgbClr val="5B6B7B"/>
                  </a:solidFill>
                  <a:latin typeface="Arial"/>
                  <a:ea typeface="Arial"/>
                  <a:cs typeface="Arial"/>
                </a:rPr>
                <a:t>A read only touches last night's precomputed snapshot, so the dashboard loads in under 5 seconds.</a:t>
              </a:r>
            </a:p>
          </p:txBody>
        </p:sp>
      </p:grpSp>
      <p:grpSp>
        <p:nvGrpSpPr>
          <p:cNvPr id="14" name="Group 14"/>
          <p:cNvGrpSpPr/>
          <p:nvPr/>
        </p:nvGrpSpPr>
        <p:grpSpPr>
          <a:xfrm>
            <a:off x="762000" y="2000250"/>
            <a:ext cx="2381250" cy="1809750"/>
            <a:chOff x="762000" y="2000250"/>
            <a:chExt cx="2381250" cy="1809750"/>
          </a:xfrm>
        </p:grpSpPr>
        <p:sp>
          <p:nvSpPr>
            <p:cNvPr id="7" name="Rectangle 7"/>
            <p:cNvSpPr/>
            <p:nvPr/>
          </p:nvSpPr>
          <p:spPr>
            <a:xfrm>
              <a:off x="762000" y="2000250"/>
              <a:ext cx="2381250" cy="1809750"/>
            </a:xfrm>
            <a:prstGeom prst="rect">
              <a:avLst/>
            </a:prstGeom>
            <a:solidFill>
              <a:srgbClr val="F3F5F8"/>
            </a:solidFill>
            <a:ln>
              <a:noFill/>
            </a:ln>
          </p:spPr>
        </p:sp>
        <p:sp>
          <p:nvSpPr>
            <p:cNvPr id="8" name="Rectangle 8"/>
            <p:cNvSpPr/>
            <p:nvPr/>
          </p:nvSpPr>
          <p:spPr>
            <a:xfrm>
              <a:off x="762000" y="2000250"/>
              <a:ext cx="2381250" cy="47625"/>
            </a:xfrm>
            <a:prstGeom prst="rect">
              <a:avLst/>
            </a:prstGeom>
            <a:solidFill>
              <a:srgbClr val="0F2A43"/>
            </a:solidFill>
            <a:ln>
              <a:noFill/>
            </a:ln>
          </p:spPr>
        </p:sp>
        <p:sp>
          <p:nvSpPr>
            <p:cNvPr id="9" name="TextBox 9"/>
            <p:cNvSpPr txBox="1"/>
            <p:nvPr/>
          </p:nvSpPr>
          <p:spPr>
            <a:xfrm>
              <a:off x="979170" y="2138362"/>
              <a:ext cx="197782" cy="440055"/>
            </a:xfrm>
            <a:prstGeom prst="rect">
              <a:avLst/>
            </a:prstGeom>
            <a:noFill/>
            <a:ln>
              <a:noFill/>
            </a:ln>
          </p:spPr>
          <p:txBody>
            <a:bodyPr wrap="none" lIns="0" tIns="0" rIns="0" bIns="0" anchor="t" anchorCtr="0">
              <a:spAutoFit/>
            </a:bodyPr>
            <a:lstStyle/>
            <a:p>
              <a:pPr algn="l"/>
              <a:r>
                <a:rPr lang="en-US" sz="2250" b="1" dirty="0">
                  <a:solidFill>
                    <a:srgbClr val="0F2A43"/>
                  </a:solidFill>
                  <a:latin typeface="Arial"/>
                  <a:ea typeface="Arial"/>
                  <a:cs typeface="Arial"/>
                </a:rPr>
                <a:t>1</a:t>
              </a:r>
            </a:p>
          </p:txBody>
        </p:sp>
        <p:sp>
          <p:nvSpPr>
            <p:cNvPr id="10" name="TextBox 10"/>
            <p:cNvSpPr txBox="1"/>
            <p:nvPr/>
          </p:nvSpPr>
          <p:spPr>
            <a:xfrm>
              <a:off x="982980" y="2619375"/>
              <a:ext cx="1538380"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Query a ticker</a:t>
              </a:r>
            </a:p>
          </p:txBody>
        </p:sp>
        <p:sp>
          <p:nvSpPr>
            <p:cNvPr id="11" name="TextBox 11"/>
            <p:cNvSpPr txBox="1"/>
            <p:nvPr/>
          </p:nvSpPr>
          <p:spPr>
            <a:xfrm>
              <a:off x="984504" y="2975610"/>
              <a:ext cx="1561175"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On-demand lookup —</a:t>
              </a:r>
            </a:p>
          </p:txBody>
        </p:sp>
        <p:sp>
          <p:nvSpPr>
            <p:cNvPr id="12" name="TextBox 12"/>
            <p:cNvSpPr txBox="1"/>
            <p:nvPr/>
          </p:nvSpPr>
          <p:spPr>
            <a:xfrm>
              <a:off x="984504" y="3204210"/>
              <a:ext cx="1890522"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TWSE .TW, TPEx .TWO,</a:t>
              </a:r>
            </a:p>
          </p:txBody>
        </p:sp>
        <p:sp>
          <p:nvSpPr>
            <p:cNvPr id="13" name="TextBox 13"/>
            <p:cNvSpPr txBox="1"/>
            <p:nvPr/>
          </p:nvSpPr>
          <p:spPr>
            <a:xfrm>
              <a:off x="984504" y="3432810"/>
              <a:ext cx="1372831"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or any US ticker.</a:t>
              </a:r>
            </a:p>
          </p:txBody>
        </p:sp>
      </p:grpSp>
      <p:grpSp>
        <p:nvGrpSpPr>
          <p:cNvPr id="22" name="Group 22"/>
          <p:cNvGrpSpPr/>
          <p:nvPr/>
        </p:nvGrpSpPr>
        <p:grpSpPr>
          <a:xfrm>
            <a:off x="3524250" y="2000250"/>
            <a:ext cx="2381250" cy="1809750"/>
            <a:chOff x="3524250" y="2000250"/>
            <a:chExt cx="2381250" cy="1809750"/>
          </a:xfrm>
        </p:grpSpPr>
        <p:sp>
          <p:nvSpPr>
            <p:cNvPr id="15" name="Rectangle 15"/>
            <p:cNvSpPr/>
            <p:nvPr/>
          </p:nvSpPr>
          <p:spPr>
            <a:xfrm>
              <a:off x="3524250" y="2000250"/>
              <a:ext cx="2381250" cy="1809750"/>
            </a:xfrm>
            <a:prstGeom prst="rect">
              <a:avLst/>
            </a:prstGeom>
            <a:solidFill>
              <a:srgbClr val="F3F5F8"/>
            </a:solidFill>
            <a:ln>
              <a:noFill/>
            </a:ln>
          </p:spPr>
        </p:sp>
        <p:sp>
          <p:nvSpPr>
            <p:cNvPr id="16" name="Rectangle 16"/>
            <p:cNvSpPr/>
            <p:nvPr/>
          </p:nvSpPr>
          <p:spPr>
            <a:xfrm>
              <a:off x="3524250" y="2000250"/>
              <a:ext cx="2381250" cy="47625"/>
            </a:xfrm>
            <a:prstGeom prst="rect">
              <a:avLst/>
            </a:prstGeom>
            <a:solidFill>
              <a:srgbClr val="0F2A43"/>
            </a:solidFill>
            <a:ln>
              <a:noFill/>
            </a:ln>
          </p:spPr>
        </p:sp>
        <p:sp>
          <p:nvSpPr>
            <p:cNvPr id="17" name="TextBox 17"/>
            <p:cNvSpPr txBox="1"/>
            <p:nvPr/>
          </p:nvSpPr>
          <p:spPr>
            <a:xfrm>
              <a:off x="3741420" y="2138362"/>
              <a:ext cx="197782" cy="440055"/>
            </a:xfrm>
            <a:prstGeom prst="rect">
              <a:avLst/>
            </a:prstGeom>
            <a:noFill/>
            <a:ln>
              <a:noFill/>
            </a:ln>
          </p:spPr>
          <p:txBody>
            <a:bodyPr wrap="none" lIns="0" tIns="0" rIns="0" bIns="0" anchor="t" anchorCtr="0">
              <a:spAutoFit/>
            </a:bodyPr>
            <a:lstStyle/>
            <a:p>
              <a:pPr algn="l"/>
              <a:r>
                <a:rPr lang="en-US" sz="2250" b="1" dirty="0">
                  <a:solidFill>
                    <a:srgbClr val="0F2A43"/>
                  </a:solidFill>
                  <a:latin typeface="Arial"/>
                  <a:ea typeface="Arial"/>
                  <a:cs typeface="Arial"/>
                </a:rPr>
                <a:t>2</a:t>
              </a:r>
            </a:p>
          </p:txBody>
        </p:sp>
        <p:sp>
          <p:nvSpPr>
            <p:cNvPr id="18" name="TextBox 18"/>
            <p:cNvSpPr txBox="1"/>
            <p:nvPr/>
          </p:nvSpPr>
          <p:spPr>
            <a:xfrm>
              <a:off x="3745230" y="2619375"/>
              <a:ext cx="1962146"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Four lenses scored</a:t>
              </a:r>
            </a:p>
          </p:txBody>
        </p:sp>
        <p:sp>
          <p:nvSpPr>
            <p:cNvPr id="19" name="TextBox 19"/>
            <p:cNvSpPr txBox="1"/>
            <p:nvPr/>
          </p:nvSpPr>
          <p:spPr>
            <a:xfrm>
              <a:off x="3746754" y="2975610"/>
              <a:ext cx="2034799"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Technical · Fundamental ·</a:t>
              </a:r>
            </a:p>
          </p:txBody>
        </p:sp>
        <p:sp>
          <p:nvSpPr>
            <p:cNvPr id="20" name="TextBox 20"/>
            <p:cNvSpPr txBox="1"/>
            <p:nvPr/>
          </p:nvSpPr>
          <p:spPr>
            <a:xfrm>
              <a:off x="3746754" y="3204210"/>
              <a:ext cx="1679045"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Chip · Informational,</a:t>
              </a:r>
            </a:p>
          </p:txBody>
        </p:sp>
        <p:sp>
          <p:nvSpPr>
            <p:cNvPr id="21" name="TextBox 21"/>
            <p:cNvSpPr txBox="1"/>
            <p:nvPr/>
          </p:nvSpPr>
          <p:spPr>
            <a:xfrm>
              <a:off x="3746754" y="3432810"/>
              <a:ext cx="1773022"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each a −2 to +2 signal.</a:t>
              </a:r>
            </a:p>
          </p:txBody>
        </p:sp>
      </p:grpSp>
      <p:grpSp>
        <p:nvGrpSpPr>
          <p:cNvPr id="30" name="Group 30"/>
          <p:cNvGrpSpPr/>
          <p:nvPr/>
        </p:nvGrpSpPr>
        <p:grpSpPr>
          <a:xfrm>
            <a:off x="6286500" y="2000250"/>
            <a:ext cx="2381250" cy="1809750"/>
            <a:chOff x="6286500" y="2000250"/>
            <a:chExt cx="2381250" cy="1809750"/>
          </a:xfrm>
        </p:grpSpPr>
        <p:sp>
          <p:nvSpPr>
            <p:cNvPr id="23" name="Rectangle 23"/>
            <p:cNvSpPr/>
            <p:nvPr/>
          </p:nvSpPr>
          <p:spPr>
            <a:xfrm>
              <a:off x="6286500" y="2000250"/>
              <a:ext cx="2381250" cy="1809750"/>
            </a:xfrm>
            <a:prstGeom prst="rect">
              <a:avLst/>
            </a:prstGeom>
            <a:solidFill>
              <a:srgbClr val="F3F5F8"/>
            </a:solidFill>
            <a:ln>
              <a:noFill/>
            </a:ln>
          </p:spPr>
        </p:sp>
        <p:sp>
          <p:nvSpPr>
            <p:cNvPr id="24" name="Rectangle 24"/>
            <p:cNvSpPr/>
            <p:nvPr/>
          </p:nvSpPr>
          <p:spPr>
            <a:xfrm>
              <a:off x="6286500" y="2000250"/>
              <a:ext cx="2381250" cy="47625"/>
            </a:xfrm>
            <a:prstGeom prst="rect">
              <a:avLst/>
            </a:prstGeom>
            <a:solidFill>
              <a:srgbClr val="2563EB"/>
            </a:solidFill>
            <a:ln>
              <a:noFill/>
            </a:ln>
          </p:spPr>
        </p:sp>
        <p:sp>
          <p:nvSpPr>
            <p:cNvPr id="25" name="TextBox 25"/>
            <p:cNvSpPr txBox="1"/>
            <p:nvPr/>
          </p:nvSpPr>
          <p:spPr>
            <a:xfrm>
              <a:off x="6503670" y="2138362"/>
              <a:ext cx="197782" cy="440055"/>
            </a:xfrm>
            <a:prstGeom prst="rect">
              <a:avLst/>
            </a:prstGeom>
            <a:noFill/>
            <a:ln>
              <a:noFill/>
            </a:ln>
          </p:spPr>
          <p:txBody>
            <a:bodyPr wrap="none" lIns="0" tIns="0" rIns="0" bIns="0" anchor="t" anchorCtr="0">
              <a:spAutoFit/>
            </a:bodyPr>
            <a:lstStyle/>
            <a:p>
              <a:pPr algn="l"/>
              <a:r>
                <a:rPr lang="en-US" sz="2250" b="1" dirty="0">
                  <a:solidFill>
                    <a:srgbClr val="2563EB"/>
                  </a:solidFill>
                  <a:latin typeface="Arial"/>
                  <a:ea typeface="Arial"/>
                  <a:cs typeface="Arial"/>
                </a:rPr>
                <a:t>3</a:t>
              </a:r>
            </a:p>
          </p:txBody>
        </p:sp>
        <p:sp>
          <p:nvSpPr>
            <p:cNvPr id="26" name="TextBox 26"/>
            <p:cNvSpPr txBox="1"/>
            <p:nvPr/>
          </p:nvSpPr>
          <p:spPr>
            <a:xfrm>
              <a:off x="6507480" y="2619375"/>
              <a:ext cx="2046835"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Weighted composite</a:t>
              </a:r>
            </a:p>
          </p:txBody>
        </p:sp>
        <p:sp>
          <p:nvSpPr>
            <p:cNvPr id="27" name="TextBox 27"/>
            <p:cNvSpPr txBox="1"/>
            <p:nvPr/>
          </p:nvSpPr>
          <p:spPr>
            <a:xfrm>
              <a:off x="6509004" y="2975610"/>
              <a:ext cx="1732636"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30 / 30 / 25 / 15 blend</a:t>
              </a:r>
            </a:p>
          </p:txBody>
        </p:sp>
        <p:sp>
          <p:nvSpPr>
            <p:cNvPr id="28" name="TextBox 28"/>
            <p:cNvSpPr txBox="1"/>
            <p:nvPr/>
          </p:nvSpPr>
          <p:spPr>
            <a:xfrm>
              <a:off x="6509004" y="3204210"/>
              <a:ext cx="1902257"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into one −2 to +2 score.</a:t>
              </a:r>
            </a:p>
          </p:txBody>
        </p:sp>
        <p:sp>
          <p:nvSpPr>
            <p:cNvPr id="29" name="TextBox 29"/>
            <p:cNvSpPr txBox="1"/>
            <p:nvPr/>
          </p:nvSpPr>
          <p:spPr>
            <a:xfrm>
              <a:off x="6509004" y="3432810"/>
              <a:ext cx="2069079"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Weights are configurable.</a:t>
              </a:r>
            </a:p>
          </p:txBody>
        </p:sp>
      </p:grpSp>
      <p:grpSp>
        <p:nvGrpSpPr>
          <p:cNvPr id="38" name="Group 38"/>
          <p:cNvGrpSpPr/>
          <p:nvPr/>
        </p:nvGrpSpPr>
        <p:grpSpPr>
          <a:xfrm>
            <a:off x="9048750" y="2000250"/>
            <a:ext cx="2381250" cy="1809750"/>
            <a:chOff x="9048750" y="2000250"/>
            <a:chExt cx="2381250" cy="1809750"/>
          </a:xfrm>
        </p:grpSpPr>
        <p:sp>
          <p:nvSpPr>
            <p:cNvPr id="31" name="Rectangle 31"/>
            <p:cNvSpPr/>
            <p:nvPr/>
          </p:nvSpPr>
          <p:spPr>
            <a:xfrm>
              <a:off x="9048750" y="2000250"/>
              <a:ext cx="2381250" cy="1809750"/>
            </a:xfrm>
            <a:prstGeom prst="rect">
              <a:avLst/>
            </a:prstGeom>
            <a:solidFill>
              <a:srgbClr val="0F2A43"/>
            </a:solidFill>
            <a:ln>
              <a:noFill/>
            </a:ln>
          </p:spPr>
        </p:sp>
        <p:sp>
          <p:nvSpPr>
            <p:cNvPr id="32" name="Rectangle 32"/>
            <p:cNvSpPr/>
            <p:nvPr/>
          </p:nvSpPr>
          <p:spPr>
            <a:xfrm>
              <a:off x="9048750" y="2000250"/>
              <a:ext cx="2381250" cy="47625"/>
            </a:xfrm>
            <a:prstGeom prst="rect">
              <a:avLst/>
            </a:prstGeom>
            <a:solidFill>
              <a:srgbClr val="2563EB"/>
            </a:solidFill>
            <a:ln>
              <a:noFill/>
            </a:ln>
          </p:spPr>
        </p:sp>
        <p:sp>
          <p:nvSpPr>
            <p:cNvPr id="33" name="TextBox 33"/>
            <p:cNvSpPr txBox="1"/>
            <p:nvPr/>
          </p:nvSpPr>
          <p:spPr>
            <a:xfrm>
              <a:off x="9265920" y="2138362"/>
              <a:ext cx="197782" cy="440055"/>
            </a:xfrm>
            <a:prstGeom prst="rect">
              <a:avLst/>
            </a:prstGeom>
            <a:noFill/>
            <a:ln>
              <a:noFill/>
            </a:ln>
          </p:spPr>
          <p:txBody>
            <a:bodyPr wrap="none" lIns="0" tIns="0" rIns="0" bIns="0" anchor="t" anchorCtr="0">
              <a:spAutoFit/>
            </a:bodyPr>
            <a:lstStyle/>
            <a:p>
              <a:pPr algn="l"/>
              <a:r>
                <a:rPr lang="en-US" sz="2250" b="1" dirty="0">
                  <a:solidFill>
                    <a:srgbClr val="8FB4F5"/>
                  </a:solidFill>
                  <a:latin typeface="Arial"/>
                  <a:ea typeface="Arial"/>
                  <a:cs typeface="Arial"/>
                </a:rPr>
                <a:t>4</a:t>
              </a:r>
            </a:p>
          </p:txBody>
        </p:sp>
        <p:sp>
          <p:nvSpPr>
            <p:cNvPr id="34" name="TextBox 34"/>
            <p:cNvSpPr txBox="1"/>
            <p:nvPr/>
          </p:nvSpPr>
          <p:spPr>
            <a:xfrm>
              <a:off x="9269730" y="2619375"/>
              <a:ext cx="795395"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Arial"/>
                  <a:ea typeface="Arial"/>
                  <a:cs typeface="Arial"/>
                </a:rPr>
                <a:t>The call</a:t>
              </a:r>
            </a:p>
          </p:txBody>
        </p:sp>
        <p:sp>
          <p:nvSpPr>
            <p:cNvPr id="35" name="TextBox 35"/>
            <p:cNvSpPr txBox="1"/>
            <p:nvPr/>
          </p:nvSpPr>
          <p:spPr>
            <a:xfrm>
              <a:off x="9271254" y="2975610"/>
              <a:ext cx="1471651" cy="234696"/>
            </a:xfrm>
            <a:prstGeom prst="rect">
              <a:avLst/>
            </a:prstGeom>
            <a:noFill/>
            <a:ln>
              <a:noFill/>
            </a:ln>
          </p:spPr>
          <p:txBody>
            <a:bodyPr wrap="none" lIns="0" tIns="0" rIns="0" bIns="0" anchor="t" anchorCtr="0">
              <a:spAutoFit/>
            </a:bodyPr>
            <a:lstStyle/>
            <a:p>
              <a:pPr algn="l"/>
              <a:r>
                <a:rPr lang="en-US" sz="1200" dirty="0">
                  <a:solidFill>
                    <a:srgbClr val="C9D8EE"/>
                  </a:solidFill>
                  <a:latin typeface="Arial"/>
                  <a:ea typeface="Arial"/>
                  <a:cs typeface="Arial"/>
                </a:rPr>
                <a:t>5-point Buy → Sell,</a:t>
              </a:r>
            </a:p>
          </p:txBody>
        </p:sp>
        <p:sp>
          <p:nvSpPr>
            <p:cNvPr id="36" name="TextBox 36"/>
            <p:cNvSpPr txBox="1"/>
            <p:nvPr/>
          </p:nvSpPr>
          <p:spPr>
            <a:xfrm>
              <a:off x="9271254" y="3204210"/>
              <a:ext cx="2058695" cy="234696"/>
            </a:xfrm>
            <a:prstGeom prst="rect">
              <a:avLst/>
            </a:prstGeom>
            <a:noFill/>
            <a:ln>
              <a:noFill/>
            </a:ln>
          </p:spPr>
          <p:txBody>
            <a:bodyPr wrap="none" lIns="0" tIns="0" rIns="0" bIns="0" anchor="t" anchorCtr="0">
              <a:spAutoFit/>
            </a:bodyPr>
            <a:lstStyle/>
            <a:p>
              <a:pPr algn="l"/>
              <a:r>
                <a:rPr lang="en-US" sz="1200" dirty="0">
                  <a:solidFill>
                    <a:srgbClr val="C9D8EE"/>
                  </a:solidFill>
                  <a:latin typeface="Arial"/>
                  <a:ea typeface="Arial"/>
                  <a:cs typeface="Arial"/>
                </a:rPr>
                <a:t>Bear / Base / Bull target,</a:t>
              </a:r>
            </a:p>
          </p:txBody>
        </p:sp>
        <p:sp>
          <p:nvSpPr>
            <p:cNvPr id="37" name="TextBox 37"/>
            <p:cNvSpPr txBox="1"/>
            <p:nvPr/>
          </p:nvSpPr>
          <p:spPr>
            <a:xfrm>
              <a:off x="9271254" y="3432810"/>
              <a:ext cx="1894180" cy="234696"/>
            </a:xfrm>
            <a:prstGeom prst="rect">
              <a:avLst/>
            </a:prstGeom>
            <a:noFill/>
            <a:ln>
              <a:noFill/>
            </a:ln>
          </p:spPr>
          <p:txBody>
            <a:bodyPr wrap="none" lIns="0" tIns="0" rIns="0" bIns="0" anchor="t" anchorCtr="0">
              <a:spAutoFit/>
            </a:bodyPr>
            <a:lstStyle/>
            <a:p>
              <a:pPr algn="l"/>
              <a:r>
                <a:rPr lang="en-US" sz="1200" dirty="0">
                  <a:solidFill>
                    <a:srgbClr val="C9D8EE"/>
                  </a:solidFill>
                  <a:latin typeface="Arial"/>
                  <a:ea typeface="Arial"/>
                  <a:cs typeface="Arial"/>
                </a:rPr>
                <a:t>confidence + reasoning.</a:t>
              </a:r>
            </a:p>
          </p:txBody>
        </p:sp>
      </p:grpSp>
      <p:grpSp>
        <p:nvGrpSpPr>
          <p:cNvPr id="42" name="Group 42"/>
          <p:cNvGrpSpPr/>
          <p:nvPr/>
        </p:nvGrpSpPr>
        <p:grpSpPr>
          <a:xfrm>
            <a:off x="3162300" y="2905125"/>
            <a:ext cx="5867400" cy="1"/>
            <a:chOff x="3162300" y="2905125"/>
            <a:chExt cx="5867400" cy="1"/>
          </a:xfrm>
        </p:grpSpPr>
        <p:sp>
          <p:nvSpPr>
            <p:cNvPr id="39" name="Line 39"/>
            <p:cNvSpPr/>
            <p:nvPr/>
          </p:nvSpPr>
          <p:spPr>
            <a:xfrm>
              <a:off x="3162300" y="2905125"/>
              <a:ext cx="342900" cy="1"/>
            </a:xfrm>
            <a:prstGeom prst="line">
              <a:avLst/>
            </a:prstGeom>
            <a:noFill/>
            <a:ln w="23812">
              <a:solidFill>
                <a:srgbClr val="2563EB"/>
              </a:solidFill>
              <a:tailEnd type="triangle" w="lg" len="lg"/>
            </a:ln>
          </p:spPr>
        </p:sp>
        <p:sp>
          <p:nvSpPr>
            <p:cNvPr id="40" name="Line 40"/>
            <p:cNvSpPr/>
            <p:nvPr/>
          </p:nvSpPr>
          <p:spPr>
            <a:xfrm>
              <a:off x="5924550" y="2905125"/>
              <a:ext cx="342900" cy="1"/>
            </a:xfrm>
            <a:prstGeom prst="line">
              <a:avLst/>
            </a:prstGeom>
            <a:noFill/>
            <a:ln w="23812">
              <a:solidFill>
                <a:srgbClr val="2563EB"/>
              </a:solidFill>
              <a:tailEnd type="triangle" w="lg" len="lg"/>
            </a:ln>
          </p:spPr>
        </p:sp>
        <p:sp>
          <p:nvSpPr>
            <p:cNvPr id="41" name="Line 41"/>
            <p:cNvSpPr/>
            <p:nvPr/>
          </p:nvSpPr>
          <p:spPr>
            <a:xfrm>
              <a:off x="8686800" y="2905125"/>
              <a:ext cx="342900" cy="1"/>
            </a:xfrm>
            <a:prstGeom prst="line">
              <a:avLst/>
            </a:prstGeom>
            <a:noFill/>
            <a:ln w="23812">
              <a:solidFill>
                <a:srgbClr val="2563EB"/>
              </a:solidFill>
              <a:tailEnd type="triangle" w="lg" len="lg"/>
            </a:ln>
          </p:spPr>
        </p:sp>
      </p:grpSp>
      <p:grpSp>
        <p:nvGrpSpPr>
          <p:cNvPr id="47" name="Group 47"/>
          <p:cNvGrpSpPr/>
          <p:nvPr/>
        </p:nvGrpSpPr>
        <p:grpSpPr>
          <a:xfrm>
            <a:off x="762000" y="4305300"/>
            <a:ext cx="10668000" cy="819150"/>
            <a:chOff x="762000" y="4305300"/>
            <a:chExt cx="10668000" cy="819150"/>
          </a:xfrm>
        </p:grpSpPr>
        <p:sp>
          <p:nvSpPr>
            <p:cNvPr id="43" name="Rectangle 43"/>
            <p:cNvSpPr/>
            <p:nvPr/>
          </p:nvSpPr>
          <p:spPr>
            <a:xfrm>
              <a:off x="762000" y="4305300"/>
              <a:ext cx="10668000" cy="819150"/>
            </a:xfrm>
            <a:prstGeom prst="rect">
              <a:avLst/>
            </a:prstGeom>
            <a:noFill/>
            <a:ln w="14288">
              <a:solidFill>
                <a:srgbClr val="0E9AA7"/>
              </a:solidFill>
            </a:ln>
          </p:spPr>
        </p:sp>
        <p:sp>
          <p:nvSpPr>
            <p:cNvPr id="44" name="Rectangle 44"/>
            <p:cNvSpPr/>
            <p:nvPr/>
          </p:nvSpPr>
          <p:spPr>
            <a:xfrm>
              <a:off x="762000" y="4305300"/>
              <a:ext cx="57150" cy="819150"/>
            </a:xfrm>
            <a:prstGeom prst="rect">
              <a:avLst/>
            </a:prstGeom>
            <a:solidFill>
              <a:srgbClr val="0E9AA7"/>
            </a:solidFill>
            <a:ln>
              <a:noFill/>
            </a:ln>
          </p:spPr>
        </p:sp>
        <p:sp>
          <p:nvSpPr>
            <p:cNvPr id="45" name="TextBox 45"/>
            <p:cNvSpPr txBox="1"/>
            <p:nvPr/>
          </p:nvSpPr>
          <p:spPr>
            <a:xfrm>
              <a:off x="1059942" y="4502468"/>
              <a:ext cx="3063297" cy="264033"/>
            </a:xfrm>
            <a:prstGeom prst="rect">
              <a:avLst/>
            </a:prstGeom>
            <a:noFill/>
            <a:ln>
              <a:noFill/>
            </a:ln>
          </p:spPr>
          <p:txBody>
            <a:bodyPr wrap="none" lIns="0" tIns="0" rIns="0" bIns="0" anchor="t" anchorCtr="0">
              <a:spAutoFit/>
            </a:bodyPr>
            <a:lstStyle/>
            <a:p>
              <a:pPr algn="l"/>
              <a:r>
                <a:rPr lang="en-US" sz="1350" b="1" dirty="0">
                  <a:solidFill>
                    <a:srgbClr val="0E9AA7"/>
                  </a:solidFill>
                  <a:latin typeface="Arial"/>
                  <a:ea typeface="Arial"/>
                  <a:cs typeface="Arial"/>
                </a:rPr>
                <a:t>Supply-chain lens runs in parallel</a:t>
              </a:r>
            </a:p>
          </p:txBody>
        </p:sp>
        <p:sp>
          <p:nvSpPr>
            <p:cNvPr id="46" name="TextBox 46"/>
            <p:cNvSpPr txBox="1"/>
            <p:nvPr/>
          </p:nvSpPr>
          <p:spPr>
            <a:xfrm>
              <a:off x="1060323" y="4777264"/>
              <a:ext cx="8798212"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It surfaces related investable names in the silicon-wafer graph — a discovery layer, not a scoring input.</a:t>
              </a:r>
            </a:p>
          </p:txBody>
        </p:sp>
      </p:grpSp>
      <p:grpSp>
        <p:nvGrpSpPr>
          <p:cNvPr id="49" name="Group 49"/>
          <p:cNvGrpSpPr/>
          <p:nvPr/>
        </p:nvGrpSpPr>
        <p:grpSpPr>
          <a:xfrm>
            <a:off x="755904" y="5471160"/>
            <a:ext cx="11097030" cy="234696"/>
            <a:chOff x="755904" y="5471160"/>
            <a:chExt cx="11097030" cy="234696"/>
          </a:xfrm>
        </p:grpSpPr>
        <p:sp>
          <p:nvSpPr>
            <p:cNvPr id="48" name="TextBox 48"/>
            <p:cNvSpPr txBox="1"/>
            <p:nvPr/>
          </p:nvSpPr>
          <p:spPr>
            <a:xfrm>
              <a:off x="755904" y="5471160"/>
              <a:ext cx="11097030"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Batch runs once daily, early morning Taiwan time; the client reads only versioned daily snapshots — no live computation on the request path.</a:t>
              </a:r>
            </a:p>
          </p:txBody>
        </p:sp>
      </p:grpSp>
      <p:grpSp>
        <p:nvGrpSpPr>
          <p:cNvPr id="53" name="Group 53"/>
          <p:cNvGrpSpPr/>
          <p:nvPr/>
        </p:nvGrpSpPr>
        <p:grpSpPr>
          <a:xfrm>
            <a:off x="757047" y="6477000"/>
            <a:ext cx="10677906" cy="285464"/>
            <a:chOff x="757047" y="6477000"/>
            <a:chExt cx="10677906" cy="285464"/>
          </a:xfrm>
        </p:grpSpPr>
        <p:sp>
          <p:nvSpPr>
            <p:cNvPr id="50" name="Line 50"/>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51" name="TextBox 51"/>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52" name="TextBox 52"/>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04 / 17</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9808" y="572452"/>
            <a:ext cx="9925468" cy="742760"/>
            <a:chOff x="749808" y="572452"/>
            <a:chExt cx="9925468" cy="742760"/>
          </a:xfrm>
        </p:grpSpPr>
        <p:sp>
          <p:nvSpPr>
            <p:cNvPr id="3" name="TextBox 3"/>
            <p:cNvSpPr txBox="1"/>
            <p:nvPr/>
          </p:nvSpPr>
          <p:spPr>
            <a:xfrm>
              <a:off x="756666" y="572452"/>
              <a:ext cx="1578864"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THE FIVE LENSES</a:t>
              </a:r>
            </a:p>
          </p:txBody>
        </p:sp>
        <p:sp>
          <p:nvSpPr>
            <p:cNvPr id="4" name="TextBox 4"/>
            <p:cNvSpPr txBox="1"/>
            <p:nvPr/>
          </p:nvSpPr>
          <p:spPr>
            <a:xfrm>
              <a:off x="749808" y="845820"/>
              <a:ext cx="9925468"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Five lenses, one view — four score the call, one finds names</a:t>
              </a:r>
            </a:p>
          </p:txBody>
        </p:sp>
      </p:grpSp>
      <p:grpSp>
        <p:nvGrpSpPr>
          <p:cNvPr id="10" name="Group 10"/>
          <p:cNvGrpSpPr/>
          <p:nvPr/>
        </p:nvGrpSpPr>
        <p:grpSpPr>
          <a:xfrm>
            <a:off x="757047" y="1571149"/>
            <a:ext cx="10672953" cy="248126"/>
            <a:chOff x="757047" y="1571149"/>
            <a:chExt cx="10672953" cy="248126"/>
          </a:xfrm>
        </p:grpSpPr>
        <p:sp>
          <p:nvSpPr>
            <p:cNvPr id="6" name="TextBox 6"/>
            <p:cNvSpPr txBox="1"/>
            <p:nvPr/>
          </p:nvSpPr>
          <p:spPr>
            <a:xfrm>
              <a:off x="757047" y="1571149"/>
              <a:ext cx="379019"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LENS</a:t>
              </a:r>
            </a:p>
          </p:txBody>
        </p:sp>
        <p:sp>
          <p:nvSpPr>
            <p:cNvPr id="7" name="TextBox 7"/>
            <p:cNvSpPr txBox="1"/>
            <p:nvPr/>
          </p:nvSpPr>
          <p:spPr>
            <a:xfrm>
              <a:off x="3233547" y="1571149"/>
              <a:ext cx="1501826"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WHAT IT MEASURES</a:t>
              </a:r>
            </a:p>
          </p:txBody>
        </p:sp>
        <p:sp>
          <p:nvSpPr>
            <p:cNvPr id="8" name="TextBox 8"/>
            <p:cNvSpPr txBox="1"/>
            <p:nvPr/>
          </p:nvSpPr>
          <p:spPr>
            <a:xfrm>
              <a:off x="8948547" y="1571149"/>
              <a:ext cx="601980"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OUTPUT</a:t>
              </a:r>
            </a:p>
          </p:txBody>
        </p:sp>
        <p:sp>
          <p:nvSpPr>
            <p:cNvPr id="9" name="Line 9"/>
            <p:cNvSpPr/>
            <p:nvPr/>
          </p:nvSpPr>
          <p:spPr>
            <a:xfrm>
              <a:off x="762000" y="1809750"/>
              <a:ext cx="10668000" cy="9525"/>
            </a:xfrm>
            <a:custGeom>
              <a:avLst/>
              <a:gdLst/>
              <a:ahLst/>
              <a:cxnLst/>
              <a:rect l="l" t="t" r="r" b="b"/>
              <a:pathLst>
                <a:path w="10668000" h="9525">
                  <a:moveTo>
                    <a:pt x="0" y="0"/>
                  </a:moveTo>
                  <a:lnTo>
                    <a:pt x="10668000" y="0"/>
                  </a:lnTo>
                </a:path>
              </a:pathLst>
            </a:custGeom>
            <a:noFill/>
            <a:ln w="19050">
              <a:solidFill>
                <a:srgbClr val="0F2A43"/>
              </a:solidFill>
            </a:ln>
          </p:spPr>
        </p:sp>
      </p:grpSp>
      <p:grpSp>
        <p:nvGrpSpPr>
          <p:cNvPr id="15" name="Group 15"/>
          <p:cNvGrpSpPr/>
          <p:nvPr/>
        </p:nvGrpSpPr>
        <p:grpSpPr>
          <a:xfrm>
            <a:off x="754380" y="2085975"/>
            <a:ext cx="10675620" cy="419100"/>
            <a:chOff x="754380" y="2085975"/>
            <a:chExt cx="10675620" cy="419100"/>
          </a:xfrm>
        </p:grpSpPr>
        <p:sp>
          <p:nvSpPr>
            <p:cNvPr id="11" name="TextBox 11"/>
            <p:cNvSpPr txBox="1"/>
            <p:nvPr/>
          </p:nvSpPr>
          <p:spPr>
            <a:xfrm>
              <a:off x="754380" y="2085975"/>
              <a:ext cx="964692"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Technical</a:t>
              </a:r>
            </a:p>
          </p:txBody>
        </p:sp>
        <p:sp>
          <p:nvSpPr>
            <p:cNvPr id="12" name="TextBox 12"/>
            <p:cNvSpPr txBox="1"/>
            <p:nvPr/>
          </p:nvSpPr>
          <p:spPr>
            <a:xfrm>
              <a:off x="3232023" y="2110264"/>
              <a:ext cx="3785858"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Price and volume — MA20, MA60, RSI14, MACD</a:t>
              </a:r>
            </a:p>
          </p:txBody>
        </p:sp>
        <p:sp>
          <p:nvSpPr>
            <p:cNvPr id="13" name="TextBox 13"/>
            <p:cNvSpPr txBox="1"/>
            <p:nvPr/>
          </p:nvSpPr>
          <p:spPr>
            <a:xfrm>
              <a:off x="8947023" y="2110264"/>
              <a:ext cx="1130479" cy="249364"/>
            </a:xfrm>
            <a:prstGeom prst="rect">
              <a:avLst/>
            </a:prstGeom>
            <a:noFill/>
            <a:ln>
              <a:noFill/>
            </a:ln>
          </p:spPr>
          <p:txBody>
            <a:bodyPr wrap="none" lIns="0" tIns="0" rIns="0" bIns="0" anchor="t" anchorCtr="0">
              <a:spAutoFit/>
            </a:bodyPr>
            <a:lstStyle/>
            <a:p>
              <a:pPr algn="l"/>
              <a:r>
                <a:rPr lang="en-US" sz="1280" dirty="0">
                  <a:solidFill>
                    <a:srgbClr val="2563EB"/>
                  </a:solidFill>
                  <a:latin typeface="Arial"/>
                  <a:ea typeface="Arial"/>
                  <a:cs typeface="Arial"/>
                </a:rPr>
                <a:t>Signal −2 … +2</a:t>
              </a:r>
            </a:p>
          </p:txBody>
        </p:sp>
        <p:sp>
          <p:nvSpPr>
            <p:cNvPr id="14" name="Line 14"/>
            <p:cNvSpPr/>
            <p:nvPr/>
          </p:nvSpPr>
          <p:spPr>
            <a:xfrm>
              <a:off x="762000" y="2495550"/>
              <a:ext cx="10668000" cy="9525"/>
            </a:xfrm>
            <a:custGeom>
              <a:avLst/>
              <a:gdLst/>
              <a:ahLst/>
              <a:cxnLst/>
              <a:rect l="l" t="t" r="r" b="b"/>
              <a:pathLst>
                <a:path w="10668000" h="9525">
                  <a:moveTo>
                    <a:pt x="0" y="0"/>
                  </a:moveTo>
                  <a:lnTo>
                    <a:pt x="10668000" y="0"/>
                  </a:lnTo>
                </a:path>
              </a:pathLst>
            </a:custGeom>
            <a:noFill/>
            <a:ln w="9525">
              <a:solidFill>
                <a:srgbClr val="D6DDE5"/>
              </a:solidFill>
            </a:ln>
          </p:spPr>
        </p:sp>
      </p:grpSp>
      <p:grpSp>
        <p:nvGrpSpPr>
          <p:cNvPr id="20" name="Group 20"/>
          <p:cNvGrpSpPr/>
          <p:nvPr/>
        </p:nvGrpSpPr>
        <p:grpSpPr>
          <a:xfrm>
            <a:off x="754380" y="2771775"/>
            <a:ext cx="10675620" cy="419100"/>
            <a:chOff x="754380" y="2771775"/>
            <a:chExt cx="10675620" cy="419100"/>
          </a:xfrm>
        </p:grpSpPr>
        <p:sp>
          <p:nvSpPr>
            <p:cNvPr id="16" name="TextBox 16"/>
            <p:cNvSpPr txBox="1"/>
            <p:nvPr/>
          </p:nvSpPr>
          <p:spPr>
            <a:xfrm>
              <a:off x="754380" y="2771775"/>
              <a:ext cx="1293945"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Fundamental</a:t>
              </a:r>
            </a:p>
          </p:txBody>
        </p:sp>
        <p:sp>
          <p:nvSpPr>
            <p:cNvPr id="17" name="TextBox 17"/>
            <p:cNvSpPr txBox="1"/>
            <p:nvPr/>
          </p:nvSpPr>
          <p:spPr>
            <a:xfrm>
              <a:off x="3232023" y="2796064"/>
              <a:ext cx="4991014"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P/E, P/B, EV/EBITDA; revenue, EPS, margins; comparables</a:t>
              </a:r>
            </a:p>
          </p:txBody>
        </p:sp>
        <p:sp>
          <p:nvSpPr>
            <p:cNvPr id="18" name="TextBox 18"/>
            <p:cNvSpPr txBox="1"/>
            <p:nvPr/>
          </p:nvSpPr>
          <p:spPr>
            <a:xfrm>
              <a:off x="8947023" y="2796064"/>
              <a:ext cx="1130479" cy="249364"/>
            </a:xfrm>
            <a:prstGeom prst="rect">
              <a:avLst/>
            </a:prstGeom>
            <a:noFill/>
            <a:ln>
              <a:noFill/>
            </a:ln>
          </p:spPr>
          <p:txBody>
            <a:bodyPr wrap="none" lIns="0" tIns="0" rIns="0" bIns="0" anchor="t" anchorCtr="0">
              <a:spAutoFit/>
            </a:bodyPr>
            <a:lstStyle/>
            <a:p>
              <a:pPr algn="l"/>
              <a:r>
                <a:rPr lang="en-US" sz="1280" dirty="0">
                  <a:solidFill>
                    <a:srgbClr val="2563EB"/>
                  </a:solidFill>
                  <a:latin typeface="Arial"/>
                  <a:ea typeface="Arial"/>
                  <a:cs typeface="Arial"/>
                </a:rPr>
                <a:t>Signal −2 … +2</a:t>
              </a:r>
            </a:p>
          </p:txBody>
        </p:sp>
        <p:sp>
          <p:nvSpPr>
            <p:cNvPr id="19" name="Line 19"/>
            <p:cNvSpPr/>
            <p:nvPr/>
          </p:nvSpPr>
          <p:spPr>
            <a:xfrm>
              <a:off x="762000" y="3181350"/>
              <a:ext cx="10668000" cy="9525"/>
            </a:xfrm>
            <a:custGeom>
              <a:avLst/>
              <a:gdLst/>
              <a:ahLst/>
              <a:cxnLst/>
              <a:rect l="l" t="t" r="r" b="b"/>
              <a:pathLst>
                <a:path w="10668000" h="9525">
                  <a:moveTo>
                    <a:pt x="0" y="0"/>
                  </a:moveTo>
                  <a:lnTo>
                    <a:pt x="10668000" y="0"/>
                  </a:lnTo>
                </a:path>
              </a:pathLst>
            </a:custGeom>
            <a:noFill/>
            <a:ln w="9525">
              <a:solidFill>
                <a:srgbClr val="D6DDE5"/>
              </a:solidFill>
            </a:ln>
          </p:spPr>
        </p:sp>
      </p:grpSp>
      <p:grpSp>
        <p:nvGrpSpPr>
          <p:cNvPr id="25" name="Group 25"/>
          <p:cNvGrpSpPr/>
          <p:nvPr/>
        </p:nvGrpSpPr>
        <p:grpSpPr>
          <a:xfrm>
            <a:off x="754380" y="3457575"/>
            <a:ext cx="10953270" cy="419100"/>
            <a:chOff x="754380" y="3457575"/>
            <a:chExt cx="10953270" cy="419100"/>
          </a:xfrm>
        </p:grpSpPr>
        <p:sp>
          <p:nvSpPr>
            <p:cNvPr id="21" name="TextBox 21"/>
            <p:cNvSpPr txBox="1"/>
            <p:nvPr/>
          </p:nvSpPr>
          <p:spPr>
            <a:xfrm>
              <a:off x="754380" y="3457575"/>
              <a:ext cx="1420708"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Informational</a:t>
              </a:r>
            </a:p>
          </p:txBody>
        </p:sp>
        <p:sp>
          <p:nvSpPr>
            <p:cNvPr id="22" name="TextBox 22"/>
            <p:cNvSpPr txBox="1"/>
            <p:nvPr/>
          </p:nvSpPr>
          <p:spPr>
            <a:xfrm>
              <a:off x="3232023" y="3481864"/>
              <a:ext cx="4052808"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GDELT news headlines + VADER sentiment tagging</a:t>
              </a:r>
            </a:p>
          </p:txBody>
        </p:sp>
        <p:sp>
          <p:nvSpPr>
            <p:cNvPr id="23" name="TextBox 23"/>
            <p:cNvSpPr txBox="1"/>
            <p:nvPr/>
          </p:nvSpPr>
          <p:spPr>
            <a:xfrm>
              <a:off x="8947023" y="3481864"/>
              <a:ext cx="2760627" cy="249364"/>
            </a:xfrm>
            <a:prstGeom prst="rect">
              <a:avLst/>
            </a:prstGeom>
            <a:noFill/>
            <a:ln>
              <a:noFill/>
            </a:ln>
          </p:spPr>
          <p:txBody>
            <a:bodyPr wrap="none" lIns="0" tIns="0" rIns="0" bIns="0" anchor="t" anchorCtr="0">
              <a:spAutoFit/>
            </a:bodyPr>
            <a:lstStyle/>
            <a:p>
              <a:pPr algn="l"/>
              <a:r>
                <a:rPr lang="en-US" sz="1280" dirty="0">
                  <a:solidFill>
                    <a:srgbClr val="2563EB"/>
                  </a:solidFill>
                  <a:latin typeface="Arial"/>
                  <a:ea typeface="Arial"/>
                  <a:cs typeface="Arial"/>
                </a:rPr>
                <a:t xml:space="preserve">Signal −2 … +2 </a:t>
              </a:r>
              <a:r>
                <a:rPr lang="en-US" sz="1050" dirty="0">
                  <a:solidFill>
                    <a:srgbClr val="5B6B7B"/>
                  </a:solidFill>
                  <a:latin typeface="Arial"/>
                  <a:ea typeface="Arial"/>
                  <a:cs typeface="Arial"/>
                </a:rPr>
                <a:t>· neutral if unavailable</a:t>
              </a:r>
            </a:p>
          </p:txBody>
        </p:sp>
        <p:sp>
          <p:nvSpPr>
            <p:cNvPr id="24" name="Line 24"/>
            <p:cNvSpPr/>
            <p:nvPr/>
          </p:nvSpPr>
          <p:spPr>
            <a:xfrm>
              <a:off x="762000" y="3867150"/>
              <a:ext cx="10668000" cy="9525"/>
            </a:xfrm>
            <a:custGeom>
              <a:avLst/>
              <a:gdLst/>
              <a:ahLst/>
              <a:cxnLst/>
              <a:rect l="l" t="t" r="r" b="b"/>
              <a:pathLst>
                <a:path w="10668000" h="9525">
                  <a:moveTo>
                    <a:pt x="0" y="0"/>
                  </a:moveTo>
                  <a:lnTo>
                    <a:pt x="10668000" y="0"/>
                  </a:lnTo>
                </a:path>
              </a:pathLst>
            </a:custGeom>
            <a:noFill/>
            <a:ln w="9525">
              <a:solidFill>
                <a:srgbClr val="D6DDE5"/>
              </a:solidFill>
            </a:ln>
          </p:spPr>
        </p:sp>
      </p:grpSp>
      <p:grpSp>
        <p:nvGrpSpPr>
          <p:cNvPr id="30" name="Group 30"/>
          <p:cNvGrpSpPr/>
          <p:nvPr/>
        </p:nvGrpSpPr>
        <p:grpSpPr>
          <a:xfrm>
            <a:off x="754380" y="4143375"/>
            <a:ext cx="10675620" cy="419100"/>
            <a:chOff x="754380" y="4143375"/>
            <a:chExt cx="10675620" cy="419100"/>
          </a:xfrm>
        </p:grpSpPr>
        <p:sp>
          <p:nvSpPr>
            <p:cNvPr id="26" name="TextBox 26"/>
            <p:cNvSpPr txBox="1"/>
            <p:nvPr/>
          </p:nvSpPr>
          <p:spPr>
            <a:xfrm>
              <a:off x="754380" y="4143375"/>
              <a:ext cx="1983015"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Chip / institutional</a:t>
              </a:r>
            </a:p>
          </p:txBody>
        </p:sp>
        <p:sp>
          <p:nvSpPr>
            <p:cNvPr id="27" name="TextBox 27"/>
            <p:cNvSpPr txBox="1"/>
            <p:nvPr/>
          </p:nvSpPr>
          <p:spPr>
            <a:xfrm>
              <a:off x="3232023" y="4167664"/>
              <a:ext cx="5795458"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TW: three-institution net, margin, block trades · US: 13F quarterly</a:t>
              </a:r>
            </a:p>
          </p:txBody>
        </p:sp>
        <p:sp>
          <p:nvSpPr>
            <p:cNvPr id="28" name="TextBox 28"/>
            <p:cNvSpPr txBox="1"/>
            <p:nvPr/>
          </p:nvSpPr>
          <p:spPr>
            <a:xfrm>
              <a:off x="8947023" y="4167664"/>
              <a:ext cx="1130479" cy="249364"/>
            </a:xfrm>
            <a:prstGeom prst="rect">
              <a:avLst/>
            </a:prstGeom>
            <a:noFill/>
            <a:ln>
              <a:noFill/>
            </a:ln>
          </p:spPr>
          <p:txBody>
            <a:bodyPr wrap="none" lIns="0" tIns="0" rIns="0" bIns="0" anchor="t" anchorCtr="0">
              <a:spAutoFit/>
            </a:bodyPr>
            <a:lstStyle/>
            <a:p>
              <a:pPr algn="l"/>
              <a:r>
                <a:rPr lang="en-US" sz="1280" dirty="0">
                  <a:solidFill>
                    <a:srgbClr val="2563EB"/>
                  </a:solidFill>
                  <a:latin typeface="Arial"/>
                  <a:ea typeface="Arial"/>
                  <a:cs typeface="Arial"/>
                </a:rPr>
                <a:t>Signal −2 … +2</a:t>
              </a:r>
            </a:p>
          </p:txBody>
        </p:sp>
        <p:sp>
          <p:nvSpPr>
            <p:cNvPr id="29" name="Line 29"/>
            <p:cNvSpPr/>
            <p:nvPr/>
          </p:nvSpPr>
          <p:spPr>
            <a:xfrm>
              <a:off x="762000" y="4552950"/>
              <a:ext cx="10668000" cy="9525"/>
            </a:xfrm>
            <a:custGeom>
              <a:avLst/>
              <a:gdLst/>
              <a:ahLst/>
              <a:cxnLst/>
              <a:rect l="l" t="t" r="r" b="b"/>
              <a:pathLst>
                <a:path w="10668000" h="9525">
                  <a:moveTo>
                    <a:pt x="0" y="0"/>
                  </a:moveTo>
                  <a:lnTo>
                    <a:pt x="10668000" y="0"/>
                  </a:lnTo>
                </a:path>
              </a:pathLst>
            </a:custGeom>
            <a:noFill/>
            <a:ln w="9525">
              <a:solidFill>
                <a:srgbClr val="D6DDE5"/>
              </a:solidFill>
            </a:ln>
          </p:spPr>
        </p:sp>
      </p:grpSp>
      <p:grpSp>
        <p:nvGrpSpPr>
          <p:cNvPr id="37" name="Group 37"/>
          <p:cNvGrpSpPr/>
          <p:nvPr/>
        </p:nvGrpSpPr>
        <p:grpSpPr>
          <a:xfrm>
            <a:off x="762000" y="4686300"/>
            <a:ext cx="10668000" cy="666750"/>
            <a:chOff x="762000" y="4686300"/>
            <a:chExt cx="10668000" cy="666750"/>
          </a:xfrm>
        </p:grpSpPr>
        <p:sp>
          <p:nvSpPr>
            <p:cNvPr id="31" name="Rectangle 31"/>
            <p:cNvSpPr/>
            <p:nvPr/>
          </p:nvSpPr>
          <p:spPr>
            <a:xfrm>
              <a:off x="762000" y="4686300"/>
              <a:ext cx="10668000" cy="666750"/>
            </a:xfrm>
            <a:prstGeom prst="rect">
              <a:avLst/>
            </a:prstGeom>
            <a:solidFill>
              <a:srgbClr val="F0FAFB"/>
            </a:solidFill>
            <a:ln>
              <a:noFill/>
            </a:ln>
          </p:spPr>
        </p:sp>
        <p:sp>
          <p:nvSpPr>
            <p:cNvPr id="32" name="Rectangle 32"/>
            <p:cNvSpPr/>
            <p:nvPr/>
          </p:nvSpPr>
          <p:spPr>
            <a:xfrm>
              <a:off x="762000" y="4686300"/>
              <a:ext cx="57150" cy="666750"/>
            </a:xfrm>
            <a:prstGeom prst="rect">
              <a:avLst/>
            </a:prstGeom>
            <a:solidFill>
              <a:srgbClr val="0E9AA7"/>
            </a:solidFill>
            <a:ln>
              <a:noFill/>
            </a:ln>
          </p:spPr>
        </p:sp>
        <p:sp>
          <p:nvSpPr>
            <p:cNvPr id="33" name="TextBox 33"/>
            <p:cNvSpPr txBox="1"/>
            <p:nvPr/>
          </p:nvSpPr>
          <p:spPr>
            <a:xfrm>
              <a:off x="982980" y="4829175"/>
              <a:ext cx="1261978" cy="293370"/>
            </a:xfrm>
            <a:prstGeom prst="rect">
              <a:avLst/>
            </a:prstGeom>
            <a:noFill/>
            <a:ln>
              <a:noFill/>
            </a:ln>
          </p:spPr>
          <p:txBody>
            <a:bodyPr wrap="none" lIns="0" tIns="0" rIns="0" bIns="0" anchor="t" anchorCtr="0">
              <a:spAutoFit/>
            </a:bodyPr>
            <a:lstStyle/>
            <a:p>
              <a:pPr algn="l"/>
              <a:r>
                <a:rPr lang="en-US" sz="1500" b="1" dirty="0">
                  <a:solidFill>
                    <a:srgbClr val="0E7C87"/>
                  </a:solidFill>
                  <a:latin typeface="Arial"/>
                  <a:ea typeface="Arial"/>
                  <a:cs typeface="Arial"/>
                </a:rPr>
                <a:t>Supply chain</a:t>
              </a:r>
            </a:p>
          </p:txBody>
        </p:sp>
        <p:sp>
          <p:nvSpPr>
            <p:cNvPr id="34" name="TextBox 34"/>
            <p:cNvSpPr txBox="1"/>
            <p:nvPr/>
          </p:nvSpPr>
          <p:spPr>
            <a:xfrm>
              <a:off x="3232023" y="4853464"/>
              <a:ext cx="6095062" cy="249364"/>
            </a:xfrm>
            <a:prstGeom prst="rect">
              <a:avLst/>
            </a:prstGeom>
            <a:noFill/>
            <a:ln>
              <a:noFill/>
            </a:ln>
          </p:spPr>
          <p:txBody>
            <a:bodyPr wrap="none" lIns="0" tIns="0" rIns="0" bIns="0" anchor="t" anchorCtr="0">
              <a:spAutoFit/>
            </a:bodyPr>
            <a:lstStyle/>
            <a:p>
              <a:pPr algn="l"/>
              <a:r>
                <a:rPr lang="en-US" sz="1280" dirty="0">
                  <a:solidFill>
                    <a:srgbClr val="5B6B7B"/>
                  </a:solidFill>
                  <a:latin typeface="Arial"/>
                  <a:ea typeface="Arial"/>
                  <a:cs typeface="Arial"/>
                </a:rPr>
                <a:t>Silicon-wafer graph — fabs, upstream suppliers, downstream customers</a:t>
              </a:r>
            </a:p>
          </p:txBody>
        </p:sp>
        <p:sp>
          <p:nvSpPr>
            <p:cNvPr id="35" name="TextBox 35"/>
            <p:cNvSpPr txBox="1"/>
            <p:nvPr/>
          </p:nvSpPr>
          <p:spPr>
            <a:xfrm>
              <a:off x="8947023" y="4853464"/>
              <a:ext cx="1270954" cy="249364"/>
            </a:xfrm>
            <a:prstGeom prst="rect">
              <a:avLst/>
            </a:prstGeom>
            <a:noFill/>
            <a:ln>
              <a:noFill/>
            </a:ln>
          </p:spPr>
          <p:txBody>
            <a:bodyPr wrap="none" lIns="0" tIns="0" rIns="0" bIns="0" anchor="t" anchorCtr="0">
              <a:spAutoFit/>
            </a:bodyPr>
            <a:lstStyle/>
            <a:p>
              <a:pPr algn="l"/>
              <a:r>
                <a:rPr lang="en-US" sz="1280" b="1" dirty="0">
                  <a:solidFill>
                    <a:srgbClr val="0E7C87"/>
                  </a:solidFill>
                  <a:latin typeface="Arial"/>
                  <a:ea typeface="Arial"/>
                  <a:cs typeface="Arial"/>
                </a:rPr>
                <a:t>Discovery only</a:t>
              </a:r>
            </a:p>
          </p:txBody>
        </p:sp>
        <p:sp>
          <p:nvSpPr>
            <p:cNvPr id="36" name="TextBox 36"/>
            <p:cNvSpPr txBox="1"/>
            <p:nvPr/>
          </p:nvSpPr>
          <p:spPr>
            <a:xfrm>
              <a:off x="3233166" y="5106352"/>
              <a:ext cx="4277225" cy="205359"/>
            </a:xfrm>
            <a:prstGeom prst="rect">
              <a:avLst/>
            </a:prstGeom>
            <a:noFill/>
            <a:ln>
              <a:noFill/>
            </a:ln>
          </p:spPr>
          <p:txBody>
            <a:bodyPr wrap="none" lIns="0" tIns="0" rIns="0" bIns="0" anchor="t" anchorCtr="0">
              <a:spAutoFit/>
            </a:bodyPr>
            <a:lstStyle/>
            <a:p>
              <a:pPr algn="l"/>
              <a:r>
                <a:rPr lang="en-US" sz="1050" dirty="0">
                  <a:solidFill>
                    <a:srgbClr val="0E9AA7"/>
                  </a:solidFill>
                  <a:latin typeface="Arial"/>
                  <a:ea typeface="Arial"/>
                  <a:cs typeface="Arial"/>
                </a:rPr>
                <a:t>Related investable names — does not feed the composite score</a:t>
              </a:r>
            </a:p>
          </p:txBody>
        </p:sp>
      </p:grpSp>
      <p:grpSp>
        <p:nvGrpSpPr>
          <p:cNvPr id="39" name="Group 39"/>
          <p:cNvGrpSpPr/>
          <p:nvPr/>
        </p:nvGrpSpPr>
        <p:grpSpPr>
          <a:xfrm>
            <a:off x="755904" y="5718810"/>
            <a:ext cx="12187472" cy="234696"/>
            <a:chOff x="755904" y="5718810"/>
            <a:chExt cx="12187472" cy="234696"/>
          </a:xfrm>
        </p:grpSpPr>
        <p:sp>
          <p:nvSpPr>
            <p:cNvPr id="38" name="TextBox 38"/>
            <p:cNvSpPr txBox="1"/>
            <p:nvPr/>
          </p:nvSpPr>
          <p:spPr>
            <a:xfrm>
              <a:off x="755904" y="5718810"/>
              <a:ext cx="12187472"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Four scoring lenses drive the recommendation; the composite and confidence math is over these four. The supply-chain lens expands the opportunity set.</a:t>
              </a:r>
            </a:p>
          </p:txBody>
        </p:sp>
      </p:grpSp>
      <p:grpSp>
        <p:nvGrpSpPr>
          <p:cNvPr id="43" name="Group 43"/>
          <p:cNvGrpSpPr/>
          <p:nvPr/>
        </p:nvGrpSpPr>
        <p:grpSpPr>
          <a:xfrm>
            <a:off x="757047" y="6477000"/>
            <a:ext cx="10677906" cy="285464"/>
            <a:chOff x="757047" y="6477000"/>
            <a:chExt cx="10677906" cy="285464"/>
          </a:xfrm>
        </p:grpSpPr>
        <p:sp>
          <p:nvSpPr>
            <p:cNvPr id="40" name="Line 40"/>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41" name="TextBox 41"/>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42" name="TextBox 42"/>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05 / 17</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9808" y="572452"/>
            <a:ext cx="9638198" cy="742760"/>
            <a:chOff x="749808" y="572452"/>
            <a:chExt cx="9638198" cy="742760"/>
          </a:xfrm>
        </p:grpSpPr>
        <p:sp>
          <p:nvSpPr>
            <p:cNvPr id="3" name="TextBox 3"/>
            <p:cNvSpPr txBox="1"/>
            <p:nvPr/>
          </p:nvSpPr>
          <p:spPr>
            <a:xfrm>
              <a:off x="756666" y="572452"/>
              <a:ext cx="3147060"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RECOMMENDATION ENGINE — 1 / 2</a:t>
              </a:r>
            </a:p>
          </p:txBody>
        </p:sp>
        <p:sp>
          <p:nvSpPr>
            <p:cNvPr id="4" name="TextBox 4"/>
            <p:cNvSpPr txBox="1"/>
            <p:nvPr/>
          </p:nvSpPr>
          <p:spPr>
            <a:xfrm>
              <a:off x="749808" y="845820"/>
              <a:ext cx="9638198"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A transparent −2 to +2 weighted score — never a black box</a:t>
              </a:r>
            </a:p>
          </p:txBody>
        </p:sp>
      </p:grpSp>
      <p:grpSp>
        <p:nvGrpSpPr>
          <p:cNvPr id="20" name="Group 20"/>
          <p:cNvGrpSpPr/>
          <p:nvPr/>
        </p:nvGrpSpPr>
        <p:grpSpPr>
          <a:xfrm>
            <a:off x="756285" y="1571149"/>
            <a:ext cx="4958715" cy="1289685"/>
            <a:chOff x="756285" y="1571149"/>
            <a:chExt cx="4958715" cy="1289685"/>
          </a:xfrm>
        </p:grpSpPr>
        <p:sp>
          <p:nvSpPr>
            <p:cNvPr id="6" name="TextBox 6"/>
            <p:cNvSpPr txBox="1"/>
            <p:nvPr/>
          </p:nvSpPr>
          <p:spPr>
            <a:xfrm>
              <a:off x="757047" y="1571149"/>
              <a:ext cx="3321787"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DEFAULT WEIGHTS (USER-CONFIGURABLE)</a:t>
              </a:r>
            </a:p>
          </p:txBody>
        </p:sp>
        <p:sp>
          <p:nvSpPr>
            <p:cNvPr id="7" name="Rectangle 7"/>
            <p:cNvSpPr/>
            <p:nvPr/>
          </p:nvSpPr>
          <p:spPr>
            <a:xfrm>
              <a:off x="762000" y="1828800"/>
              <a:ext cx="1485900" cy="438150"/>
            </a:xfrm>
            <a:prstGeom prst="rect">
              <a:avLst/>
            </a:prstGeom>
            <a:solidFill>
              <a:srgbClr val="0F2A43"/>
            </a:solidFill>
            <a:ln>
              <a:noFill/>
            </a:ln>
          </p:spPr>
        </p:sp>
        <p:sp>
          <p:nvSpPr>
            <p:cNvPr id="8" name="Rectangle 8"/>
            <p:cNvSpPr/>
            <p:nvPr/>
          </p:nvSpPr>
          <p:spPr>
            <a:xfrm>
              <a:off x="2247900" y="1828800"/>
              <a:ext cx="1485900" cy="438150"/>
            </a:xfrm>
            <a:prstGeom prst="rect">
              <a:avLst/>
            </a:prstGeom>
            <a:solidFill>
              <a:srgbClr val="2563EB"/>
            </a:solidFill>
            <a:ln>
              <a:noFill/>
            </a:ln>
          </p:spPr>
        </p:sp>
        <p:sp>
          <p:nvSpPr>
            <p:cNvPr id="9" name="Rectangle 9"/>
            <p:cNvSpPr/>
            <p:nvPr/>
          </p:nvSpPr>
          <p:spPr>
            <a:xfrm>
              <a:off x="3733800" y="1828800"/>
              <a:ext cx="1238250" cy="438150"/>
            </a:xfrm>
            <a:prstGeom prst="rect">
              <a:avLst/>
            </a:prstGeom>
            <a:solidFill>
              <a:srgbClr val="0E9AA7"/>
            </a:solidFill>
            <a:ln>
              <a:noFill/>
            </a:ln>
          </p:spPr>
        </p:sp>
        <p:sp>
          <p:nvSpPr>
            <p:cNvPr id="10" name="Rectangle 10"/>
            <p:cNvSpPr/>
            <p:nvPr/>
          </p:nvSpPr>
          <p:spPr>
            <a:xfrm>
              <a:off x="4972050" y="1828800"/>
              <a:ext cx="742950" cy="438150"/>
            </a:xfrm>
            <a:prstGeom prst="rect">
              <a:avLst/>
            </a:prstGeom>
            <a:solidFill>
              <a:srgbClr val="9DB4C9"/>
            </a:solidFill>
            <a:ln>
              <a:noFill/>
            </a:ln>
          </p:spPr>
        </p:sp>
        <p:sp>
          <p:nvSpPr>
            <p:cNvPr id="11" name="TextBox 11"/>
            <p:cNvSpPr txBox="1"/>
            <p:nvPr/>
          </p:nvSpPr>
          <p:spPr>
            <a:xfrm>
              <a:off x="1331767" y="1967389"/>
              <a:ext cx="346366"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Arial"/>
                  <a:ea typeface="Arial"/>
                  <a:cs typeface="Arial"/>
                </a:rPr>
                <a:t>30%</a:t>
              </a:r>
            </a:p>
          </p:txBody>
        </p:sp>
        <p:sp>
          <p:nvSpPr>
            <p:cNvPr id="12" name="TextBox 12"/>
            <p:cNvSpPr txBox="1"/>
            <p:nvPr/>
          </p:nvSpPr>
          <p:spPr>
            <a:xfrm>
              <a:off x="2817667" y="1967389"/>
              <a:ext cx="346366"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Arial"/>
                  <a:ea typeface="Arial"/>
                  <a:cs typeface="Arial"/>
                </a:rPr>
                <a:t>30%</a:t>
              </a:r>
            </a:p>
          </p:txBody>
        </p:sp>
        <p:sp>
          <p:nvSpPr>
            <p:cNvPr id="13" name="TextBox 13"/>
            <p:cNvSpPr txBox="1"/>
            <p:nvPr/>
          </p:nvSpPr>
          <p:spPr>
            <a:xfrm>
              <a:off x="4179742" y="1967389"/>
              <a:ext cx="346366"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Arial"/>
                  <a:ea typeface="Arial"/>
                  <a:cs typeface="Arial"/>
                </a:rPr>
                <a:t>25%</a:t>
              </a:r>
            </a:p>
          </p:txBody>
        </p:sp>
        <p:sp>
          <p:nvSpPr>
            <p:cNvPr id="14" name="TextBox 14"/>
            <p:cNvSpPr txBox="1"/>
            <p:nvPr/>
          </p:nvSpPr>
          <p:spPr>
            <a:xfrm>
              <a:off x="5190717" y="1983581"/>
              <a:ext cx="305617"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Arial"/>
                  <a:ea typeface="Arial"/>
                  <a:cs typeface="Arial"/>
                </a:rPr>
                <a:t>15%</a:t>
              </a:r>
            </a:p>
          </p:txBody>
        </p:sp>
        <p:sp>
          <p:nvSpPr>
            <p:cNvPr id="15" name="TextBox 15"/>
            <p:cNvSpPr txBox="1"/>
            <p:nvPr/>
          </p:nvSpPr>
          <p:spPr>
            <a:xfrm>
              <a:off x="1160145" y="2336006"/>
              <a:ext cx="689610" cy="220028"/>
            </a:xfrm>
            <a:prstGeom prst="rect">
              <a:avLst/>
            </a:prstGeom>
            <a:noFill/>
            <a:ln>
              <a:noFill/>
            </a:ln>
          </p:spPr>
          <p:txBody>
            <a:bodyPr wrap="none" lIns="0" tIns="0" rIns="0" bIns="0" anchor="t" anchorCtr="0">
              <a:spAutoFit/>
            </a:bodyPr>
            <a:lstStyle/>
            <a:p>
              <a:pPr algn="ctr"/>
              <a:r>
                <a:rPr lang="en-US" sz="1120" dirty="0">
                  <a:solidFill>
                    <a:srgbClr val="5B6B7B"/>
                  </a:solidFill>
                  <a:latin typeface="Arial"/>
                  <a:ea typeface="Arial"/>
                  <a:cs typeface="Arial"/>
                </a:rPr>
                <a:t>Technical</a:t>
              </a:r>
            </a:p>
          </p:txBody>
        </p:sp>
        <p:sp>
          <p:nvSpPr>
            <p:cNvPr id="16" name="TextBox 16"/>
            <p:cNvSpPr txBox="1"/>
            <p:nvPr/>
          </p:nvSpPr>
          <p:spPr>
            <a:xfrm>
              <a:off x="2528455" y="2336006"/>
              <a:ext cx="924791" cy="220028"/>
            </a:xfrm>
            <a:prstGeom prst="rect">
              <a:avLst/>
            </a:prstGeom>
            <a:noFill/>
            <a:ln>
              <a:noFill/>
            </a:ln>
          </p:spPr>
          <p:txBody>
            <a:bodyPr wrap="none" lIns="0" tIns="0" rIns="0" bIns="0" anchor="t" anchorCtr="0">
              <a:spAutoFit/>
            </a:bodyPr>
            <a:lstStyle/>
            <a:p>
              <a:pPr algn="ctr"/>
              <a:r>
                <a:rPr lang="en-US" sz="1120" dirty="0">
                  <a:solidFill>
                    <a:srgbClr val="5B6B7B"/>
                  </a:solidFill>
                  <a:latin typeface="Arial"/>
                  <a:ea typeface="Arial"/>
                  <a:cs typeface="Arial"/>
                </a:rPr>
                <a:t>Fundamental</a:t>
              </a:r>
            </a:p>
          </p:txBody>
        </p:sp>
        <p:sp>
          <p:nvSpPr>
            <p:cNvPr id="17" name="TextBox 17"/>
            <p:cNvSpPr txBox="1"/>
            <p:nvPr/>
          </p:nvSpPr>
          <p:spPr>
            <a:xfrm>
              <a:off x="4197459" y="2336006"/>
              <a:ext cx="310932" cy="220028"/>
            </a:xfrm>
            <a:prstGeom prst="rect">
              <a:avLst/>
            </a:prstGeom>
            <a:noFill/>
            <a:ln>
              <a:noFill/>
            </a:ln>
          </p:spPr>
          <p:txBody>
            <a:bodyPr wrap="none" lIns="0" tIns="0" rIns="0" bIns="0" anchor="t" anchorCtr="0">
              <a:spAutoFit/>
            </a:bodyPr>
            <a:lstStyle/>
            <a:p>
              <a:pPr algn="ctr"/>
              <a:r>
                <a:rPr lang="en-US" sz="1120" dirty="0">
                  <a:solidFill>
                    <a:srgbClr val="5B6B7B"/>
                  </a:solidFill>
                  <a:latin typeface="Arial"/>
                  <a:ea typeface="Arial"/>
                  <a:cs typeface="Arial"/>
                </a:rPr>
                <a:t>Chip</a:t>
              </a:r>
            </a:p>
          </p:txBody>
        </p:sp>
        <p:sp>
          <p:nvSpPr>
            <p:cNvPr id="18" name="TextBox 18"/>
            <p:cNvSpPr txBox="1"/>
            <p:nvPr/>
          </p:nvSpPr>
          <p:spPr>
            <a:xfrm>
              <a:off x="5178838" y="2352199"/>
              <a:ext cx="329375" cy="190690"/>
            </a:xfrm>
            <a:prstGeom prst="rect">
              <a:avLst/>
            </a:prstGeom>
            <a:noFill/>
            <a:ln>
              <a:noFill/>
            </a:ln>
          </p:spPr>
          <p:txBody>
            <a:bodyPr wrap="none" lIns="0" tIns="0" rIns="0" bIns="0" anchor="t" anchorCtr="0">
              <a:spAutoFit/>
            </a:bodyPr>
            <a:lstStyle/>
            <a:p>
              <a:pPr algn="ctr"/>
              <a:r>
                <a:rPr lang="en-US" sz="980" dirty="0">
                  <a:solidFill>
                    <a:srgbClr val="5B6B7B"/>
                  </a:solidFill>
                  <a:latin typeface="Arial"/>
                  <a:ea typeface="Arial"/>
                  <a:cs typeface="Arial"/>
                </a:rPr>
                <a:t>News</a:t>
              </a:r>
            </a:p>
          </p:txBody>
        </p:sp>
        <p:sp>
          <p:nvSpPr>
            <p:cNvPr id="19" name="TextBox 19"/>
            <p:cNvSpPr txBox="1"/>
            <p:nvPr/>
          </p:nvSpPr>
          <p:spPr>
            <a:xfrm>
              <a:off x="756285" y="2640806"/>
              <a:ext cx="4787219" cy="220028"/>
            </a:xfrm>
            <a:prstGeom prst="rect">
              <a:avLst/>
            </a:prstGeom>
            <a:noFill/>
            <a:ln>
              <a:noFill/>
            </a:ln>
          </p:spPr>
          <p:txBody>
            <a:bodyPr wrap="none" lIns="0" tIns="0" rIns="0" bIns="0" anchor="t" anchorCtr="0">
              <a:spAutoFit/>
            </a:bodyPr>
            <a:lstStyle/>
            <a:p>
              <a:pPr algn="l"/>
              <a:r>
                <a:rPr lang="en-US" sz="1120" dirty="0">
                  <a:solidFill>
                    <a:srgbClr val="0E9AA7"/>
                  </a:solidFill>
                  <a:latin typeface="Arial"/>
                  <a:ea typeface="Arial"/>
                  <a:cs typeface="Arial"/>
                </a:rPr>
                <a:t>Supply chain is excluded from the score — it is a discovery layer.</a:t>
              </a:r>
            </a:p>
          </p:txBody>
        </p:sp>
      </p:grpSp>
      <p:grpSp>
        <p:nvGrpSpPr>
          <p:cNvPr id="36" name="Group 36"/>
          <p:cNvGrpSpPr/>
          <p:nvPr/>
        </p:nvGrpSpPr>
        <p:grpSpPr>
          <a:xfrm>
            <a:off x="6261834" y="1571149"/>
            <a:ext cx="4999669" cy="1283112"/>
            <a:chOff x="6261834" y="1571149"/>
            <a:chExt cx="4999669" cy="1283112"/>
          </a:xfrm>
        </p:grpSpPr>
        <p:sp>
          <p:nvSpPr>
            <p:cNvPr id="21" name="TextBox 21"/>
            <p:cNvSpPr txBox="1"/>
            <p:nvPr/>
          </p:nvSpPr>
          <p:spPr>
            <a:xfrm>
              <a:off x="6281547" y="1571149"/>
              <a:ext cx="2847594"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COMPOSITE SCORE → 5-POINT CALL</a:t>
              </a:r>
            </a:p>
          </p:txBody>
        </p:sp>
        <p:sp>
          <p:nvSpPr>
            <p:cNvPr id="22" name="Rectangle 22"/>
            <p:cNvSpPr/>
            <p:nvPr/>
          </p:nvSpPr>
          <p:spPr>
            <a:xfrm>
              <a:off x="6286500" y="1828800"/>
              <a:ext cx="619125" cy="438150"/>
            </a:xfrm>
            <a:prstGeom prst="rect">
              <a:avLst/>
            </a:prstGeom>
            <a:solidFill>
              <a:srgbClr val="991B1B"/>
            </a:solidFill>
            <a:ln>
              <a:noFill/>
            </a:ln>
          </p:spPr>
        </p:sp>
        <p:sp>
          <p:nvSpPr>
            <p:cNvPr id="23" name="Rectangle 23"/>
            <p:cNvSpPr/>
            <p:nvPr/>
          </p:nvSpPr>
          <p:spPr>
            <a:xfrm>
              <a:off x="6905625" y="1828800"/>
              <a:ext cx="933450" cy="438150"/>
            </a:xfrm>
            <a:prstGeom prst="rect">
              <a:avLst/>
            </a:prstGeom>
            <a:solidFill>
              <a:srgbClr val="DC2626"/>
            </a:solidFill>
            <a:ln>
              <a:noFill/>
            </a:ln>
          </p:spPr>
        </p:sp>
        <p:sp>
          <p:nvSpPr>
            <p:cNvPr id="24" name="Rectangle 24"/>
            <p:cNvSpPr/>
            <p:nvPr/>
          </p:nvSpPr>
          <p:spPr>
            <a:xfrm>
              <a:off x="7839075" y="1828800"/>
              <a:ext cx="1857375" cy="438150"/>
            </a:xfrm>
            <a:prstGeom prst="rect">
              <a:avLst/>
            </a:prstGeom>
            <a:solidFill>
              <a:srgbClr val="9DB4C9"/>
            </a:solidFill>
            <a:ln>
              <a:noFill/>
            </a:ln>
          </p:spPr>
        </p:sp>
        <p:sp>
          <p:nvSpPr>
            <p:cNvPr id="25" name="Rectangle 25"/>
            <p:cNvSpPr/>
            <p:nvPr/>
          </p:nvSpPr>
          <p:spPr>
            <a:xfrm>
              <a:off x="9696450" y="1828800"/>
              <a:ext cx="923925" cy="438150"/>
            </a:xfrm>
            <a:prstGeom prst="rect">
              <a:avLst/>
            </a:prstGeom>
            <a:solidFill>
              <a:srgbClr val="2563EB"/>
            </a:solidFill>
            <a:ln>
              <a:noFill/>
            </a:ln>
          </p:spPr>
        </p:sp>
        <p:sp>
          <p:nvSpPr>
            <p:cNvPr id="26" name="Rectangle 26"/>
            <p:cNvSpPr/>
            <p:nvPr/>
          </p:nvSpPr>
          <p:spPr>
            <a:xfrm>
              <a:off x="10620375" y="1828800"/>
              <a:ext cx="619125" cy="438150"/>
            </a:xfrm>
            <a:prstGeom prst="rect">
              <a:avLst/>
            </a:prstGeom>
            <a:solidFill>
              <a:srgbClr val="15803D"/>
            </a:solidFill>
            <a:ln>
              <a:noFill/>
            </a:ln>
          </p:spPr>
        </p:sp>
        <p:sp>
          <p:nvSpPr>
            <p:cNvPr id="27" name="TextBox 27"/>
            <p:cNvSpPr txBox="1"/>
            <p:nvPr/>
          </p:nvSpPr>
          <p:spPr>
            <a:xfrm>
              <a:off x="6261834" y="2360295"/>
              <a:ext cx="658932" cy="176212"/>
            </a:xfrm>
            <a:prstGeom prst="rect">
              <a:avLst/>
            </a:prstGeom>
            <a:noFill/>
            <a:ln>
              <a:noFill/>
            </a:ln>
          </p:spPr>
          <p:txBody>
            <a:bodyPr wrap="none" lIns="0" tIns="0" rIns="0" bIns="0" anchor="t" anchorCtr="0">
              <a:spAutoFit/>
            </a:bodyPr>
            <a:lstStyle/>
            <a:p>
              <a:pPr algn="ctr"/>
              <a:r>
                <a:rPr lang="en-US" sz="900" dirty="0">
                  <a:solidFill>
                    <a:srgbClr val="5B6B7B"/>
                  </a:solidFill>
                  <a:latin typeface="Arial"/>
                  <a:ea typeface="Arial"/>
                  <a:cs typeface="Arial"/>
                </a:rPr>
                <a:t>Strong Sell</a:t>
              </a:r>
            </a:p>
          </p:txBody>
        </p:sp>
        <p:sp>
          <p:nvSpPr>
            <p:cNvPr id="28" name="TextBox 28"/>
            <p:cNvSpPr txBox="1"/>
            <p:nvPr/>
          </p:nvSpPr>
          <p:spPr>
            <a:xfrm>
              <a:off x="7254252" y="2352199"/>
              <a:ext cx="236196" cy="190690"/>
            </a:xfrm>
            <a:prstGeom prst="rect">
              <a:avLst/>
            </a:prstGeom>
            <a:noFill/>
            <a:ln>
              <a:noFill/>
            </a:ln>
          </p:spPr>
          <p:txBody>
            <a:bodyPr wrap="none" lIns="0" tIns="0" rIns="0" bIns="0" anchor="t" anchorCtr="0">
              <a:spAutoFit/>
            </a:bodyPr>
            <a:lstStyle/>
            <a:p>
              <a:pPr algn="ctr"/>
              <a:r>
                <a:rPr lang="en-US" sz="980" dirty="0">
                  <a:solidFill>
                    <a:srgbClr val="5B6B7B"/>
                  </a:solidFill>
                  <a:latin typeface="Arial"/>
                  <a:ea typeface="Arial"/>
                  <a:cs typeface="Arial"/>
                </a:rPr>
                <a:t>Sell</a:t>
              </a:r>
            </a:p>
          </p:txBody>
        </p:sp>
        <p:sp>
          <p:nvSpPr>
            <p:cNvPr id="29" name="TextBox 29"/>
            <p:cNvSpPr txBox="1"/>
            <p:nvPr/>
          </p:nvSpPr>
          <p:spPr>
            <a:xfrm>
              <a:off x="8628263" y="2352199"/>
              <a:ext cx="269474" cy="190690"/>
            </a:xfrm>
            <a:prstGeom prst="rect">
              <a:avLst/>
            </a:prstGeom>
            <a:noFill/>
            <a:ln>
              <a:noFill/>
            </a:ln>
          </p:spPr>
          <p:txBody>
            <a:bodyPr wrap="none" lIns="0" tIns="0" rIns="0" bIns="0" anchor="t" anchorCtr="0">
              <a:spAutoFit/>
            </a:bodyPr>
            <a:lstStyle/>
            <a:p>
              <a:pPr algn="ctr"/>
              <a:r>
                <a:rPr lang="en-US" sz="980" dirty="0">
                  <a:solidFill>
                    <a:srgbClr val="5B6B7B"/>
                  </a:solidFill>
                  <a:latin typeface="Arial"/>
                  <a:ea typeface="Arial"/>
                  <a:cs typeface="Arial"/>
                </a:rPr>
                <a:t>Hold</a:t>
              </a:r>
            </a:p>
          </p:txBody>
        </p:sp>
        <p:sp>
          <p:nvSpPr>
            <p:cNvPr id="30" name="TextBox 30"/>
            <p:cNvSpPr txBox="1"/>
            <p:nvPr/>
          </p:nvSpPr>
          <p:spPr>
            <a:xfrm>
              <a:off x="10038369" y="2352199"/>
              <a:ext cx="230562" cy="190690"/>
            </a:xfrm>
            <a:prstGeom prst="rect">
              <a:avLst/>
            </a:prstGeom>
            <a:noFill/>
            <a:ln>
              <a:noFill/>
            </a:ln>
          </p:spPr>
          <p:txBody>
            <a:bodyPr wrap="none" lIns="0" tIns="0" rIns="0" bIns="0" anchor="t" anchorCtr="0">
              <a:spAutoFit/>
            </a:bodyPr>
            <a:lstStyle/>
            <a:p>
              <a:pPr algn="ctr"/>
              <a:r>
                <a:rPr lang="en-US" sz="980" dirty="0">
                  <a:solidFill>
                    <a:srgbClr val="5B6B7B"/>
                  </a:solidFill>
                  <a:latin typeface="Arial"/>
                  <a:ea typeface="Arial"/>
                  <a:cs typeface="Arial"/>
                </a:rPr>
                <a:t>Buy</a:t>
              </a:r>
            </a:p>
          </p:txBody>
        </p:sp>
        <p:sp>
          <p:nvSpPr>
            <p:cNvPr id="31" name="TextBox 31"/>
            <p:cNvSpPr txBox="1"/>
            <p:nvPr/>
          </p:nvSpPr>
          <p:spPr>
            <a:xfrm>
              <a:off x="10607897" y="2360295"/>
              <a:ext cx="653606" cy="176212"/>
            </a:xfrm>
            <a:prstGeom prst="rect">
              <a:avLst/>
            </a:prstGeom>
            <a:noFill/>
            <a:ln>
              <a:noFill/>
            </a:ln>
          </p:spPr>
          <p:txBody>
            <a:bodyPr wrap="none" lIns="0" tIns="0" rIns="0" bIns="0" anchor="t" anchorCtr="0">
              <a:spAutoFit/>
            </a:bodyPr>
            <a:lstStyle/>
            <a:p>
              <a:pPr algn="ctr"/>
              <a:r>
                <a:rPr lang="en-US" sz="900" dirty="0">
                  <a:solidFill>
                    <a:srgbClr val="5B6B7B"/>
                  </a:solidFill>
                  <a:latin typeface="Arial"/>
                  <a:ea typeface="Arial"/>
                  <a:cs typeface="Arial"/>
                </a:rPr>
                <a:t>Strong Buy</a:t>
              </a:r>
            </a:p>
          </p:txBody>
        </p:sp>
        <p:sp>
          <p:nvSpPr>
            <p:cNvPr id="32" name="TextBox 32"/>
            <p:cNvSpPr txBox="1"/>
            <p:nvPr/>
          </p:nvSpPr>
          <p:spPr>
            <a:xfrm>
              <a:off x="6281166" y="2648902"/>
              <a:ext cx="321640" cy="205359"/>
            </a:xfrm>
            <a:prstGeom prst="rect">
              <a:avLst/>
            </a:prstGeom>
            <a:noFill/>
            <a:ln>
              <a:noFill/>
            </a:ln>
          </p:spPr>
          <p:txBody>
            <a:bodyPr wrap="none" lIns="0" tIns="0" rIns="0" bIns="0" anchor="t" anchorCtr="0">
              <a:spAutoFit/>
            </a:bodyPr>
            <a:lstStyle/>
            <a:p>
              <a:pPr algn="l"/>
              <a:r>
                <a:rPr lang="en-US" sz="1050" dirty="0">
                  <a:solidFill>
                    <a:srgbClr val="5B6B7B"/>
                  </a:solidFill>
                  <a:latin typeface="Arial"/>
                  <a:ea typeface="Arial"/>
                  <a:cs typeface="Arial"/>
                </a:rPr>
                <a:t>−2.0</a:t>
              </a:r>
            </a:p>
          </p:txBody>
        </p:sp>
        <p:sp>
          <p:nvSpPr>
            <p:cNvPr id="33" name="TextBox 33"/>
            <p:cNvSpPr txBox="1"/>
            <p:nvPr/>
          </p:nvSpPr>
          <p:spPr>
            <a:xfrm>
              <a:off x="7639383" y="2648902"/>
              <a:ext cx="399383" cy="205359"/>
            </a:xfrm>
            <a:prstGeom prst="rect">
              <a:avLst/>
            </a:prstGeom>
            <a:noFill/>
            <a:ln>
              <a:noFill/>
            </a:ln>
          </p:spPr>
          <p:txBody>
            <a:bodyPr wrap="none" lIns="0" tIns="0" rIns="0" bIns="0" anchor="t" anchorCtr="0">
              <a:spAutoFit/>
            </a:bodyPr>
            <a:lstStyle/>
            <a:p>
              <a:pPr algn="ctr"/>
              <a:r>
                <a:rPr lang="en-US" sz="1050" dirty="0">
                  <a:solidFill>
                    <a:srgbClr val="5B6B7B"/>
                  </a:solidFill>
                  <a:latin typeface="Arial"/>
                  <a:ea typeface="Arial"/>
                  <a:cs typeface="Arial"/>
                </a:rPr>
                <a:t>−0.75</a:t>
              </a:r>
            </a:p>
          </p:txBody>
        </p:sp>
        <p:sp>
          <p:nvSpPr>
            <p:cNvPr id="34" name="TextBox 34"/>
            <p:cNvSpPr txBox="1"/>
            <p:nvPr/>
          </p:nvSpPr>
          <p:spPr>
            <a:xfrm>
              <a:off x="9496758" y="2648902"/>
              <a:ext cx="399383" cy="205359"/>
            </a:xfrm>
            <a:prstGeom prst="rect">
              <a:avLst/>
            </a:prstGeom>
            <a:noFill/>
            <a:ln>
              <a:noFill/>
            </a:ln>
          </p:spPr>
          <p:txBody>
            <a:bodyPr wrap="none" lIns="0" tIns="0" rIns="0" bIns="0" anchor="t" anchorCtr="0">
              <a:spAutoFit/>
            </a:bodyPr>
            <a:lstStyle/>
            <a:p>
              <a:pPr algn="ctr"/>
              <a:r>
                <a:rPr lang="en-US" sz="1050" dirty="0">
                  <a:solidFill>
                    <a:srgbClr val="5B6B7B"/>
                  </a:solidFill>
                  <a:latin typeface="Arial"/>
                  <a:ea typeface="Arial"/>
                  <a:cs typeface="Arial"/>
                </a:rPr>
                <a:t>+0.75</a:t>
              </a:r>
            </a:p>
          </p:txBody>
        </p:sp>
        <p:sp>
          <p:nvSpPr>
            <p:cNvPr id="35" name="TextBox 35"/>
            <p:cNvSpPr txBox="1"/>
            <p:nvPr/>
          </p:nvSpPr>
          <p:spPr>
            <a:xfrm>
              <a:off x="10923194" y="2648902"/>
              <a:ext cx="321640" cy="205359"/>
            </a:xfrm>
            <a:prstGeom prst="rect">
              <a:avLst/>
            </a:prstGeom>
            <a:noFill/>
            <a:ln>
              <a:noFill/>
            </a:ln>
          </p:spPr>
          <p:txBody>
            <a:bodyPr wrap="none" lIns="0" tIns="0" rIns="0" bIns="0" anchor="t" anchorCtr="0">
              <a:spAutoFit/>
            </a:bodyPr>
            <a:lstStyle/>
            <a:p>
              <a:pPr algn="r"/>
              <a:r>
                <a:rPr lang="en-US" sz="1050" dirty="0">
                  <a:solidFill>
                    <a:srgbClr val="5B6B7B"/>
                  </a:solidFill>
                  <a:latin typeface="Arial"/>
                  <a:ea typeface="Arial"/>
                  <a:cs typeface="Arial"/>
                </a:rPr>
                <a:t>+2.0</a:t>
              </a:r>
            </a:p>
          </p:txBody>
        </p:sp>
      </p:grpSp>
      <p:grpSp>
        <p:nvGrpSpPr>
          <p:cNvPr id="47" name="Group 47"/>
          <p:cNvGrpSpPr/>
          <p:nvPr/>
        </p:nvGrpSpPr>
        <p:grpSpPr>
          <a:xfrm>
            <a:off x="762000" y="3352800"/>
            <a:ext cx="3352800" cy="2209800"/>
            <a:chOff x="762000" y="3352800"/>
            <a:chExt cx="3352800" cy="2209800"/>
          </a:xfrm>
        </p:grpSpPr>
        <p:sp>
          <p:nvSpPr>
            <p:cNvPr id="37" name="Rectangle 37"/>
            <p:cNvSpPr/>
            <p:nvPr/>
          </p:nvSpPr>
          <p:spPr>
            <a:xfrm>
              <a:off x="762000" y="3352800"/>
              <a:ext cx="3352800" cy="2209800"/>
            </a:xfrm>
            <a:prstGeom prst="rect">
              <a:avLst/>
            </a:prstGeom>
            <a:solidFill>
              <a:srgbClr val="F3F5F8"/>
            </a:solidFill>
            <a:ln>
              <a:noFill/>
            </a:ln>
          </p:spPr>
        </p:sp>
        <p:sp>
          <p:nvSpPr>
            <p:cNvPr id="38" name="Rectangle 38"/>
            <p:cNvSpPr/>
            <p:nvPr/>
          </p:nvSpPr>
          <p:spPr>
            <a:xfrm>
              <a:off x="762000" y="3352800"/>
              <a:ext cx="3352800" cy="47625"/>
            </a:xfrm>
            <a:prstGeom prst="rect">
              <a:avLst/>
            </a:prstGeom>
            <a:solidFill>
              <a:srgbClr val="2563EB"/>
            </a:solidFill>
            <a:ln>
              <a:noFill/>
            </a:ln>
          </p:spPr>
        </p:sp>
        <p:sp>
          <p:nvSpPr>
            <p:cNvPr id="39" name="TextBox 39"/>
            <p:cNvSpPr txBox="1"/>
            <p:nvPr/>
          </p:nvSpPr>
          <p:spPr>
            <a:xfrm>
              <a:off x="983361" y="3579971"/>
              <a:ext cx="1249494" cy="278702"/>
            </a:xfrm>
            <a:prstGeom prst="rect">
              <a:avLst/>
            </a:prstGeom>
            <a:noFill/>
            <a:ln>
              <a:noFill/>
            </a:ln>
          </p:spPr>
          <p:txBody>
            <a:bodyPr wrap="none" lIns="0" tIns="0" rIns="0" bIns="0" anchor="t" anchorCtr="0">
              <a:spAutoFit/>
            </a:bodyPr>
            <a:lstStyle/>
            <a:p>
              <a:pPr algn="l"/>
              <a:r>
                <a:rPr lang="en-US" sz="1420" b="1" dirty="0">
                  <a:solidFill>
                    <a:srgbClr val="0F2A43"/>
                  </a:solidFill>
                  <a:latin typeface="Arial"/>
                  <a:ea typeface="Arial"/>
                  <a:cs typeface="Arial"/>
                </a:rPr>
                <a:t>Target price</a:t>
              </a:r>
            </a:p>
          </p:txBody>
        </p:sp>
        <p:sp>
          <p:nvSpPr>
            <p:cNvPr id="40" name="TextBox 40"/>
            <p:cNvSpPr txBox="1"/>
            <p:nvPr/>
          </p:nvSpPr>
          <p:spPr>
            <a:xfrm>
              <a:off x="984504" y="3947160"/>
              <a:ext cx="2158157"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Base = blended fundamental</a:t>
              </a:r>
            </a:p>
          </p:txBody>
        </p:sp>
        <p:sp>
          <p:nvSpPr>
            <p:cNvPr id="41" name="TextBox 41"/>
            <p:cNvSpPr txBox="1"/>
            <p:nvPr/>
          </p:nvSpPr>
          <p:spPr>
            <a:xfrm>
              <a:off x="984504" y="4175760"/>
              <a:ext cx="1635709"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 technical valuation</a:t>
              </a:r>
            </a:p>
          </p:txBody>
        </p:sp>
        <p:sp>
          <p:nvSpPr>
            <p:cNvPr id="42" name="Rectangle 42"/>
            <p:cNvSpPr/>
            <p:nvPr/>
          </p:nvSpPr>
          <p:spPr>
            <a:xfrm>
              <a:off x="990600" y="4514850"/>
              <a:ext cx="2857500" cy="419100"/>
            </a:xfrm>
            <a:prstGeom prst="rect">
              <a:avLst/>
            </a:prstGeom>
            <a:solidFill>
              <a:srgbClr val="FFFFFF"/>
            </a:solidFill>
            <a:ln w="9525">
              <a:solidFill>
                <a:srgbClr val="D6DDE5"/>
              </a:solidFill>
            </a:ln>
          </p:spPr>
        </p:sp>
        <p:sp>
          <p:nvSpPr>
            <p:cNvPr id="43" name="TextBox 43"/>
            <p:cNvSpPr txBox="1"/>
            <p:nvPr/>
          </p:nvSpPr>
          <p:spPr>
            <a:xfrm>
              <a:off x="1213104" y="4652010"/>
              <a:ext cx="814959" cy="234696"/>
            </a:xfrm>
            <a:prstGeom prst="rect">
              <a:avLst/>
            </a:prstGeom>
            <a:noFill/>
            <a:ln>
              <a:noFill/>
            </a:ln>
          </p:spPr>
          <p:txBody>
            <a:bodyPr wrap="none" lIns="0" tIns="0" rIns="0" bIns="0" anchor="t" anchorCtr="0">
              <a:spAutoFit/>
            </a:bodyPr>
            <a:lstStyle/>
            <a:p>
              <a:pPr algn="l"/>
              <a:r>
                <a:rPr lang="en-US" sz="1200" dirty="0">
                  <a:solidFill>
                    <a:srgbClr val="DC2626"/>
                  </a:solidFill>
                  <a:latin typeface="Arial"/>
                  <a:ea typeface="Arial"/>
                  <a:cs typeface="Arial"/>
                </a:rPr>
                <a:t>Bear −15%</a:t>
              </a:r>
            </a:p>
          </p:txBody>
        </p:sp>
        <p:sp>
          <p:nvSpPr>
            <p:cNvPr id="44" name="TextBox 44"/>
            <p:cNvSpPr txBox="1"/>
            <p:nvPr/>
          </p:nvSpPr>
          <p:spPr>
            <a:xfrm>
              <a:off x="2224030" y="4652010"/>
              <a:ext cx="390639" cy="234696"/>
            </a:xfrm>
            <a:prstGeom prst="rect">
              <a:avLst/>
            </a:prstGeom>
            <a:noFill/>
            <a:ln>
              <a:noFill/>
            </a:ln>
          </p:spPr>
          <p:txBody>
            <a:bodyPr wrap="none" lIns="0" tIns="0" rIns="0" bIns="0" anchor="t" anchorCtr="0">
              <a:spAutoFit/>
            </a:bodyPr>
            <a:lstStyle/>
            <a:p>
              <a:pPr algn="ctr"/>
              <a:r>
                <a:rPr lang="en-US" sz="1200" b="1" dirty="0">
                  <a:solidFill>
                    <a:srgbClr val="0F2A43"/>
                  </a:solidFill>
                  <a:latin typeface="Arial"/>
                  <a:ea typeface="Arial"/>
                  <a:cs typeface="Arial"/>
                </a:rPr>
                <a:t>Base</a:t>
              </a:r>
            </a:p>
          </p:txBody>
        </p:sp>
        <p:sp>
          <p:nvSpPr>
            <p:cNvPr id="45" name="TextBox 45"/>
            <p:cNvSpPr txBox="1"/>
            <p:nvPr/>
          </p:nvSpPr>
          <p:spPr>
            <a:xfrm>
              <a:off x="2892552" y="4652010"/>
              <a:ext cx="733044" cy="234696"/>
            </a:xfrm>
            <a:prstGeom prst="rect">
              <a:avLst/>
            </a:prstGeom>
            <a:noFill/>
            <a:ln>
              <a:noFill/>
            </a:ln>
          </p:spPr>
          <p:txBody>
            <a:bodyPr wrap="none" lIns="0" tIns="0" rIns="0" bIns="0" anchor="t" anchorCtr="0">
              <a:spAutoFit/>
            </a:bodyPr>
            <a:lstStyle/>
            <a:p>
              <a:pPr algn="r"/>
              <a:r>
                <a:rPr lang="en-US" sz="1200" dirty="0">
                  <a:solidFill>
                    <a:srgbClr val="15803D"/>
                  </a:solidFill>
                  <a:latin typeface="Arial"/>
                  <a:ea typeface="Arial"/>
                  <a:cs typeface="Arial"/>
                </a:rPr>
                <a:t>Bull +15%</a:t>
              </a:r>
            </a:p>
          </p:txBody>
        </p:sp>
        <p:sp>
          <p:nvSpPr>
            <p:cNvPr id="46" name="TextBox 46"/>
            <p:cNvSpPr txBox="1"/>
            <p:nvPr/>
          </p:nvSpPr>
          <p:spPr>
            <a:xfrm>
              <a:off x="985266" y="5144452"/>
              <a:ext cx="2290740" cy="205359"/>
            </a:xfrm>
            <a:prstGeom prst="rect">
              <a:avLst/>
            </a:prstGeom>
            <a:noFill/>
            <a:ln>
              <a:noFill/>
            </a:ln>
          </p:spPr>
          <p:txBody>
            <a:bodyPr wrap="none" lIns="0" tIns="0" rIns="0" bIns="0" anchor="t" anchorCtr="0">
              <a:spAutoFit/>
            </a:bodyPr>
            <a:lstStyle/>
            <a:p>
              <a:pPr algn="l"/>
              <a:r>
                <a:rPr lang="en-US" sz="1050" dirty="0">
                  <a:solidFill>
                    <a:srgbClr val="5B6B7B"/>
                  </a:solidFill>
                  <a:latin typeface="Arial"/>
                  <a:ea typeface="Arial"/>
                  <a:cs typeface="Arial"/>
                </a:rPr>
                <a:t>Fixed ±15% scenario band (MVP).</a:t>
              </a:r>
            </a:p>
          </p:txBody>
        </p:sp>
      </p:grpSp>
      <p:grpSp>
        <p:nvGrpSpPr>
          <p:cNvPr id="56" name="Group 56"/>
          <p:cNvGrpSpPr/>
          <p:nvPr/>
        </p:nvGrpSpPr>
        <p:grpSpPr>
          <a:xfrm>
            <a:off x="4419600" y="3352800"/>
            <a:ext cx="3352800" cy="2209800"/>
            <a:chOff x="4419600" y="3352800"/>
            <a:chExt cx="3352800" cy="2209800"/>
          </a:xfrm>
        </p:grpSpPr>
        <p:sp>
          <p:nvSpPr>
            <p:cNvPr id="48" name="Rectangle 48"/>
            <p:cNvSpPr/>
            <p:nvPr/>
          </p:nvSpPr>
          <p:spPr>
            <a:xfrm>
              <a:off x="4419600" y="3352800"/>
              <a:ext cx="3352800" cy="2209800"/>
            </a:xfrm>
            <a:prstGeom prst="rect">
              <a:avLst/>
            </a:prstGeom>
            <a:solidFill>
              <a:srgbClr val="F3F5F8"/>
            </a:solidFill>
            <a:ln>
              <a:noFill/>
            </a:ln>
          </p:spPr>
        </p:sp>
        <p:sp>
          <p:nvSpPr>
            <p:cNvPr id="49" name="Rectangle 49"/>
            <p:cNvSpPr/>
            <p:nvPr/>
          </p:nvSpPr>
          <p:spPr>
            <a:xfrm>
              <a:off x="4419600" y="3352800"/>
              <a:ext cx="3352800" cy="47625"/>
            </a:xfrm>
            <a:prstGeom prst="rect">
              <a:avLst/>
            </a:prstGeom>
            <a:solidFill>
              <a:srgbClr val="2563EB"/>
            </a:solidFill>
            <a:ln>
              <a:noFill/>
            </a:ln>
          </p:spPr>
        </p:sp>
        <p:sp>
          <p:nvSpPr>
            <p:cNvPr id="50" name="TextBox 50"/>
            <p:cNvSpPr txBox="1"/>
            <p:nvPr/>
          </p:nvSpPr>
          <p:spPr>
            <a:xfrm>
              <a:off x="4640961" y="3579971"/>
              <a:ext cx="2095681" cy="278702"/>
            </a:xfrm>
            <a:prstGeom prst="rect">
              <a:avLst/>
            </a:prstGeom>
            <a:noFill/>
            <a:ln>
              <a:noFill/>
            </a:ln>
          </p:spPr>
          <p:txBody>
            <a:bodyPr wrap="none" lIns="0" tIns="0" rIns="0" bIns="0" anchor="t" anchorCtr="0">
              <a:spAutoFit/>
            </a:bodyPr>
            <a:lstStyle/>
            <a:p>
              <a:pPr algn="l"/>
              <a:r>
                <a:rPr lang="en-US" sz="1420" b="1" dirty="0">
                  <a:solidFill>
                    <a:srgbClr val="0F2A43"/>
                  </a:solidFill>
                  <a:latin typeface="Arial"/>
                  <a:ea typeface="Arial"/>
                  <a:cs typeface="Arial"/>
                </a:rPr>
                <a:t>Confidence &amp; conflict</a:t>
              </a:r>
            </a:p>
          </p:txBody>
        </p:sp>
        <p:sp>
          <p:nvSpPr>
            <p:cNvPr id="51" name="TextBox 51"/>
            <p:cNvSpPr txBox="1"/>
            <p:nvPr/>
          </p:nvSpPr>
          <p:spPr>
            <a:xfrm>
              <a:off x="4642104" y="3947160"/>
              <a:ext cx="2844730"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Confidence from module agreement:</a:t>
              </a:r>
            </a:p>
          </p:txBody>
        </p:sp>
        <p:sp>
          <p:nvSpPr>
            <p:cNvPr id="52" name="TextBox 52"/>
            <p:cNvSpPr txBox="1"/>
            <p:nvPr/>
          </p:nvSpPr>
          <p:spPr>
            <a:xfrm>
              <a:off x="4642104" y="4232910"/>
              <a:ext cx="3080707"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High ≥75% · Medium 50–75% · Low &lt;50%</a:t>
              </a:r>
            </a:p>
          </p:txBody>
        </p:sp>
        <p:sp>
          <p:nvSpPr>
            <p:cNvPr id="53" name="TextBox 53"/>
            <p:cNvSpPr txBox="1"/>
            <p:nvPr/>
          </p:nvSpPr>
          <p:spPr>
            <a:xfrm>
              <a:off x="4642104" y="4632960"/>
              <a:ext cx="2773077"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 xml:space="preserve">A </a:t>
              </a:r>
              <a:r>
                <a:rPr lang="en-US" sz="1200" b="1" dirty="0">
                  <a:solidFill>
                    <a:srgbClr val="DC2626"/>
                  </a:solidFill>
                  <a:latin typeface="Arial"/>
                  <a:ea typeface="Arial"/>
                  <a:cs typeface="Arial"/>
                </a:rPr>
                <a:t>Conflicting Signals</a:t>
              </a:r>
              <a:r>
                <a:rPr lang="en-US" sz="1200" dirty="0">
                  <a:solidFill>
                    <a:srgbClr val="5B6B7B"/>
                  </a:solidFill>
                  <a:latin typeface="Arial"/>
                  <a:ea typeface="Arial"/>
                  <a:cs typeface="Arial"/>
                </a:rPr>
                <a:t xml:space="preserve"> flag is raised</a:t>
              </a:r>
            </a:p>
          </p:txBody>
        </p:sp>
        <p:sp>
          <p:nvSpPr>
            <p:cNvPr id="54" name="TextBox 54"/>
            <p:cNvSpPr txBox="1"/>
            <p:nvPr/>
          </p:nvSpPr>
          <p:spPr>
            <a:xfrm>
              <a:off x="4642104" y="4861560"/>
              <a:ext cx="2863444"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when the score spread exceeds 2.0.</a:t>
              </a:r>
            </a:p>
          </p:txBody>
        </p:sp>
        <p:sp>
          <p:nvSpPr>
            <p:cNvPr id="55" name="TextBox 55"/>
            <p:cNvSpPr txBox="1"/>
            <p:nvPr/>
          </p:nvSpPr>
          <p:spPr>
            <a:xfrm>
              <a:off x="4642866" y="5220652"/>
              <a:ext cx="2439738" cy="205359"/>
            </a:xfrm>
            <a:prstGeom prst="rect">
              <a:avLst/>
            </a:prstGeom>
            <a:noFill/>
            <a:ln>
              <a:noFill/>
            </a:ln>
          </p:spPr>
          <p:txBody>
            <a:bodyPr wrap="none" lIns="0" tIns="0" rIns="0" bIns="0" anchor="t" anchorCtr="0">
              <a:spAutoFit/>
            </a:bodyPr>
            <a:lstStyle/>
            <a:p>
              <a:pPr algn="l"/>
              <a:r>
                <a:rPr lang="en-US" sz="1050" dirty="0">
                  <a:solidFill>
                    <a:srgbClr val="5B6B7B"/>
                  </a:solidFill>
                  <a:latin typeface="Arial"/>
                  <a:ea typeface="Arial"/>
                  <a:cs typeface="Arial"/>
                </a:rPr>
                <a:t>Shown with every recommendation.</a:t>
              </a:r>
            </a:p>
          </p:txBody>
        </p:sp>
      </p:grpSp>
      <p:grpSp>
        <p:nvGrpSpPr>
          <p:cNvPr id="64" name="Group 64"/>
          <p:cNvGrpSpPr/>
          <p:nvPr/>
        </p:nvGrpSpPr>
        <p:grpSpPr>
          <a:xfrm>
            <a:off x="8077200" y="3352800"/>
            <a:ext cx="3424619" cy="2209800"/>
            <a:chOff x="8077200" y="3352800"/>
            <a:chExt cx="3424619" cy="2209800"/>
          </a:xfrm>
        </p:grpSpPr>
        <p:sp>
          <p:nvSpPr>
            <p:cNvPr id="57" name="Rectangle 57"/>
            <p:cNvSpPr/>
            <p:nvPr/>
          </p:nvSpPr>
          <p:spPr>
            <a:xfrm>
              <a:off x="8077200" y="3352800"/>
              <a:ext cx="3352800" cy="2209800"/>
            </a:xfrm>
            <a:prstGeom prst="rect">
              <a:avLst/>
            </a:prstGeom>
            <a:solidFill>
              <a:srgbClr val="0F2A43"/>
            </a:solidFill>
            <a:ln>
              <a:noFill/>
            </a:ln>
          </p:spPr>
        </p:sp>
        <p:sp>
          <p:nvSpPr>
            <p:cNvPr id="58" name="Rectangle 58"/>
            <p:cNvSpPr/>
            <p:nvPr/>
          </p:nvSpPr>
          <p:spPr>
            <a:xfrm>
              <a:off x="8077200" y="3352800"/>
              <a:ext cx="3352800" cy="47625"/>
            </a:xfrm>
            <a:prstGeom prst="rect">
              <a:avLst/>
            </a:prstGeom>
            <a:solidFill>
              <a:srgbClr val="2563EB"/>
            </a:solidFill>
            <a:ln>
              <a:noFill/>
            </a:ln>
          </p:spPr>
        </p:sp>
        <p:sp>
          <p:nvSpPr>
            <p:cNvPr id="59" name="TextBox 59"/>
            <p:cNvSpPr txBox="1"/>
            <p:nvPr/>
          </p:nvSpPr>
          <p:spPr>
            <a:xfrm>
              <a:off x="8298561" y="3579971"/>
              <a:ext cx="745472"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Arial"/>
                  <a:ea typeface="Arial"/>
                  <a:cs typeface="Arial"/>
                </a:rPr>
                <a:t>Horizon</a:t>
              </a:r>
            </a:p>
          </p:txBody>
        </p:sp>
        <p:sp>
          <p:nvSpPr>
            <p:cNvPr id="60" name="TextBox 60"/>
            <p:cNvSpPr txBox="1"/>
            <p:nvPr/>
          </p:nvSpPr>
          <p:spPr>
            <a:xfrm>
              <a:off x="8286750" y="3868102"/>
              <a:ext cx="1489421" cy="790575"/>
            </a:xfrm>
            <a:prstGeom prst="rect">
              <a:avLst/>
            </a:prstGeom>
            <a:noFill/>
            <a:ln>
              <a:noFill/>
            </a:ln>
          </p:spPr>
          <p:txBody>
            <a:bodyPr wrap="none" lIns="0" tIns="0" rIns="0" bIns="0" anchor="t" anchorCtr="0">
              <a:spAutoFit/>
            </a:bodyPr>
            <a:lstStyle/>
            <a:p>
              <a:pPr algn="l"/>
              <a:r>
                <a:rPr lang="en-US" sz="4050" b="1" dirty="0">
                  <a:solidFill>
                    <a:srgbClr val="FFFFFF"/>
                  </a:solidFill>
                  <a:latin typeface="Arial"/>
                  <a:ea typeface="Arial"/>
                  <a:cs typeface="Arial"/>
                </a:rPr>
                <a:t xml:space="preserve">6 </a:t>
              </a:r>
              <a:r>
                <a:rPr lang="en-US" sz="1950" b="1" dirty="0">
                  <a:solidFill>
                    <a:srgbClr val="8FB4F5"/>
                  </a:solidFill>
                  <a:latin typeface="Arial"/>
                  <a:ea typeface="Arial"/>
                  <a:cs typeface="Arial"/>
                </a:rPr>
                <a:t>months</a:t>
              </a:r>
            </a:p>
          </p:txBody>
        </p:sp>
        <p:sp>
          <p:nvSpPr>
            <p:cNvPr id="61" name="TextBox 61"/>
            <p:cNvSpPr txBox="1"/>
            <p:nvPr/>
          </p:nvSpPr>
          <p:spPr>
            <a:xfrm>
              <a:off x="8299704" y="4632960"/>
              <a:ext cx="2917201" cy="234696"/>
            </a:xfrm>
            <a:prstGeom prst="rect">
              <a:avLst/>
            </a:prstGeom>
            <a:noFill/>
            <a:ln>
              <a:noFill/>
            </a:ln>
          </p:spPr>
          <p:txBody>
            <a:bodyPr wrap="none" lIns="0" tIns="0" rIns="0" bIns="0" anchor="t" anchorCtr="0">
              <a:spAutoFit/>
            </a:bodyPr>
            <a:lstStyle/>
            <a:p>
              <a:pPr algn="l"/>
              <a:r>
                <a:rPr lang="en-US" sz="1200" dirty="0">
                  <a:solidFill>
                    <a:srgbClr val="C9D8EE"/>
                  </a:solidFill>
                  <a:latin typeface="Arial"/>
                  <a:ea typeface="Arial"/>
                  <a:cs typeface="Arial"/>
                </a:rPr>
                <a:t>Default forward horizon for targets</a:t>
              </a:r>
            </a:p>
          </p:txBody>
        </p:sp>
        <p:sp>
          <p:nvSpPr>
            <p:cNvPr id="62" name="TextBox 62"/>
            <p:cNvSpPr txBox="1"/>
            <p:nvPr/>
          </p:nvSpPr>
          <p:spPr>
            <a:xfrm>
              <a:off x="8299704" y="4861560"/>
              <a:ext cx="3202115" cy="234696"/>
            </a:xfrm>
            <a:prstGeom prst="rect">
              <a:avLst/>
            </a:prstGeom>
            <a:noFill/>
            <a:ln>
              <a:noFill/>
            </a:ln>
          </p:spPr>
          <p:txBody>
            <a:bodyPr wrap="none" lIns="0" tIns="0" rIns="0" bIns="0" anchor="t" anchorCtr="0">
              <a:spAutoFit/>
            </a:bodyPr>
            <a:lstStyle/>
            <a:p>
              <a:pPr algn="l"/>
              <a:r>
                <a:rPr lang="en-US" sz="1200" dirty="0">
                  <a:solidFill>
                    <a:srgbClr val="C9D8EE"/>
                  </a:solidFill>
                  <a:latin typeface="Arial"/>
                  <a:ea typeface="Arial"/>
                  <a:cs typeface="Arial"/>
                </a:rPr>
                <a:t>and backtest — configurable 3 / 6 / 12M.</a:t>
              </a:r>
            </a:p>
          </p:txBody>
        </p:sp>
        <p:sp>
          <p:nvSpPr>
            <p:cNvPr id="63" name="TextBox 63"/>
            <p:cNvSpPr txBox="1"/>
            <p:nvPr/>
          </p:nvSpPr>
          <p:spPr>
            <a:xfrm>
              <a:off x="8300466" y="5220652"/>
              <a:ext cx="2559487" cy="205359"/>
            </a:xfrm>
            <a:prstGeom prst="rect">
              <a:avLst/>
            </a:prstGeom>
            <a:noFill/>
            <a:ln>
              <a:noFill/>
            </a:ln>
          </p:spPr>
          <p:txBody>
            <a:bodyPr wrap="none" lIns="0" tIns="0" rIns="0" bIns="0" anchor="t" anchorCtr="0">
              <a:spAutoFit/>
            </a:bodyPr>
            <a:lstStyle/>
            <a:p>
              <a:pPr algn="l"/>
              <a:r>
                <a:rPr lang="en-US" sz="1050" dirty="0">
                  <a:solidFill>
                    <a:srgbClr val="8FB4F5"/>
                  </a:solidFill>
                  <a:latin typeface="Arial"/>
                  <a:ea typeface="Arial"/>
                  <a:cs typeface="Arial"/>
                </a:rPr>
                <a:t>Applied uniformly across all modules.</a:t>
              </a:r>
            </a:p>
          </p:txBody>
        </p:sp>
      </p:grpSp>
      <p:grpSp>
        <p:nvGrpSpPr>
          <p:cNvPr id="68" name="Group 68"/>
          <p:cNvGrpSpPr/>
          <p:nvPr/>
        </p:nvGrpSpPr>
        <p:grpSpPr>
          <a:xfrm>
            <a:off x="757047" y="6477000"/>
            <a:ext cx="10677906" cy="285464"/>
            <a:chOff x="757047" y="6477000"/>
            <a:chExt cx="10677906" cy="285464"/>
          </a:xfrm>
        </p:grpSpPr>
        <p:sp>
          <p:nvSpPr>
            <p:cNvPr id="65" name="Line 65"/>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66" name="TextBox 66"/>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67" name="TextBox 67"/>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06 / 17</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49808" y="572452"/>
            <a:ext cx="10685145" cy="742760"/>
            <a:chOff x="749808" y="572452"/>
            <a:chExt cx="10685145" cy="742760"/>
          </a:xfrm>
        </p:grpSpPr>
        <p:sp>
          <p:nvSpPr>
            <p:cNvPr id="3" name="TextBox 3"/>
            <p:cNvSpPr txBox="1"/>
            <p:nvPr/>
          </p:nvSpPr>
          <p:spPr>
            <a:xfrm>
              <a:off x="756666" y="572452"/>
              <a:ext cx="3147060"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RECOMMENDATION ENGINE — 2 / 2</a:t>
              </a:r>
            </a:p>
          </p:txBody>
        </p:sp>
        <p:sp>
          <p:nvSpPr>
            <p:cNvPr id="4" name="TextBox 4"/>
            <p:cNvSpPr txBox="1"/>
            <p:nvPr/>
          </p:nvSpPr>
          <p:spPr>
            <a:xfrm>
              <a:off x="7085275" y="580549"/>
              <a:ext cx="4349678" cy="190690"/>
            </a:xfrm>
            <a:prstGeom prst="rect">
              <a:avLst/>
            </a:prstGeom>
            <a:noFill/>
            <a:ln>
              <a:noFill/>
            </a:ln>
          </p:spPr>
          <p:txBody>
            <a:bodyPr wrap="none" lIns="0" tIns="0" rIns="0" bIns="0" anchor="t" anchorCtr="0">
              <a:spAutoFit/>
            </a:bodyPr>
            <a:lstStyle/>
            <a:p>
              <a:pPr algn="r"/>
              <a:r>
                <a:rPr lang="en-US" sz="980" spc="75" dirty="0">
                  <a:solidFill>
                    <a:srgbClr val="0E9AA7"/>
                  </a:solidFill>
                  <a:latin typeface="Arial"/>
                  <a:ea typeface="Arial"/>
                  <a:cs typeface="Arial"/>
                </a:rPr>
                <a:t>BACKTEST METRIC · benchmark-relative (client-confirmed)</a:t>
              </a:r>
            </a:p>
          </p:txBody>
        </p:sp>
        <p:sp>
          <p:nvSpPr>
            <p:cNvPr id="5" name="TextBox 5"/>
            <p:cNvSpPr txBox="1"/>
            <p:nvPr/>
          </p:nvSpPr>
          <p:spPr>
            <a:xfrm>
              <a:off x="749808" y="845820"/>
              <a:ext cx="9178467"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When data is missing, the call degrades — never silently</a:t>
              </a:r>
            </a:p>
          </p:txBody>
        </p:sp>
      </p:grpSp>
      <p:grpSp>
        <p:nvGrpSpPr>
          <p:cNvPr id="20" name="Group 20"/>
          <p:cNvGrpSpPr/>
          <p:nvPr/>
        </p:nvGrpSpPr>
        <p:grpSpPr>
          <a:xfrm>
            <a:off x="756285" y="1571149"/>
            <a:ext cx="5149215" cy="3366135"/>
            <a:chOff x="756285" y="1571149"/>
            <a:chExt cx="5149215" cy="3366135"/>
          </a:xfrm>
        </p:grpSpPr>
        <p:sp>
          <p:nvSpPr>
            <p:cNvPr id="7" name="TextBox 7"/>
            <p:cNvSpPr txBox="1"/>
            <p:nvPr/>
          </p:nvSpPr>
          <p:spPr>
            <a:xfrm>
              <a:off x="757047" y="1571149"/>
              <a:ext cx="4235501"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MISSING-DATA BEHAVIOUR (OF 4 SCORING MODULES)</a:t>
              </a:r>
            </a:p>
          </p:txBody>
        </p:sp>
        <p:sp>
          <p:nvSpPr>
            <p:cNvPr id="8" name="Rectangle 8"/>
            <p:cNvSpPr/>
            <p:nvPr/>
          </p:nvSpPr>
          <p:spPr>
            <a:xfrm>
              <a:off x="762000" y="1866900"/>
              <a:ext cx="5143500" cy="1123950"/>
            </a:xfrm>
            <a:prstGeom prst="rect">
              <a:avLst/>
            </a:prstGeom>
            <a:solidFill>
              <a:srgbClr val="F3F5F8"/>
            </a:solidFill>
            <a:ln>
              <a:noFill/>
            </a:ln>
          </p:spPr>
        </p:sp>
        <p:sp>
          <p:nvSpPr>
            <p:cNvPr id="9" name="Rectangle 9"/>
            <p:cNvSpPr/>
            <p:nvPr/>
          </p:nvSpPr>
          <p:spPr>
            <a:xfrm>
              <a:off x="762000" y="1866900"/>
              <a:ext cx="57150" cy="1123950"/>
            </a:xfrm>
            <a:prstGeom prst="rect">
              <a:avLst/>
            </a:prstGeom>
            <a:solidFill>
              <a:srgbClr val="2563EB"/>
            </a:solidFill>
            <a:ln>
              <a:noFill/>
            </a:ln>
          </p:spPr>
        </p:sp>
        <p:sp>
          <p:nvSpPr>
            <p:cNvPr id="10" name="TextBox 10"/>
            <p:cNvSpPr txBox="1"/>
            <p:nvPr/>
          </p:nvSpPr>
          <p:spPr>
            <a:xfrm>
              <a:off x="1021461" y="2055971"/>
              <a:ext cx="2189870" cy="278702"/>
            </a:xfrm>
            <a:prstGeom prst="rect">
              <a:avLst/>
            </a:prstGeom>
            <a:noFill/>
            <a:ln>
              <a:noFill/>
            </a:ln>
          </p:spPr>
          <p:txBody>
            <a:bodyPr wrap="none" lIns="0" tIns="0" rIns="0" bIns="0" anchor="t" anchorCtr="0">
              <a:spAutoFit/>
            </a:bodyPr>
            <a:lstStyle/>
            <a:p>
              <a:pPr algn="l"/>
              <a:r>
                <a:rPr lang="en-US" sz="1420" b="1" dirty="0">
                  <a:solidFill>
                    <a:srgbClr val="0F2A43"/>
                  </a:solidFill>
                  <a:latin typeface="Arial"/>
                  <a:ea typeface="Arial"/>
                  <a:cs typeface="Arial"/>
                </a:rPr>
                <a:t>0–1 module unavailable</a:t>
              </a:r>
            </a:p>
          </p:txBody>
        </p:sp>
        <p:sp>
          <p:nvSpPr>
            <p:cNvPr id="11" name="TextBox 11"/>
            <p:cNvSpPr txBox="1"/>
            <p:nvPr/>
          </p:nvSpPr>
          <p:spPr>
            <a:xfrm>
              <a:off x="1022604" y="2385060"/>
              <a:ext cx="4048279"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Recommend on the survivors, renormalise weights,</a:t>
              </a:r>
            </a:p>
          </p:txBody>
        </p:sp>
        <p:sp>
          <p:nvSpPr>
            <p:cNvPr id="12" name="TextBox 12"/>
            <p:cNvSpPr txBox="1"/>
            <p:nvPr/>
          </p:nvSpPr>
          <p:spPr>
            <a:xfrm>
              <a:off x="1022604" y="2613660"/>
              <a:ext cx="4218284"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 xml:space="preserve">flag </a:t>
              </a:r>
              <a:r>
                <a:rPr lang="en-US" sz="1200" b="1" dirty="0">
                  <a:solidFill>
                    <a:srgbClr val="2563EB"/>
                  </a:solidFill>
                  <a:latin typeface="Arial"/>
                  <a:ea typeface="Arial"/>
                  <a:cs typeface="Arial"/>
                </a:rPr>
                <a:t>Reduced Confidence</a:t>
              </a:r>
              <a:r>
                <a:rPr lang="en-US" sz="1200" dirty="0">
                  <a:solidFill>
                    <a:srgbClr val="5B6B7B"/>
                  </a:solidFill>
                  <a:latin typeface="Arial"/>
                  <a:ea typeface="Arial"/>
                  <a:cs typeface="Arial"/>
                </a:rPr>
                <a:t xml:space="preserve"> and list the missing module.</a:t>
              </a:r>
            </a:p>
          </p:txBody>
        </p:sp>
        <p:sp>
          <p:nvSpPr>
            <p:cNvPr id="13" name="Rectangle 13"/>
            <p:cNvSpPr/>
            <p:nvPr/>
          </p:nvSpPr>
          <p:spPr>
            <a:xfrm>
              <a:off x="762000" y="3143250"/>
              <a:ext cx="5143500" cy="1123950"/>
            </a:xfrm>
            <a:prstGeom prst="rect">
              <a:avLst/>
            </a:prstGeom>
            <a:solidFill>
              <a:srgbClr val="FBEBEC"/>
            </a:solidFill>
            <a:ln>
              <a:noFill/>
            </a:ln>
          </p:spPr>
        </p:sp>
        <p:sp>
          <p:nvSpPr>
            <p:cNvPr id="14" name="Rectangle 14"/>
            <p:cNvSpPr/>
            <p:nvPr/>
          </p:nvSpPr>
          <p:spPr>
            <a:xfrm>
              <a:off x="762000" y="3143250"/>
              <a:ext cx="57150" cy="1123950"/>
            </a:xfrm>
            <a:prstGeom prst="rect">
              <a:avLst/>
            </a:prstGeom>
            <a:solidFill>
              <a:srgbClr val="DC2626"/>
            </a:solidFill>
            <a:ln>
              <a:noFill/>
            </a:ln>
          </p:spPr>
        </p:sp>
        <p:sp>
          <p:nvSpPr>
            <p:cNvPr id="15" name="TextBox 15"/>
            <p:cNvSpPr txBox="1"/>
            <p:nvPr/>
          </p:nvSpPr>
          <p:spPr>
            <a:xfrm>
              <a:off x="1021461" y="3332321"/>
              <a:ext cx="2250297" cy="278702"/>
            </a:xfrm>
            <a:prstGeom prst="rect">
              <a:avLst/>
            </a:prstGeom>
            <a:noFill/>
            <a:ln>
              <a:noFill/>
            </a:ln>
          </p:spPr>
          <p:txBody>
            <a:bodyPr wrap="none" lIns="0" tIns="0" rIns="0" bIns="0" anchor="t" anchorCtr="0">
              <a:spAutoFit/>
            </a:bodyPr>
            <a:lstStyle/>
            <a:p>
              <a:pPr algn="l"/>
              <a:r>
                <a:rPr lang="en-US" sz="1420" b="1" dirty="0">
                  <a:solidFill>
                    <a:srgbClr val="991B1B"/>
                  </a:solidFill>
                  <a:latin typeface="Arial"/>
                  <a:ea typeface="Arial"/>
                  <a:cs typeface="Arial"/>
                </a:rPr>
                <a:t>≥ 2 modules unavailable</a:t>
              </a:r>
            </a:p>
          </p:txBody>
        </p:sp>
        <p:sp>
          <p:nvSpPr>
            <p:cNvPr id="16" name="TextBox 16"/>
            <p:cNvSpPr txBox="1"/>
            <p:nvPr/>
          </p:nvSpPr>
          <p:spPr>
            <a:xfrm>
              <a:off x="1022604" y="3661410"/>
              <a:ext cx="3568932"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Suppress the recommendation entirely. Show</a:t>
              </a:r>
            </a:p>
          </p:txBody>
        </p:sp>
        <p:sp>
          <p:nvSpPr>
            <p:cNvPr id="17" name="TextBox 17"/>
            <p:cNvSpPr txBox="1"/>
            <p:nvPr/>
          </p:nvSpPr>
          <p:spPr>
            <a:xfrm>
              <a:off x="1022604" y="3890010"/>
              <a:ext cx="4662318" cy="234696"/>
            </a:xfrm>
            <a:prstGeom prst="rect">
              <a:avLst/>
            </a:prstGeom>
            <a:noFill/>
            <a:ln>
              <a:noFill/>
            </a:ln>
          </p:spPr>
          <p:txBody>
            <a:bodyPr wrap="none" lIns="0" tIns="0" rIns="0" bIns="0" anchor="t" anchorCtr="0">
              <a:spAutoFit/>
            </a:bodyPr>
            <a:lstStyle/>
            <a:p>
              <a:pPr algn="l"/>
              <a:r>
                <a:rPr lang="en-US" sz="1200" b="1" dirty="0">
                  <a:solidFill>
                    <a:srgbClr val="991B1B"/>
                  </a:solidFill>
                  <a:latin typeface="Arial"/>
                  <a:ea typeface="Arial"/>
                  <a:cs typeface="Arial"/>
                </a:rPr>
                <a:t>"Analysis Only — Insufficient Data"</a:t>
              </a:r>
              <a:r>
                <a:rPr lang="en-US" sz="1200" dirty="0">
                  <a:solidFill>
                    <a:srgbClr val="5B6B7B"/>
                  </a:solidFill>
                  <a:latin typeface="Arial"/>
                  <a:ea typeface="Arial"/>
                  <a:cs typeface="Arial"/>
                </a:rPr>
                <a:t xml:space="preserve"> with available lenses.</a:t>
              </a:r>
            </a:p>
          </p:txBody>
        </p:sp>
        <p:sp>
          <p:nvSpPr>
            <p:cNvPr id="18" name="TextBox 18"/>
            <p:cNvSpPr txBox="1"/>
            <p:nvPr/>
          </p:nvSpPr>
          <p:spPr>
            <a:xfrm>
              <a:off x="756285" y="4507706"/>
              <a:ext cx="4196524"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The per-lens breakdown always stores both assigned and</a:t>
              </a:r>
            </a:p>
          </p:txBody>
        </p:sp>
        <p:sp>
          <p:nvSpPr>
            <p:cNvPr id="19" name="TextBox 19"/>
            <p:cNvSpPr txBox="1"/>
            <p:nvPr/>
          </p:nvSpPr>
          <p:spPr>
            <a:xfrm>
              <a:off x="756285" y="4717256"/>
              <a:ext cx="4108085"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effective weights, plus a data-completeness fraction.</a:t>
              </a:r>
            </a:p>
          </p:txBody>
        </p:sp>
      </p:grpSp>
      <p:grpSp>
        <p:nvGrpSpPr>
          <p:cNvPr id="33" name="Group 33"/>
          <p:cNvGrpSpPr/>
          <p:nvPr/>
        </p:nvGrpSpPr>
        <p:grpSpPr>
          <a:xfrm>
            <a:off x="6281547" y="1571149"/>
            <a:ext cx="6214761" cy="2864262"/>
            <a:chOff x="6281547" y="1571149"/>
            <a:chExt cx="6214761" cy="2864262"/>
          </a:xfrm>
        </p:grpSpPr>
        <p:sp>
          <p:nvSpPr>
            <p:cNvPr id="21" name="TextBox 21"/>
            <p:cNvSpPr txBox="1"/>
            <p:nvPr/>
          </p:nvSpPr>
          <p:spPr>
            <a:xfrm>
              <a:off x="6281547" y="1571149"/>
              <a:ext cx="3370326"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BACKTEST — HOW WE MEASURE OURSELVES</a:t>
              </a:r>
            </a:p>
          </p:txBody>
        </p:sp>
        <p:sp>
          <p:nvSpPr>
            <p:cNvPr id="22" name="Rectangle 22"/>
            <p:cNvSpPr/>
            <p:nvPr/>
          </p:nvSpPr>
          <p:spPr>
            <a:xfrm>
              <a:off x="6286500" y="1866900"/>
              <a:ext cx="5143500" cy="2400300"/>
            </a:xfrm>
            <a:prstGeom prst="rect">
              <a:avLst/>
            </a:prstGeom>
            <a:solidFill>
              <a:srgbClr val="F3F5F8"/>
            </a:solidFill>
            <a:ln>
              <a:noFill/>
            </a:ln>
          </p:spPr>
        </p:sp>
        <p:sp>
          <p:nvSpPr>
            <p:cNvPr id="23" name="Rectangle 23"/>
            <p:cNvSpPr/>
            <p:nvPr/>
          </p:nvSpPr>
          <p:spPr>
            <a:xfrm>
              <a:off x="6286500" y="1866900"/>
              <a:ext cx="57150" cy="2400300"/>
            </a:xfrm>
            <a:prstGeom prst="rect">
              <a:avLst/>
            </a:prstGeom>
            <a:solidFill>
              <a:srgbClr val="0E9AA7"/>
            </a:solidFill>
            <a:ln>
              <a:noFill/>
            </a:ln>
          </p:spPr>
        </p:sp>
        <p:sp>
          <p:nvSpPr>
            <p:cNvPr id="24" name="TextBox 24"/>
            <p:cNvSpPr txBox="1"/>
            <p:nvPr/>
          </p:nvSpPr>
          <p:spPr>
            <a:xfrm>
              <a:off x="6547104" y="2080260"/>
              <a:ext cx="3559915"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 xml:space="preserve">A Buy is </a:t>
              </a:r>
              <a:r>
                <a:rPr lang="en-US" sz="1200" b="1" dirty="0">
                  <a:solidFill>
                    <a:srgbClr val="0F2A43"/>
                  </a:solidFill>
                  <a:latin typeface="Arial"/>
                  <a:ea typeface="Arial"/>
                  <a:cs typeface="Arial"/>
                </a:rPr>
                <a:t>correct</a:t>
              </a:r>
              <a:r>
                <a:rPr lang="en-US" sz="1200" dirty="0">
                  <a:solidFill>
                    <a:srgbClr val="5B6B7B"/>
                  </a:solidFill>
                  <a:latin typeface="Arial"/>
                  <a:ea typeface="Arial"/>
                  <a:cs typeface="Arial"/>
                </a:rPr>
                <a:t xml:space="preserve"> if it beats its benchmark by</a:t>
              </a:r>
            </a:p>
          </p:txBody>
        </p:sp>
        <p:sp>
          <p:nvSpPr>
            <p:cNvPr id="25" name="TextBox 25"/>
            <p:cNvSpPr txBox="1"/>
            <p:nvPr/>
          </p:nvSpPr>
          <p:spPr>
            <a:xfrm>
              <a:off x="6547104" y="2308860"/>
              <a:ext cx="5949204"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&gt;2pp over the horizon (^TWII TW · ^GSPC US); Sell if it lags. Hold excluded.</a:t>
              </a:r>
            </a:p>
          </p:txBody>
        </p:sp>
        <p:sp>
          <p:nvSpPr>
            <p:cNvPr id="26" name="TextBox 26"/>
            <p:cNvSpPr txBox="1"/>
            <p:nvPr/>
          </p:nvSpPr>
          <p:spPr>
            <a:xfrm>
              <a:off x="6547104" y="2651760"/>
              <a:ext cx="3975080"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 xml:space="preserve">Rolling accuracy is computed over </a:t>
              </a:r>
              <a:r>
                <a:rPr lang="en-US" sz="1200" b="1" dirty="0">
                  <a:solidFill>
                    <a:srgbClr val="0F2A43"/>
                  </a:solidFill>
                  <a:latin typeface="Arial"/>
                  <a:ea typeface="Arial"/>
                  <a:cs typeface="Arial"/>
                </a:rPr>
                <a:t>full-data days</a:t>
              </a:r>
              <a:r>
                <a:rPr lang="en-US" sz="1200" dirty="0">
                  <a:solidFill>
                    <a:srgbClr val="5B6B7B"/>
                  </a:solidFill>
                  <a:latin typeface="Arial"/>
                  <a:ea typeface="Arial"/>
                  <a:cs typeface="Arial"/>
                </a:rPr>
                <a:t>;</a:t>
              </a:r>
            </a:p>
          </p:txBody>
        </p:sp>
        <p:sp>
          <p:nvSpPr>
            <p:cNvPr id="27" name="TextBox 27"/>
            <p:cNvSpPr txBox="1"/>
            <p:nvPr/>
          </p:nvSpPr>
          <p:spPr>
            <a:xfrm>
              <a:off x="6547104" y="2880360"/>
              <a:ext cx="4583887"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partial-data days are reported as a separate stat, never</a:t>
              </a:r>
            </a:p>
          </p:txBody>
        </p:sp>
        <p:sp>
          <p:nvSpPr>
            <p:cNvPr id="28" name="TextBox 28"/>
            <p:cNvSpPr txBox="1"/>
            <p:nvPr/>
          </p:nvSpPr>
          <p:spPr>
            <a:xfrm>
              <a:off x="6547104" y="3108960"/>
              <a:ext cx="2653436"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blended into the headline number.</a:t>
              </a:r>
            </a:p>
          </p:txBody>
        </p:sp>
        <p:sp>
          <p:nvSpPr>
            <p:cNvPr id="29" name="TextBox 29"/>
            <p:cNvSpPr txBox="1"/>
            <p:nvPr/>
          </p:nvSpPr>
          <p:spPr>
            <a:xfrm>
              <a:off x="6547104" y="3451860"/>
              <a:ext cx="3459362"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Needs ≥ 12 months of history, else it shows</a:t>
              </a:r>
            </a:p>
          </p:txBody>
        </p:sp>
        <p:sp>
          <p:nvSpPr>
            <p:cNvPr id="30" name="TextBox 30"/>
            <p:cNvSpPr txBox="1"/>
            <p:nvPr/>
          </p:nvSpPr>
          <p:spPr>
            <a:xfrm>
              <a:off x="6547104" y="3680460"/>
              <a:ext cx="3832708"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"insufficient history" — not a misleading figure.</a:t>
              </a:r>
            </a:p>
          </p:txBody>
        </p:sp>
        <p:sp>
          <p:nvSpPr>
            <p:cNvPr id="31" name="TextBox 31"/>
            <p:cNvSpPr txBox="1"/>
            <p:nvPr/>
          </p:nvSpPr>
          <p:spPr>
            <a:xfrm>
              <a:off x="6547866" y="4020502"/>
              <a:ext cx="4369207" cy="205359"/>
            </a:xfrm>
            <a:prstGeom prst="rect">
              <a:avLst/>
            </a:prstGeom>
            <a:noFill/>
            <a:ln>
              <a:noFill/>
            </a:ln>
          </p:spPr>
          <p:txBody>
            <a:bodyPr wrap="none" lIns="0" tIns="0" rIns="0" bIns="0" anchor="t" anchorCtr="0">
              <a:spAutoFit/>
            </a:bodyPr>
            <a:lstStyle/>
            <a:p>
              <a:pPr algn="l"/>
              <a:r>
                <a:rPr lang="en-US" sz="1050" dirty="0">
                  <a:solidFill>
                    <a:srgbClr val="0E7C87"/>
                  </a:solidFill>
                  <a:latin typeface="Arial"/>
                  <a:ea typeface="Arial"/>
                  <a:cs typeface="Arial"/>
                </a:rPr>
                <a:t>The metric is benchmark-relative — it shows whether the model</a:t>
              </a:r>
            </a:p>
          </p:txBody>
        </p:sp>
        <p:sp>
          <p:nvSpPr>
            <p:cNvPr id="32" name="TextBox 32"/>
            <p:cNvSpPr txBox="1"/>
            <p:nvPr/>
          </p:nvSpPr>
          <p:spPr>
            <a:xfrm>
              <a:off x="6547866" y="4230052"/>
              <a:ext cx="4378414" cy="205359"/>
            </a:xfrm>
            <a:prstGeom prst="rect">
              <a:avLst/>
            </a:prstGeom>
            <a:noFill/>
            <a:ln>
              <a:noFill/>
            </a:ln>
          </p:spPr>
          <p:txBody>
            <a:bodyPr wrap="none" lIns="0" tIns="0" rIns="0" bIns="0" anchor="t" anchorCtr="0">
              <a:spAutoFit/>
            </a:bodyPr>
            <a:lstStyle/>
            <a:p>
              <a:pPr algn="l"/>
              <a:r>
                <a:rPr lang="en-US" sz="1050" dirty="0">
                  <a:solidFill>
                    <a:srgbClr val="0E7C87"/>
                  </a:solidFill>
                  <a:latin typeface="Arial"/>
                  <a:ea typeface="Arial"/>
                  <a:cs typeface="Arial"/>
                </a:rPr>
                <a:t>beats simply buying the index, not just whether it made money.</a:t>
              </a:r>
            </a:p>
          </p:txBody>
        </p:sp>
      </p:grpSp>
      <p:grpSp>
        <p:nvGrpSpPr>
          <p:cNvPr id="38" name="Group 38"/>
          <p:cNvGrpSpPr/>
          <p:nvPr/>
        </p:nvGrpSpPr>
        <p:grpSpPr>
          <a:xfrm>
            <a:off x="762000" y="5105400"/>
            <a:ext cx="10668000" cy="762000"/>
            <a:chOff x="762000" y="5105400"/>
            <a:chExt cx="10668000" cy="762000"/>
          </a:xfrm>
        </p:grpSpPr>
        <p:sp>
          <p:nvSpPr>
            <p:cNvPr id="34" name="Rectangle 34"/>
            <p:cNvSpPr/>
            <p:nvPr/>
          </p:nvSpPr>
          <p:spPr>
            <a:xfrm>
              <a:off x="762000" y="5105400"/>
              <a:ext cx="10668000" cy="762000"/>
            </a:xfrm>
            <a:prstGeom prst="rect">
              <a:avLst/>
            </a:prstGeom>
            <a:solidFill>
              <a:srgbClr val="0F2A43"/>
            </a:solidFill>
            <a:ln>
              <a:noFill/>
            </a:ln>
          </p:spPr>
        </p:sp>
        <p:sp>
          <p:nvSpPr>
            <p:cNvPr id="35" name="Rectangle 35"/>
            <p:cNvSpPr/>
            <p:nvPr/>
          </p:nvSpPr>
          <p:spPr>
            <a:xfrm>
              <a:off x="762000" y="5105400"/>
              <a:ext cx="57150" cy="762000"/>
            </a:xfrm>
            <a:prstGeom prst="rect">
              <a:avLst/>
            </a:prstGeom>
            <a:solidFill>
              <a:srgbClr val="2563EB"/>
            </a:solidFill>
            <a:ln>
              <a:noFill/>
            </a:ln>
          </p:spPr>
        </p:sp>
        <p:sp>
          <p:nvSpPr>
            <p:cNvPr id="36" name="TextBox 36"/>
            <p:cNvSpPr txBox="1"/>
            <p:nvPr/>
          </p:nvSpPr>
          <p:spPr>
            <a:xfrm>
              <a:off x="1137666" y="5315902"/>
              <a:ext cx="3856482" cy="205359"/>
            </a:xfrm>
            <a:prstGeom prst="rect">
              <a:avLst/>
            </a:prstGeom>
            <a:noFill/>
            <a:ln>
              <a:noFill/>
            </a:ln>
          </p:spPr>
          <p:txBody>
            <a:bodyPr wrap="none" lIns="0" tIns="0" rIns="0" bIns="0" anchor="t" anchorCtr="0">
              <a:spAutoFit/>
            </a:bodyPr>
            <a:lstStyle/>
            <a:p>
              <a:pPr algn="l"/>
              <a:r>
                <a:rPr lang="en-US" sz="1050" spc="225" dirty="0">
                  <a:solidFill>
                    <a:srgbClr val="8FB4F5"/>
                  </a:solidFill>
                  <a:latin typeface="Arial"/>
                  <a:ea typeface="Arial"/>
                  <a:cs typeface="Arial"/>
                </a:rPr>
                <a:t>PERSISTENT IN-APP DISCLAIMER (FR-39)</a:t>
              </a:r>
            </a:p>
          </p:txBody>
        </p:sp>
        <p:sp>
          <p:nvSpPr>
            <p:cNvPr id="37" name="TextBox 37"/>
            <p:cNvSpPr txBox="1"/>
            <p:nvPr/>
          </p:nvSpPr>
          <p:spPr>
            <a:xfrm>
              <a:off x="1135380" y="5553075"/>
              <a:ext cx="5976610" cy="293370"/>
            </a:xfrm>
            <a:prstGeom prst="rect">
              <a:avLst/>
            </a:prstGeom>
            <a:noFill/>
            <a:ln>
              <a:noFill/>
            </a:ln>
          </p:spPr>
          <p:txBody>
            <a:bodyPr wrap="none" lIns="0" tIns="0" rIns="0" bIns="0" anchor="t" anchorCtr="0">
              <a:spAutoFit/>
            </a:bodyPr>
            <a:lstStyle/>
            <a:p>
              <a:pPr algn="l"/>
              <a:r>
                <a:rPr lang="en-US" sz="1500" dirty="0">
                  <a:solidFill>
                    <a:srgbClr val="FFFFFF"/>
                  </a:solidFill>
                  <a:latin typeface="Arial"/>
                  <a:ea typeface="Arial"/>
                  <a:cs typeface="Arial"/>
                </a:rPr>
                <a:t xml:space="preserve">"For personal decision-support only. </a:t>
              </a:r>
              <a:r>
                <a:rPr lang="en-US" sz="1500" b="1" dirty="0">
                  <a:solidFill>
                    <a:srgbClr val="FFFFFF"/>
                  </a:solidFill>
                  <a:latin typeface="Arial"/>
                  <a:ea typeface="Arial"/>
                  <a:cs typeface="Arial"/>
                </a:rPr>
                <a:t>Not financial advice.</a:t>
              </a:r>
              <a:r>
                <a:rPr lang="en-US" sz="1500" dirty="0">
                  <a:solidFill>
                    <a:srgbClr val="FFFFFF"/>
                  </a:solidFill>
                  <a:latin typeface="Arial"/>
                  <a:ea typeface="Arial"/>
                  <a:cs typeface="Arial"/>
                </a:rPr>
                <a:t>"</a:t>
              </a:r>
            </a:p>
          </p:txBody>
        </p:sp>
      </p:grpSp>
      <p:grpSp>
        <p:nvGrpSpPr>
          <p:cNvPr id="42" name="Group 42"/>
          <p:cNvGrpSpPr/>
          <p:nvPr/>
        </p:nvGrpSpPr>
        <p:grpSpPr>
          <a:xfrm>
            <a:off x="757047" y="6477000"/>
            <a:ext cx="10677906" cy="285464"/>
            <a:chOff x="757047" y="6477000"/>
            <a:chExt cx="10677906" cy="285464"/>
          </a:xfrm>
        </p:grpSpPr>
        <p:sp>
          <p:nvSpPr>
            <p:cNvPr id="39" name="Line 39"/>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40" name="TextBox 40"/>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41" name="TextBox 41"/>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07 / 17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9808" y="572452"/>
            <a:ext cx="10416288" cy="742760"/>
            <a:chOff x="749808" y="572452"/>
            <a:chExt cx="10416288" cy="742760"/>
          </a:xfrm>
        </p:grpSpPr>
        <p:sp>
          <p:nvSpPr>
            <p:cNvPr id="3" name="TextBox 3"/>
            <p:cNvSpPr txBox="1"/>
            <p:nvPr/>
          </p:nvSpPr>
          <p:spPr>
            <a:xfrm>
              <a:off x="756666" y="572452"/>
              <a:ext cx="2712872"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SYSTEM ARCHITECTURE · §19</a:t>
              </a:r>
            </a:p>
          </p:txBody>
        </p:sp>
        <p:sp>
          <p:nvSpPr>
            <p:cNvPr id="4" name="TextBox 4"/>
            <p:cNvSpPr txBox="1"/>
            <p:nvPr/>
          </p:nvSpPr>
          <p:spPr>
            <a:xfrm>
              <a:off x="749808" y="845820"/>
              <a:ext cx="10416288"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A five-layer batch architecture, deliberately boring and cheap</a:t>
              </a:r>
            </a:p>
          </p:txBody>
        </p:sp>
      </p:grpSp>
      <p:grpSp>
        <p:nvGrpSpPr>
          <p:cNvPr id="14" name="Group 14"/>
          <p:cNvGrpSpPr/>
          <p:nvPr/>
        </p:nvGrpSpPr>
        <p:grpSpPr>
          <a:xfrm>
            <a:off x="762000" y="1504950"/>
            <a:ext cx="10668000" cy="742950"/>
            <a:chOff x="762000" y="1504950"/>
            <a:chExt cx="10668000" cy="742950"/>
          </a:xfrm>
        </p:grpSpPr>
        <p:sp>
          <p:nvSpPr>
            <p:cNvPr id="6" name="Rectangle 6"/>
            <p:cNvSpPr/>
            <p:nvPr/>
          </p:nvSpPr>
          <p:spPr>
            <a:xfrm>
              <a:off x="762000" y="1504950"/>
              <a:ext cx="10668000" cy="742950"/>
            </a:xfrm>
            <a:prstGeom prst="rect">
              <a:avLst/>
            </a:prstGeom>
            <a:solidFill>
              <a:srgbClr val="F3F5F8"/>
            </a:solidFill>
            <a:ln>
              <a:noFill/>
            </a:ln>
          </p:spPr>
        </p:sp>
        <p:sp>
          <p:nvSpPr>
            <p:cNvPr id="7" name="Rectangle 7"/>
            <p:cNvSpPr/>
            <p:nvPr/>
          </p:nvSpPr>
          <p:spPr>
            <a:xfrm>
              <a:off x="762000" y="1504950"/>
              <a:ext cx="1428750" cy="742950"/>
            </a:xfrm>
            <a:prstGeom prst="rect">
              <a:avLst/>
            </a:prstGeom>
            <a:solidFill>
              <a:srgbClr val="0F2A43"/>
            </a:solidFill>
            <a:ln>
              <a:noFill/>
            </a:ln>
          </p:spPr>
        </p:sp>
        <p:sp>
          <p:nvSpPr>
            <p:cNvPr id="8" name="TextBox 8"/>
            <p:cNvSpPr txBox="1"/>
            <p:nvPr/>
          </p:nvSpPr>
          <p:spPr>
            <a:xfrm>
              <a:off x="946404" y="1737360"/>
              <a:ext cx="558820"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CLIENT</a:t>
              </a:r>
            </a:p>
          </p:txBody>
        </p:sp>
        <p:sp>
          <p:nvSpPr>
            <p:cNvPr id="9" name="TextBox 9"/>
            <p:cNvSpPr txBox="1"/>
            <p:nvPr/>
          </p:nvSpPr>
          <p:spPr>
            <a:xfrm>
              <a:off x="947738" y="1979295"/>
              <a:ext cx="885977" cy="176212"/>
            </a:xfrm>
            <a:prstGeom prst="rect">
              <a:avLst/>
            </a:prstGeom>
            <a:noFill/>
            <a:ln>
              <a:noFill/>
            </a:ln>
          </p:spPr>
          <p:txBody>
            <a:bodyPr wrap="none" lIns="0" tIns="0" rIns="0" bIns="0" anchor="t" anchorCtr="0">
              <a:spAutoFit/>
            </a:bodyPr>
            <a:lstStyle/>
            <a:p>
              <a:pPr algn="l"/>
              <a:r>
                <a:rPr lang="en-US" sz="900" dirty="0">
                  <a:solidFill>
                    <a:srgbClr val="8FB4F5"/>
                  </a:solidFill>
                  <a:latin typeface="Arial"/>
                  <a:ea typeface="Arial"/>
                  <a:cs typeface="Arial"/>
                </a:rPr>
                <a:t>consumes REST</a:t>
              </a:r>
            </a:p>
          </p:txBody>
        </p:sp>
        <p:sp>
          <p:nvSpPr>
            <p:cNvPr id="10" name="Rectangle 10"/>
            <p:cNvSpPr/>
            <p:nvPr/>
          </p:nvSpPr>
          <p:spPr>
            <a:xfrm>
              <a:off x="2381250" y="1676400"/>
              <a:ext cx="4191000" cy="400050"/>
            </a:xfrm>
            <a:prstGeom prst="rect">
              <a:avLst/>
            </a:prstGeom>
            <a:solidFill>
              <a:srgbClr val="FFFFFF"/>
            </a:solidFill>
            <a:ln w="9525">
              <a:solidFill>
                <a:srgbClr val="D6DDE5"/>
              </a:solidFill>
            </a:ln>
          </p:spPr>
        </p:sp>
        <p:sp>
          <p:nvSpPr>
            <p:cNvPr id="11" name="TextBox 11"/>
            <p:cNvSpPr txBox="1"/>
            <p:nvPr/>
          </p:nvSpPr>
          <p:spPr>
            <a:xfrm>
              <a:off x="2565273" y="1795939"/>
              <a:ext cx="3498026" cy="249364"/>
            </a:xfrm>
            <a:prstGeom prst="rect">
              <a:avLst/>
            </a:prstGeom>
            <a:noFill/>
            <a:ln>
              <a:noFill/>
            </a:ln>
          </p:spPr>
          <p:txBody>
            <a:bodyPr wrap="none" lIns="0" tIns="0" rIns="0" bIns="0" anchor="t" anchorCtr="0">
              <a:spAutoFit/>
            </a:bodyPr>
            <a:lstStyle/>
            <a:p>
              <a:pPr algn="l"/>
              <a:r>
                <a:rPr lang="en-US" sz="1280" dirty="0">
                  <a:solidFill>
                    <a:srgbClr val="0F2A43"/>
                  </a:solidFill>
                  <a:latin typeface="Arial"/>
                  <a:ea typeface="Arial"/>
                  <a:cs typeface="Arial"/>
                </a:rPr>
                <a:t xml:space="preserve">Native iOS — Swift / SwiftUI </a:t>
              </a:r>
              <a:r>
                <a:rPr lang="en-US" sz="980" dirty="0">
                  <a:solidFill>
                    <a:srgbClr val="5B6B7B"/>
                  </a:solidFill>
                  <a:latin typeface="Arial"/>
                  <a:ea typeface="Arial"/>
                  <a:cs typeface="Arial"/>
                </a:rPr>
                <a:t>(primary mobile)</a:t>
              </a:r>
            </a:p>
          </p:txBody>
        </p:sp>
        <p:sp>
          <p:nvSpPr>
            <p:cNvPr id="12" name="Rectangle 12"/>
            <p:cNvSpPr/>
            <p:nvPr/>
          </p:nvSpPr>
          <p:spPr>
            <a:xfrm>
              <a:off x="6762750" y="1676400"/>
              <a:ext cx="4476750" cy="400050"/>
            </a:xfrm>
            <a:prstGeom prst="rect">
              <a:avLst/>
            </a:prstGeom>
            <a:solidFill>
              <a:srgbClr val="FFFFFF"/>
            </a:solidFill>
            <a:ln w="9525">
              <a:solidFill>
                <a:srgbClr val="D6DDE5"/>
              </a:solidFill>
            </a:ln>
          </p:spPr>
        </p:sp>
        <p:sp>
          <p:nvSpPr>
            <p:cNvPr id="13" name="TextBox 13"/>
            <p:cNvSpPr txBox="1"/>
            <p:nvPr/>
          </p:nvSpPr>
          <p:spPr>
            <a:xfrm>
              <a:off x="6946773" y="1795939"/>
              <a:ext cx="3071447" cy="249364"/>
            </a:xfrm>
            <a:prstGeom prst="rect">
              <a:avLst/>
            </a:prstGeom>
            <a:noFill/>
            <a:ln>
              <a:noFill/>
            </a:ln>
          </p:spPr>
          <p:txBody>
            <a:bodyPr wrap="none" lIns="0" tIns="0" rIns="0" bIns="0" anchor="t" anchorCtr="0">
              <a:spAutoFit/>
            </a:bodyPr>
            <a:lstStyle/>
            <a:p>
              <a:pPr algn="l"/>
              <a:r>
                <a:rPr lang="en-US" sz="1280" dirty="0">
                  <a:solidFill>
                    <a:srgbClr val="0F2A43"/>
                  </a:solidFill>
                  <a:latin typeface="Arial"/>
                  <a:ea typeface="Arial"/>
                  <a:cs typeface="Arial"/>
                </a:rPr>
                <a:t xml:space="preserve">Next.js Web — React </a:t>
              </a:r>
              <a:r>
                <a:rPr lang="en-US" sz="980" dirty="0">
                  <a:solidFill>
                    <a:srgbClr val="5B6B7B"/>
                  </a:solidFill>
                  <a:latin typeface="Arial"/>
                  <a:ea typeface="Arial"/>
                  <a:cs typeface="Arial"/>
                </a:rPr>
                <a:t>(desktop / browser)</a:t>
              </a:r>
            </a:p>
          </p:txBody>
        </p:sp>
      </p:grpSp>
      <p:grpSp>
        <p:nvGrpSpPr>
          <p:cNvPr id="21" name="Group 21"/>
          <p:cNvGrpSpPr/>
          <p:nvPr/>
        </p:nvGrpSpPr>
        <p:grpSpPr>
          <a:xfrm>
            <a:off x="762000" y="2400300"/>
            <a:ext cx="10668000" cy="666750"/>
            <a:chOff x="762000" y="2400300"/>
            <a:chExt cx="10668000" cy="666750"/>
          </a:xfrm>
        </p:grpSpPr>
        <p:sp>
          <p:nvSpPr>
            <p:cNvPr id="15" name="Rectangle 15"/>
            <p:cNvSpPr/>
            <p:nvPr/>
          </p:nvSpPr>
          <p:spPr>
            <a:xfrm>
              <a:off x="762000" y="2400300"/>
              <a:ext cx="10668000" cy="666750"/>
            </a:xfrm>
            <a:prstGeom prst="rect">
              <a:avLst/>
            </a:prstGeom>
            <a:solidFill>
              <a:srgbClr val="F3F5F8"/>
            </a:solidFill>
            <a:ln>
              <a:noFill/>
            </a:ln>
          </p:spPr>
        </p:sp>
        <p:sp>
          <p:nvSpPr>
            <p:cNvPr id="16" name="Rectangle 16"/>
            <p:cNvSpPr/>
            <p:nvPr/>
          </p:nvSpPr>
          <p:spPr>
            <a:xfrm>
              <a:off x="762000" y="2400300"/>
              <a:ext cx="1428750" cy="666750"/>
            </a:xfrm>
            <a:prstGeom prst="rect">
              <a:avLst/>
            </a:prstGeom>
            <a:solidFill>
              <a:srgbClr val="2563EB"/>
            </a:solidFill>
            <a:ln>
              <a:noFill/>
            </a:ln>
          </p:spPr>
        </p:sp>
        <p:sp>
          <p:nvSpPr>
            <p:cNvPr id="17" name="TextBox 17"/>
            <p:cNvSpPr txBox="1"/>
            <p:nvPr/>
          </p:nvSpPr>
          <p:spPr>
            <a:xfrm>
              <a:off x="946404" y="2613660"/>
              <a:ext cx="263103"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API</a:t>
              </a:r>
            </a:p>
          </p:txBody>
        </p:sp>
        <p:sp>
          <p:nvSpPr>
            <p:cNvPr id="18" name="TextBox 18"/>
            <p:cNvSpPr txBox="1"/>
            <p:nvPr/>
          </p:nvSpPr>
          <p:spPr>
            <a:xfrm>
              <a:off x="947738" y="2855595"/>
              <a:ext cx="675894" cy="176212"/>
            </a:xfrm>
            <a:prstGeom prst="rect">
              <a:avLst/>
            </a:prstGeom>
            <a:noFill/>
            <a:ln>
              <a:noFill/>
            </a:ln>
          </p:spPr>
          <p:txBody>
            <a:bodyPr wrap="none" lIns="0" tIns="0" rIns="0" bIns="0" anchor="t" anchorCtr="0">
              <a:spAutoFit/>
            </a:bodyPr>
            <a:lstStyle/>
            <a:p>
              <a:pPr algn="l"/>
              <a:r>
                <a:rPr lang="en-US" sz="900" dirty="0">
                  <a:solidFill>
                    <a:srgbClr val="C9D8EE"/>
                  </a:solidFill>
                  <a:latin typeface="Arial"/>
                  <a:ea typeface="Arial"/>
                  <a:cs typeface="Arial"/>
                </a:rPr>
                <a:t>auth-gated</a:t>
              </a:r>
            </a:p>
          </p:txBody>
        </p:sp>
        <p:sp>
          <p:nvSpPr>
            <p:cNvPr id="19" name="TextBox 19"/>
            <p:cNvSpPr txBox="1"/>
            <p:nvPr/>
          </p:nvSpPr>
          <p:spPr>
            <a:xfrm>
              <a:off x="2374773" y="2567464"/>
              <a:ext cx="1685326"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FastAPI app server</a:t>
              </a:r>
            </a:p>
          </p:txBody>
        </p:sp>
        <p:sp>
          <p:nvSpPr>
            <p:cNvPr id="20" name="TextBox 20"/>
            <p:cNvSpPr txBox="1"/>
            <p:nvPr/>
          </p:nvSpPr>
          <p:spPr>
            <a:xfrm>
              <a:off x="2375535" y="2812256"/>
              <a:ext cx="6741838"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Auth middleware · routers /stocks/* · /config/* · /recommendations/* · /pipeline/status</a:t>
              </a:r>
            </a:p>
          </p:txBody>
        </p:sp>
      </p:grpSp>
      <p:grpSp>
        <p:nvGrpSpPr>
          <p:cNvPr id="34" name="Group 34"/>
          <p:cNvGrpSpPr/>
          <p:nvPr/>
        </p:nvGrpSpPr>
        <p:grpSpPr>
          <a:xfrm>
            <a:off x="762000" y="3219450"/>
            <a:ext cx="10668000" cy="742950"/>
            <a:chOff x="762000" y="3219450"/>
            <a:chExt cx="10668000" cy="742950"/>
          </a:xfrm>
        </p:grpSpPr>
        <p:sp>
          <p:nvSpPr>
            <p:cNvPr id="22" name="Rectangle 22"/>
            <p:cNvSpPr/>
            <p:nvPr/>
          </p:nvSpPr>
          <p:spPr>
            <a:xfrm>
              <a:off x="762000" y="3219450"/>
              <a:ext cx="10668000" cy="742950"/>
            </a:xfrm>
            <a:prstGeom prst="rect">
              <a:avLst/>
            </a:prstGeom>
            <a:solidFill>
              <a:srgbClr val="F3F5F8"/>
            </a:solidFill>
            <a:ln>
              <a:noFill/>
            </a:ln>
          </p:spPr>
        </p:sp>
        <p:sp>
          <p:nvSpPr>
            <p:cNvPr id="23" name="Rectangle 23"/>
            <p:cNvSpPr/>
            <p:nvPr/>
          </p:nvSpPr>
          <p:spPr>
            <a:xfrm>
              <a:off x="762000" y="3219450"/>
              <a:ext cx="1428750" cy="742950"/>
            </a:xfrm>
            <a:prstGeom prst="rect">
              <a:avLst/>
            </a:prstGeom>
            <a:solidFill>
              <a:srgbClr val="0F2A43"/>
            </a:solidFill>
            <a:ln>
              <a:noFill/>
            </a:ln>
          </p:spPr>
        </p:sp>
        <p:sp>
          <p:nvSpPr>
            <p:cNvPr id="24" name="TextBox 24"/>
            <p:cNvSpPr txBox="1"/>
            <p:nvPr/>
          </p:nvSpPr>
          <p:spPr>
            <a:xfrm>
              <a:off x="946404" y="3432810"/>
              <a:ext cx="630509"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DOMAIN</a:t>
              </a:r>
            </a:p>
          </p:txBody>
        </p:sp>
        <p:sp>
          <p:nvSpPr>
            <p:cNvPr id="25" name="TextBox 25"/>
            <p:cNvSpPr txBox="1"/>
            <p:nvPr/>
          </p:nvSpPr>
          <p:spPr>
            <a:xfrm>
              <a:off x="947738" y="3674745"/>
              <a:ext cx="512331" cy="176212"/>
            </a:xfrm>
            <a:prstGeom prst="rect">
              <a:avLst/>
            </a:prstGeom>
            <a:noFill/>
            <a:ln>
              <a:noFill/>
            </a:ln>
          </p:spPr>
          <p:txBody>
            <a:bodyPr wrap="none" lIns="0" tIns="0" rIns="0" bIns="0" anchor="t" anchorCtr="0">
              <a:spAutoFit/>
            </a:bodyPr>
            <a:lstStyle/>
            <a:p>
              <a:pPr algn="l"/>
              <a:r>
                <a:rPr lang="en-US" sz="900" dirty="0">
                  <a:solidFill>
                    <a:srgbClr val="8FB4F5"/>
                  </a:solidFill>
                  <a:latin typeface="Arial"/>
                  <a:ea typeface="Arial"/>
                  <a:cs typeface="Arial"/>
                </a:rPr>
                <a:t>services</a:t>
              </a:r>
            </a:p>
          </p:txBody>
        </p:sp>
        <p:sp>
          <p:nvSpPr>
            <p:cNvPr id="26" name="Rectangle 26"/>
            <p:cNvSpPr/>
            <p:nvPr/>
          </p:nvSpPr>
          <p:spPr>
            <a:xfrm>
              <a:off x="2381250" y="3390900"/>
              <a:ext cx="2047875" cy="400050"/>
            </a:xfrm>
            <a:prstGeom prst="rect">
              <a:avLst/>
            </a:prstGeom>
            <a:solidFill>
              <a:srgbClr val="FFFFFF"/>
            </a:solidFill>
            <a:ln w="9525">
              <a:solidFill>
                <a:srgbClr val="D6DDE5"/>
              </a:solidFill>
            </a:ln>
          </p:spPr>
        </p:sp>
        <p:sp>
          <p:nvSpPr>
            <p:cNvPr id="27" name="TextBox 27"/>
            <p:cNvSpPr txBox="1"/>
            <p:nvPr/>
          </p:nvSpPr>
          <p:spPr>
            <a:xfrm>
              <a:off x="2566035" y="3526631"/>
              <a:ext cx="944767" cy="220028"/>
            </a:xfrm>
            <a:prstGeom prst="rect">
              <a:avLst/>
            </a:prstGeom>
            <a:noFill/>
            <a:ln>
              <a:noFill/>
            </a:ln>
          </p:spPr>
          <p:txBody>
            <a:bodyPr wrap="none" lIns="0" tIns="0" rIns="0" bIns="0" anchor="t" anchorCtr="0">
              <a:spAutoFit/>
            </a:bodyPr>
            <a:lstStyle/>
            <a:p>
              <a:pPr algn="l"/>
              <a:r>
                <a:rPr lang="en-US" sz="1120" dirty="0">
                  <a:solidFill>
                    <a:srgbClr val="0F2A43"/>
                  </a:solidFill>
                  <a:latin typeface="Arial"/>
                  <a:ea typeface="Arial"/>
                  <a:cs typeface="Arial"/>
                </a:rPr>
                <a:t>Read Service</a:t>
              </a:r>
            </a:p>
          </p:txBody>
        </p:sp>
        <p:sp>
          <p:nvSpPr>
            <p:cNvPr id="28" name="Rectangle 28"/>
            <p:cNvSpPr/>
            <p:nvPr/>
          </p:nvSpPr>
          <p:spPr>
            <a:xfrm>
              <a:off x="4600575" y="3390900"/>
              <a:ext cx="2286000" cy="400050"/>
            </a:xfrm>
            <a:prstGeom prst="rect">
              <a:avLst/>
            </a:prstGeom>
            <a:solidFill>
              <a:srgbClr val="FFFFFF"/>
            </a:solidFill>
            <a:ln w="9525">
              <a:solidFill>
                <a:srgbClr val="D6DDE5"/>
              </a:solidFill>
            </a:ln>
          </p:spPr>
        </p:sp>
        <p:sp>
          <p:nvSpPr>
            <p:cNvPr id="29" name="TextBox 29"/>
            <p:cNvSpPr txBox="1"/>
            <p:nvPr/>
          </p:nvSpPr>
          <p:spPr>
            <a:xfrm>
              <a:off x="4785360" y="3526631"/>
              <a:ext cx="1717243" cy="220028"/>
            </a:xfrm>
            <a:prstGeom prst="rect">
              <a:avLst/>
            </a:prstGeom>
            <a:noFill/>
            <a:ln>
              <a:noFill/>
            </a:ln>
          </p:spPr>
          <p:txBody>
            <a:bodyPr wrap="none" lIns="0" tIns="0" rIns="0" bIns="0" anchor="t" anchorCtr="0">
              <a:spAutoFit/>
            </a:bodyPr>
            <a:lstStyle/>
            <a:p>
              <a:pPr algn="l"/>
              <a:r>
                <a:rPr lang="en-US" sz="1120" dirty="0">
                  <a:solidFill>
                    <a:srgbClr val="0F2A43"/>
                  </a:solidFill>
                  <a:latin typeface="Arial"/>
                  <a:ea typeface="Arial"/>
                  <a:cs typeface="Arial"/>
                </a:rPr>
                <a:t>Recommendation Engine</a:t>
              </a:r>
            </a:p>
          </p:txBody>
        </p:sp>
        <p:sp>
          <p:nvSpPr>
            <p:cNvPr id="30" name="Rectangle 30"/>
            <p:cNvSpPr/>
            <p:nvPr/>
          </p:nvSpPr>
          <p:spPr>
            <a:xfrm>
              <a:off x="7058025" y="3390900"/>
              <a:ext cx="2047875" cy="400050"/>
            </a:xfrm>
            <a:prstGeom prst="rect">
              <a:avLst/>
            </a:prstGeom>
            <a:solidFill>
              <a:srgbClr val="FFFFFF"/>
            </a:solidFill>
            <a:ln w="9525">
              <a:solidFill>
                <a:srgbClr val="D6DDE5"/>
              </a:solidFill>
            </a:ln>
          </p:spPr>
        </p:sp>
        <p:sp>
          <p:nvSpPr>
            <p:cNvPr id="31" name="TextBox 31"/>
            <p:cNvSpPr txBox="1"/>
            <p:nvPr/>
          </p:nvSpPr>
          <p:spPr>
            <a:xfrm>
              <a:off x="7242810" y="3526631"/>
              <a:ext cx="1207049" cy="220028"/>
            </a:xfrm>
            <a:prstGeom prst="rect">
              <a:avLst/>
            </a:prstGeom>
            <a:noFill/>
            <a:ln>
              <a:noFill/>
            </a:ln>
          </p:spPr>
          <p:txBody>
            <a:bodyPr wrap="none" lIns="0" tIns="0" rIns="0" bIns="0" anchor="t" anchorCtr="0">
              <a:spAutoFit/>
            </a:bodyPr>
            <a:lstStyle/>
            <a:p>
              <a:pPr algn="l"/>
              <a:r>
                <a:rPr lang="en-US" sz="1120" dirty="0">
                  <a:solidFill>
                    <a:srgbClr val="0F2A43"/>
                  </a:solidFill>
                  <a:latin typeface="Arial"/>
                  <a:ea typeface="Arial"/>
                  <a:cs typeface="Arial"/>
                </a:rPr>
                <a:t>Supply Chain Svc</a:t>
              </a:r>
            </a:p>
          </p:txBody>
        </p:sp>
        <p:sp>
          <p:nvSpPr>
            <p:cNvPr id="32" name="Rectangle 32"/>
            <p:cNvSpPr/>
            <p:nvPr/>
          </p:nvSpPr>
          <p:spPr>
            <a:xfrm>
              <a:off x="9277350" y="3390900"/>
              <a:ext cx="1962150" cy="400050"/>
            </a:xfrm>
            <a:prstGeom prst="rect">
              <a:avLst/>
            </a:prstGeom>
            <a:solidFill>
              <a:srgbClr val="FFFFFF"/>
            </a:solidFill>
            <a:ln w="9525">
              <a:solidFill>
                <a:srgbClr val="D6DDE5"/>
              </a:solidFill>
            </a:ln>
          </p:spPr>
        </p:sp>
        <p:sp>
          <p:nvSpPr>
            <p:cNvPr id="33" name="TextBox 33"/>
            <p:cNvSpPr txBox="1"/>
            <p:nvPr/>
          </p:nvSpPr>
          <p:spPr>
            <a:xfrm>
              <a:off x="9462135" y="3526631"/>
              <a:ext cx="1194639" cy="220028"/>
            </a:xfrm>
            <a:prstGeom prst="rect">
              <a:avLst/>
            </a:prstGeom>
            <a:noFill/>
            <a:ln>
              <a:noFill/>
            </a:ln>
          </p:spPr>
          <p:txBody>
            <a:bodyPr wrap="none" lIns="0" tIns="0" rIns="0" bIns="0" anchor="t" anchorCtr="0">
              <a:spAutoFit/>
            </a:bodyPr>
            <a:lstStyle/>
            <a:p>
              <a:pPr algn="l"/>
              <a:r>
                <a:rPr lang="en-US" sz="1120" dirty="0">
                  <a:solidFill>
                    <a:srgbClr val="0F2A43"/>
                  </a:solidFill>
                  <a:latin typeface="Arial"/>
                  <a:ea typeface="Arial"/>
                  <a:cs typeface="Arial"/>
                </a:rPr>
                <a:t>Backtest Engine</a:t>
              </a:r>
            </a:p>
          </p:txBody>
        </p:sp>
      </p:grpSp>
      <p:grpSp>
        <p:nvGrpSpPr>
          <p:cNvPr id="43" name="Group 43"/>
          <p:cNvGrpSpPr/>
          <p:nvPr/>
        </p:nvGrpSpPr>
        <p:grpSpPr>
          <a:xfrm>
            <a:off x="762000" y="4114800"/>
            <a:ext cx="10668000" cy="666750"/>
            <a:chOff x="762000" y="4114800"/>
            <a:chExt cx="10668000" cy="666750"/>
          </a:xfrm>
        </p:grpSpPr>
        <p:sp>
          <p:nvSpPr>
            <p:cNvPr id="35" name="Rectangle 35"/>
            <p:cNvSpPr/>
            <p:nvPr/>
          </p:nvSpPr>
          <p:spPr>
            <a:xfrm>
              <a:off x="762000" y="4114800"/>
              <a:ext cx="10668000" cy="666750"/>
            </a:xfrm>
            <a:prstGeom prst="rect">
              <a:avLst/>
            </a:prstGeom>
            <a:solidFill>
              <a:srgbClr val="F3F5F8"/>
            </a:solidFill>
            <a:ln>
              <a:noFill/>
            </a:ln>
          </p:spPr>
        </p:sp>
        <p:sp>
          <p:nvSpPr>
            <p:cNvPr id="36" name="Rectangle 36"/>
            <p:cNvSpPr/>
            <p:nvPr/>
          </p:nvSpPr>
          <p:spPr>
            <a:xfrm>
              <a:off x="762000" y="4114800"/>
              <a:ext cx="1428750" cy="666750"/>
            </a:xfrm>
            <a:prstGeom prst="rect">
              <a:avLst/>
            </a:prstGeom>
            <a:solidFill>
              <a:srgbClr val="0E9AA7"/>
            </a:solidFill>
            <a:ln>
              <a:noFill/>
            </a:ln>
          </p:spPr>
        </p:sp>
        <p:sp>
          <p:nvSpPr>
            <p:cNvPr id="37" name="TextBox 37"/>
            <p:cNvSpPr txBox="1"/>
            <p:nvPr/>
          </p:nvSpPr>
          <p:spPr>
            <a:xfrm>
              <a:off x="946404" y="4328160"/>
              <a:ext cx="406481"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DATA</a:t>
              </a:r>
            </a:p>
          </p:txBody>
        </p:sp>
        <p:sp>
          <p:nvSpPr>
            <p:cNvPr id="38" name="TextBox 38"/>
            <p:cNvSpPr txBox="1"/>
            <p:nvPr/>
          </p:nvSpPr>
          <p:spPr>
            <a:xfrm>
              <a:off x="947738" y="4570095"/>
              <a:ext cx="748589" cy="176212"/>
            </a:xfrm>
            <a:prstGeom prst="rect">
              <a:avLst/>
            </a:prstGeom>
            <a:noFill/>
            <a:ln>
              <a:noFill/>
            </a:ln>
          </p:spPr>
          <p:txBody>
            <a:bodyPr wrap="none" lIns="0" tIns="0" rIns="0" bIns="0" anchor="t" anchorCtr="0">
              <a:spAutoFit/>
            </a:bodyPr>
            <a:lstStyle/>
            <a:p>
              <a:pPr algn="l"/>
              <a:r>
                <a:rPr lang="en-US" sz="900" dirty="0">
                  <a:solidFill>
                    <a:srgbClr val="D9F2F4"/>
                  </a:solidFill>
                  <a:latin typeface="Arial"/>
                  <a:ea typeface="Arial"/>
                  <a:cs typeface="Arial"/>
                </a:rPr>
                <a:t>one instance</a:t>
              </a:r>
            </a:p>
          </p:txBody>
        </p:sp>
        <p:sp>
          <p:nvSpPr>
            <p:cNvPr id="39" name="Rectangle 39"/>
            <p:cNvSpPr/>
            <p:nvPr/>
          </p:nvSpPr>
          <p:spPr>
            <a:xfrm>
              <a:off x="2381250" y="4248150"/>
              <a:ext cx="6096000" cy="400050"/>
            </a:xfrm>
            <a:prstGeom prst="rect">
              <a:avLst/>
            </a:prstGeom>
            <a:solidFill>
              <a:srgbClr val="FFFFFF"/>
            </a:solidFill>
            <a:ln w="9525">
              <a:solidFill>
                <a:srgbClr val="D6DDE5"/>
              </a:solidFill>
            </a:ln>
          </p:spPr>
        </p:sp>
        <p:sp>
          <p:nvSpPr>
            <p:cNvPr id="40" name="TextBox 40"/>
            <p:cNvSpPr txBox="1"/>
            <p:nvPr/>
          </p:nvSpPr>
          <p:spPr>
            <a:xfrm>
              <a:off x="2565654" y="4375785"/>
              <a:ext cx="5011064"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 xml:space="preserve">PostgreSQL + TimescaleDB </a:t>
              </a:r>
              <a:r>
                <a:rPr lang="en-US" sz="980" dirty="0">
                  <a:solidFill>
                    <a:srgbClr val="5B6B7B"/>
                  </a:solidFill>
                  <a:latin typeface="Arial"/>
                  <a:ea typeface="Arial"/>
                  <a:cs typeface="Arial"/>
                </a:rPr>
                <a:t>— relational tables + time-series hypertables</a:t>
              </a:r>
            </a:p>
          </p:txBody>
        </p:sp>
        <p:sp>
          <p:nvSpPr>
            <p:cNvPr id="41" name="Rectangle 41"/>
            <p:cNvSpPr/>
            <p:nvPr/>
          </p:nvSpPr>
          <p:spPr>
            <a:xfrm>
              <a:off x="8667750" y="4248150"/>
              <a:ext cx="2571750" cy="400050"/>
            </a:xfrm>
            <a:prstGeom prst="rect">
              <a:avLst/>
            </a:prstGeom>
            <a:solidFill>
              <a:srgbClr val="FFFFFF"/>
            </a:solidFill>
            <a:ln w="9525">
              <a:solidFill>
                <a:srgbClr val="D6DDE5"/>
              </a:solidFill>
            </a:ln>
          </p:spPr>
        </p:sp>
        <p:sp>
          <p:nvSpPr>
            <p:cNvPr id="42" name="TextBox 42"/>
            <p:cNvSpPr txBox="1"/>
            <p:nvPr/>
          </p:nvSpPr>
          <p:spPr>
            <a:xfrm>
              <a:off x="8852154" y="4375785"/>
              <a:ext cx="1455747"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Redis — read cache</a:t>
              </a:r>
            </a:p>
          </p:txBody>
        </p:sp>
      </p:grpSp>
      <p:grpSp>
        <p:nvGrpSpPr>
          <p:cNvPr id="51" name="Group 51"/>
          <p:cNvGrpSpPr/>
          <p:nvPr/>
        </p:nvGrpSpPr>
        <p:grpSpPr>
          <a:xfrm>
            <a:off x="762000" y="4933950"/>
            <a:ext cx="10668000" cy="914400"/>
            <a:chOff x="762000" y="4933950"/>
            <a:chExt cx="10668000" cy="914400"/>
          </a:xfrm>
        </p:grpSpPr>
        <p:sp>
          <p:nvSpPr>
            <p:cNvPr id="44" name="Rectangle 44"/>
            <p:cNvSpPr/>
            <p:nvPr/>
          </p:nvSpPr>
          <p:spPr>
            <a:xfrm>
              <a:off x="762000" y="4933950"/>
              <a:ext cx="10668000" cy="914400"/>
            </a:xfrm>
            <a:prstGeom prst="rect">
              <a:avLst/>
            </a:prstGeom>
            <a:solidFill>
              <a:srgbClr val="0F2A43"/>
            </a:solidFill>
            <a:ln>
              <a:noFill/>
            </a:ln>
          </p:spPr>
        </p:sp>
        <p:sp>
          <p:nvSpPr>
            <p:cNvPr id="45" name="Rectangle 45"/>
            <p:cNvSpPr/>
            <p:nvPr/>
          </p:nvSpPr>
          <p:spPr>
            <a:xfrm>
              <a:off x="762000" y="4933950"/>
              <a:ext cx="1428750" cy="914400"/>
            </a:xfrm>
            <a:prstGeom prst="rect">
              <a:avLst/>
            </a:prstGeom>
            <a:solidFill>
              <a:srgbClr val="2563EB"/>
            </a:solidFill>
            <a:ln>
              <a:noFill/>
            </a:ln>
          </p:spPr>
        </p:sp>
        <p:sp>
          <p:nvSpPr>
            <p:cNvPr id="46" name="TextBox 46"/>
            <p:cNvSpPr txBox="1"/>
            <p:nvPr/>
          </p:nvSpPr>
          <p:spPr>
            <a:xfrm>
              <a:off x="946404" y="5166360"/>
              <a:ext cx="505054"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BATCH</a:t>
              </a:r>
            </a:p>
          </p:txBody>
        </p:sp>
        <p:sp>
          <p:nvSpPr>
            <p:cNvPr id="47" name="TextBox 47"/>
            <p:cNvSpPr txBox="1"/>
            <p:nvPr/>
          </p:nvSpPr>
          <p:spPr>
            <a:xfrm>
              <a:off x="947738" y="5408295"/>
              <a:ext cx="718299" cy="176212"/>
            </a:xfrm>
            <a:prstGeom prst="rect">
              <a:avLst/>
            </a:prstGeom>
            <a:noFill/>
            <a:ln>
              <a:noFill/>
            </a:ln>
          </p:spPr>
          <p:txBody>
            <a:bodyPr wrap="none" lIns="0" tIns="0" rIns="0" bIns="0" anchor="t" anchorCtr="0">
              <a:spAutoFit/>
            </a:bodyPr>
            <a:lstStyle/>
            <a:p>
              <a:pPr algn="l"/>
              <a:r>
                <a:rPr lang="en-US" sz="900" dirty="0">
                  <a:solidFill>
                    <a:srgbClr val="C9D8EE"/>
                  </a:solidFill>
                  <a:latin typeface="Arial"/>
                  <a:ea typeface="Arial"/>
                  <a:cs typeface="Arial"/>
                </a:rPr>
                <a:t>daily ~03:00</a:t>
              </a:r>
            </a:p>
          </p:txBody>
        </p:sp>
        <p:sp>
          <p:nvSpPr>
            <p:cNvPr id="48" name="TextBox 48"/>
            <p:cNvSpPr txBox="1"/>
            <p:nvPr/>
          </p:nvSpPr>
          <p:spPr>
            <a:xfrm>
              <a:off x="2375154" y="5109210"/>
              <a:ext cx="2486616"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Arial"/>
                  <a:ea typeface="Arial"/>
                  <a:cs typeface="Arial"/>
                </a:rPr>
                <a:t>APScheduler ingestion pipeline</a:t>
              </a:r>
            </a:p>
          </p:txBody>
        </p:sp>
        <p:sp>
          <p:nvSpPr>
            <p:cNvPr id="49" name="TextBox 49"/>
            <p:cNvSpPr txBox="1"/>
            <p:nvPr/>
          </p:nvSpPr>
          <p:spPr>
            <a:xfrm>
              <a:off x="2375535" y="5384006"/>
              <a:ext cx="5654878" cy="220028"/>
            </a:xfrm>
            <a:prstGeom prst="rect">
              <a:avLst/>
            </a:prstGeom>
            <a:noFill/>
            <a:ln>
              <a:noFill/>
            </a:ln>
          </p:spPr>
          <p:txBody>
            <a:bodyPr wrap="none" lIns="0" tIns="0" rIns="0" bIns="0" anchor="t" anchorCtr="0">
              <a:spAutoFit/>
            </a:bodyPr>
            <a:lstStyle/>
            <a:p>
              <a:pPr algn="l"/>
              <a:r>
                <a:rPr lang="en-US" sz="1120" dirty="0">
                  <a:solidFill>
                    <a:srgbClr val="C9D8EE"/>
                  </a:solidFill>
                  <a:latin typeface="Arial"/>
                  <a:ea typeface="Arial"/>
                  <a:cs typeface="Arial"/>
                </a:rPr>
                <a:t>Adapters: yfinance · TWSE / TPEx OpenAPI · SEC EDGAR 13F · GDELT + VADER</a:t>
              </a:r>
            </a:p>
          </p:txBody>
        </p:sp>
        <p:sp>
          <p:nvSpPr>
            <p:cNvPr id="50" name="TextBox 50"/>
            <p:cNvSpPr txBox="1"/>
            <p:nvPr/>
          </p:nvSpPr>
          <p:spPr>
            <a:xfrm>
              <a:off x="2375535" y="5593556"/>
              <a:ext cx="7676388" cy="220028"/>
            </a:xfrm>
            <a:prstGeom prst="rect">
              <a:avLst/>
            </a:prstGeom>
            <a:noFill/>
            <a:ln>
              <a:noFill/>
            </a:ln>
          </p:spPr>
          <p:txBody>
            <a:bodyPr wrap="none" lIns="0" tIns="0" rIns="0" bIns="0" anchor="t" anchorCtr="0">
              <a:spAutoFit/>
            </a:bodyPr>
            <a:lstStyle/>
            <a:p>
              <a:pPr algn="l"/>
              <a:r>
                <a:rPr lang="en-US" sz="1120" dirty="0">
                  <a:solidFill>
                    <a:srgbClr val="8FB4F5"/>
                  </a:solidFill>
                  <a:latin typeface="Arial"/>
                  <a:ea typeface="Arial"/>
                  <a:cs typeface="Arial"/>
                </a:rPr>
                <a:t>→ Signal Calculators → Recommendation Scoring + Backtest → Persist (mark data-unavailable per source)</a:t>
              </a:r>
            </a:p>
          </p:txBody>
        </p:sp>
      </p:grpSp>
      <p:grpSp>
        <p:nvGrpSpPr>
          <p:cNvPr id="56" name="Group 56"/>
          <p:cNvGrpSpPr/>
          <p:nvPr/>
        </p:nvGrpSpPr>
        <p:grpSpPr>
          <a:xfrm>
            <a:off x="6096000" y="2266950"/>
            <a:ext cx="1" cy="2647950"/>
            <a:chOff x="6096000" y="2266950"/>
            <a:chExt cx="1" cy="2647950"/>
          </a:xfrm>
        </p:grpSpPr>
        <p:sp>
          <p:nvSpPr>
            <p:cNvPr id="52" name="Line 52"/>
            <p:cNvSpPr/>
            <p:nvPr/>
          </p:nvSpPr>
          <p:spPr>
            <a:xfrm>
              <a:off x="6096000" y="2266950"/>
              <a:ext cx="1" cy="114300"/>
            </a:xfrm>
            <a:prstGeom prst="line">
              <a:avLst/>
            </a:prstGeom>
            <a:noFill/>
            <a:ln w="19050">
              <a:solidFill>
                <a:srgbClr val="9DB4C9"/>
              </a:solidFill>
              <a:tailEnd type="triangle" w="lg" len="lg"/>
            </a:ln>
          </p:spPr>
        </p:sp>
        <p:sp>
          <p:nvSpPr>
            <p:cNvPr id="53" name="Line 53"/>
            <p:cNvSpPr/>
            <p:nvPr/>
          </p:nvSpPr>
          <p:spPr>
            <a:xfrm>
              <a:off x="6096000" y="3086100"/>
              <a:ext cx="1" cy="114300"/>
            </a:xfrm>
            <a:prstGeom prst="line">
              <a:avLst/>
            </a:prstGeom>
            <a:noFill/>
            <a:ln w="19050">
              <a:solidFill>
                <a:srgbClr val="9DB4C9"/>
              </a:solidFill>
              <a:tailEnd type="triangle" w="lg" len="lg"/>
            </a:ln>
          </p:spPr>
        </p:sp>
        <p:sp>
          <p:nvSpPr>
            <p:cNvPr id="54" name="Line 54"/>
            <p:cNvSpPr/>
            <p:nvPr/>
          </p:nvSpPr>
          <p:spPr>
            <a:xfrm>
              <a:off x="6096000" y="3981450"/>
              <a:ext cx="1" cy="114300"/>
            </a:xfrm>
            <a:prstGeom prst="line">
              <a:avLst/>
            </a:prstGeom>
            <a:noFill/>
            <a:ln w="19050">
              <a:solidFill>
                <a:srgbClr val="9DB4C9"/>
              </a:solidFill>
              <a:tailEnd type="triangle" w="lg" len="lg"/>
            </a:ln>
          </p:spPr>
        </p:sp>
        <p:sp>
          <p:nvSpPr>
            <p:cNvPr id="55" name="Line 55"/>
            <p:cNvSpPr/>
            <p:nvPr/>
          </p:nvSpPr>
          <p:spPr>
            <a:xfrm>
              <a:off x="6096000" y="4800600"/>
              <a:ext cx="1" cy="114300"/>
            </a:xfrm>
            <a:prstGeom prst="line">
              <a:avLst/>
            </a:prstGeom>
            <a:noFill/>
            <a:ln w="19050">
              <a:solidFill>
                <a:srgbClr val="9DB4C9"/>
              </a:solidFill>
              <a:tailEnd type="triangle" w="lg" len="lg"/>
            </a:ln>
          </p:spPr>
        </p:sp>
      </p:grpSp>
      <p:grpSp>
        <p:nvGrpSpPr>
          <p:cNvPr id="60" name="Group 60"/>
          <p:cNvGrpSpPr/>
          <p:nvPr/>
        </p:nvGrpSpPr>
        <p:grpSpPr>
          <a:xfrm>
            <a:off x="757047" y="6477000"/>
            <a:ext cx="10677906" cy="285464"/>
            <a:chOff x="757047" y="6477000"/>
            <a:chExt cx="10677906" cy="285464"/>
          </a:xfrm>
        </p:grpSpPr>
        <p:sp>
          <p:nvSpPr>
            <p:cNvPr id="57" name="Line 57"/>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58" name="TextBox 58"/>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59" name="TextBox 59"/>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08 / 17</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9808" y="572452"/>
            <a:ext cx="9127516" cy="742760"/>
            <a:chOff x="749808" y="572452"/>
            <a:chExt cx="9127516" cy="742760"/>
          </a:xfrm>
        </p:grpSpPr>
        <p:sp>
          <p:nvSpPr>
            <p:cNvPr id="3" name="TextBox 3"/>
            <p:cNvSpPr txBox="1"/>
            <p:nvPr/>
          </p:nvSpPr>
          <p:spPr>
            <a:xfrm>
              <a:off x="756666" y="572452"/>
              <a:ext cx="2437638"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TECHNOLOGY STACK · §18</a:t>
              </a:r>
            </a:p>
          </p:txBody>
        </p:sp>
        <p:sp>
          <p:nvSpPr>
            <p:cNvPr id="4" name="TextBox 4"/>
            <p:cNvSpPr txBox="1"/>
            <p:nvPr/>
          </p:nvSpPr>
          <p:spPr>
            <a:xfrm>
              <a:off x="749808" y="845820"/>
              <a:ext cx="9127516"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Every choice optimises for low cost and low ops burden</a:t>
              </a:r>
            </a:p>
          </p:txBody>
        </p:sp>
      </p:grpSp>
      <p:grpSp>
        <p:nvGrpSpPr>
          <p:cNvPr id="10" name="Group 10"/>
          <p:cNvGrpSpPr/>
          <p:nvPr/>
        </p:nvGrpSpPr>
        <p:grpSpPr>
          <a:xfrm>
            <a:off x="757047" y="1494949"/>
            <a:ext cx="10672953" cy="229076"/>
            <a:chOff x="757047" y="1494949"/>
            <a:chExt cx="10672953" cy="229076"/>
          </a:xfrm>
        </p:grpSpPr>
        <p:sp>
          <p:nvSpPr>
            <p:cNvPr id="6" name="TextBox 6"/>
            <p:cNvSpPr txBox="1"/>
            <p:nvPr/>
          </p:nvSpPr>
          <p:spPr>
            <a:xfrm>
              <a:off x="757047" y="1494949"/>
              <a:ext cx="476631"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LAYER</a:t>
              </a:r>
            </a:p>
          </p:txBody>
        </p:sp>
        <p:sp>
          <p:nvSpPr>
            <p:cNvPr id="7" name="TextBox 7"/>
            <p:cNvSpPr txBox="1"/>
            <p:nvPr/>
          </p:nvSpPr>
          <p:spPr>
            <a:xfrm>
              <a:off x="2852547" y="1494949"/>
              <a:ext cx="567309"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CHOICE</a:t>
              </a:r>
            </a:p>
          </p:txBody>
        </p:sp>
        <p:sp>
          <p:nvSpPr>
            <p:cNvPr id="8" name="TextBox 8"/>
            <p:cNvSpPr txBox="1"/>
            <p:nvPr/>
          </p:nvSpPr>
          <p:spPr>
            <a:xfrm>
              <a:off x="7615047" y="1494949"/>
              <a:ext cx="309143"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WHY</a:t>
              </a:r>
            </a:p>
          </p:txBody>
        </p:sp>
        <p:sp>
          <p:nvSpPr>
            <p:cNvPr id="9" name="Line 9"/>
            <p:cNvSpPr/>
            <p:nvPr/>
          </p:nvSpPr>
          <p:spPr>
            <a:xfrm>
              <a:off x="762000" y="1714500"/>
              <a:ext cx="10668000" cy="9525"/>
            </a:xfrm>
            <a:custGeom>
              <a:avLst/>
              <a:gdLst/>
              <a:ahLst/>
              <a:cxnLst/>
              <a:rect l="l" t="t" r="r" b="b"/>
              <a:pathLst>
                <a:path w="10668000" h="9525">
                  <a:moveTo>
                    <a:pt x="0" y="0"/>
                  </a:moveTo>
                  <a:lnTo>
                    <a:pt x="10668000" y="0"/>
                  </a:lnTo>
                </a:path>
              </a:pathLst>
            </a:custGeom>
            <a:noFill/>
            <a:ln w="19050">
              <a:solidFill>
                <a:srgbClr val="0F2A43"/>
              </a:solidFill>
            </a:ln>
          </p:spPr>
        </p:sp>
      </p:grpSp>
      <p:grpSp>
        <p:nvGrpSpPr>
          <p:cNvPr id="47" name="Group 47"/>
          <p:cNvGrpSpPr/>
          <p:nvPr/>
        </p:nvGrpSpPr>
        <p:grpSpPr>
          <a:xfrm>
            <a:off x="755523" y="1919764"/>
            <a:ext cx="10993198" cy="3671411"/>
            <a:chOff x="755523" y="1919764"/>
            <a:chExt cx="10993198" cy="3671411"/>
          </a:xfrm>
        </p:grpSpPr>
        <p:sp>
          <p:nvSpPr>
            <p:cNvPr id="11" name="TextBox 11"/>
            <p:cNvSpPr txBox="1"/>
            <p:nvPr/>
          </p:nvSpPr>
          <p:spPr>
            <a:xfrm>
              <a:off x="755523" y="1919764"/>
              <a:ext cx="558722"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Mobile</a:t>
              </a:r>
            </a:p>
          </p:txBody>
        </p:sp>
        <p:sp>
          <p:nvSpPr>
            <p:cNvPr id="12" name="TextBox 12"/>
            <p:cNvSpPr txBox="1"/>
            <p:nvPr/>
          </p:nvSpPr>
          <p:spPr>
            <a:xfrm>
              <a:off x="2851404" y="1927860"/>
              <a:ext cx="2234184"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Native iOS — Swift / SwiftUI</a:t>
              </a:r>
            </a:p>
          </p:txBody>
        </p:sp>
        <p:sp>
          <p:nvSpPr>
            <p:cNvPr id="13" name="TextBox 13"/>
            <p:cNvSpPr txBox="1"/>
            <p:nvPr/>
          </p:nvSpPr>
          <p:spPr>
            <a:xfrm>
              <a:off x="7614285" y="1935956"/>
              <a:ext cx="2288088"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Client's choice; primary client</a:t>
              </a:r>
            </a:p>
          </p:txBody>
        </p:sp>
        <p:sp>
          <p:nvSpPr>
            <p:cNvPr id="14" name="Line 14"/>
            <p:cNvSpPr/>
            <p:nvPr/>
          </p:nvSpPr>
          <p:spPr>
            <a:xfrm>
              <a:off x="762000" y="2228850"/>
              <a:ext cx="10668000" cy="9525"/>
            </a:xfrm>
            <a:custGeom>
              <a:avLst/>
              <a:gdLst/>
              <a:ahLst/>
              <a:cxnLst/>
              <a:rect l="l" t="t" r="r" b="b"/>
              <a:pathLst>
                <a:path w="10668000" h="9525">
                  <a:moveTo>
                    <a:pt x="0" y="0"/>
                  </a:moveTo>
                  <a:lnTo>
                    <a:pt x="10668000" y="0"/>
                  </a:lnTo>
                </a:path>
              </a:pathLst>
            </a:custGeom>
            <a:noFill/>
            <a:ln w="9525">
              <a:solidFill>
                <a:srgbClr val="EAEEF3"/>
              </a:solidFill>
            </a:ln>
          </p:spPr>
        </p:sp>
        <p:sp>
          <p:nvSpPr>
            <p:cNvPr id="15" name="TextBox 15"/>
            <p:cNvSpPr txBox="1"/>
            <p:nvPr/>
          </p:nvSpPr>
          <p:spPr>
            <a:xfrm>
              <a:off x="755523" y="2338864"/>
              <a:ext cx="352656"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Web</a:t>
              </a:r>
            </a:p>
          </p:txBody>
        </p:sp>
        <p:sp>
          <p:nvSpPr>
            <p:cNvPr id="16" name="TextBox 16"/>
            <p:cNvSpPr txBox="1"/>
            <p:nvPr/>
          </p:nvSpPr>
          <p:spPr>
            <a:xfrm>
              <a:off x="2851404" y="2346960"/>
              <a:ext cx="3095170"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Next.js · React · TypeScript · Tailwind</a:t>
              </a:r>
            </a:p>
          </p:txBody>
        </p:sp>
        <p:sp>
          <p:nvSpPr>
            <p:cNvPr id="17" name="TextBox 17"/>
            <p:cNvSpPr txBox="1"/>
            <p:nvPr/>
          </p:nvSpPr>
          <p:spPr>
            <a:xfrm>
              <a:off x="7614285" y="2355056"/>
              <a:ext cx="2015925"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Desktop / browser surface</a:t>
              </a:r>
            </a:p>
          </p:txBody>
        </p:sp>
        <p:sp>
          <p:nvSpPr>
            <p:cNvPr id="18" name="Line 18"/>
            <p:cNvSpPr/>
            <p:nvPr/>
          </p:nvSpPr>
          <p:spPr>
            <a:xfrm>
              <a:off x="762000" y="2647950"/>
              <a:ext cx="10668000" cy="9525"/>
            </a:xfrm>
            <a:custGeom>
              <a:avLst/>
              <a:gdLst/>
              <a:ahLst/>
              <a:cxnLst/>
              <a:rect l="l" t="t" r="r" b="b"/>
              <a:pathLst>
                <a:path w="10668000" h="9525">
                  <a:moveTo>
                    <a:pt x="0" y="0"/>
                  </a:moveTo>
                  <a:lnTo>
                    <a:pt x="10668000" y="0"/>
                  </a:lnTo>
                </a:path>
              </a:pathLst>
            </a:custGeom>
            <a:noFill/>
            <a:ln w="9525">
              <a:solidFill>
                <a:srgbClr val="EAEEF3"/>
              </a:solidFill>
            </a:ln>
          </p:spPr>
        </p:sp>
        <p:sp>
          <p:nvSpPr>
            <p:cNvPr id="19" name="TextBox 19"/>
            <p:cNvSpPr txBox="1"/>
            <p:nvPr/>
          </p:nvSpPr>
          <p:spPr>
            <a:xfrm>
              <a:off x="755523" y="2757964"/>
              <a:ext cx="613299"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Charts</a:t>
              </a:r>
            </a:p>
          </p:txBody>
        </p:sp>
        <p:sp>
          <p:nvSpPr>
            <p:cNvPr id="20" name="TextBox 20"/>
            <p:cNvSpPr txBox="1"/>
            <p:nvPr/>
          </p:nvSpPr>
          <p:spPr>
            <a:xfrm>
              <a:off x="2851404" y="2766060"/>
              <a:ext cx="3423145"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TradingView Lightweight Charts · Recharts</a:t>
              </a:r>
            </a:p>
          </p:txBody>
        </p:sp>
        <p:sp>
          <p:nvSpPr>
            <p:cNvPr id="21" name="TextBox 21"/>
            <p:cNvSpPr txBox="1"/>
            <p:nvPr/>
          </p:nvSpPr>
          <p:spPr>
            <a:xfrm>
              <a:off x="7614285" y="2774156"/>
              <a:ext cx="2299930"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Purpose-built for OHLCV, free</a:t>
              </a:r>
            </a:p>
          </p:txBody>
        </p:sp>
        <p:sp>
          <p:nvSpPr>
            <p:cNvPr id="22" name="Line 22"/>
            <p:cNvSpPr/>
            <p:nvPr/>
          </p:nvSpPr>
          <p:spPr>
            <a:xfrm>
              <a:off x="762000" y="3067050"/>
              <a:ext cx="10668000" cy="9525"/>
            </a:xfrm>
            <a:custGeom>
              <a:avLst/>
              <a:gdLst/>
              <a:ahLst/>
              <a:cxnLst/>
              <a:rect l="l" t="t" r="r" b="b"/>
              <a:pathLst>
                <a:path w="10668000" h="9525">
                  <a:moveTo>
                    <a:pt x="0" y="0"/>
                  </a:moveTo>
                  <a:lnTo>
                    <a:pt x="10668000" y="0"/>
                  </a:lnTo>
                </a:path>
              </a:pathLst>
            </a:custGeom>
            <a:noFill/>
            <a:ln w="9525">
              <a:solidFill>
                <a:srgbClr val="EAEEF3"/>
              </a:solidFill>
            </a:ln>
          </p:spPr>
        </p:sp>
        <p:sp>
          <p:nvSpPr>
            <p:cNvPr id="23" name="TextBox 23"/>
            <p:cNvSpPr txBox="1"/>
            <p:nvPr/>
          </p:nvSpPr>
          <p:spPr>
            <a:xfrm>
              <a:off x="755523" y="3177064"/>
              <a:ext cx="279547"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API</a:t>
              </a:r>
            </a:p>
          </p:txBody>
        </p:sp>
        <p:sp>
          <p:nvSpPr>
            <p:cNvPr id="24" name="TextBox 24"/>
            <p:cNvSpPr txBox="1"/>
            <p:nvPr/>
          </p:nvSpPr>
          <p:spPr>
            <a:xfrm>
              <a:off x="2851404" y="3185160"/>
              <a:ext cx="1753585"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FastAPI · Python 3.12</a:t>
              </a:r>
            </a:p>
          </p:txBody>
        </p:sp>
        <p:sp>
          <p:nvSpPr>
            <p:cNvPr id="25" name="TextBox 25"/>
            <p:cNvSpPr txBox="1"/>
            <p:nvPr/>
          </p:nvSpPr>
          <p:spPr>
            <a:xfrm>
              <a:off x="7614285" y="3193256"/>
              <a:ext cx="3492355"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Async, typed, auto-OpenAPI, quant ecosystem</a:t>
              </a:r>
            </a:p>
          </p:txBody>
        </p:sp>
        <p:sp>
          <p:nvSpPr>
            <p:cNvPr id="26" name="Line 26"/>
            <p:cNvSpPr/>
            <p:nvPr/>
          </p:nvSpPr>
          <p:spPr>
            <a:xfrm>
              <a:off x="762000" y="3486150"/>
              <a:ext cx="10668000" cy="9525"/>
            </a:xfrm>
            <a:custGeom>
              <a:avLst/>
              <a:gdLst/>
              <a:ahLst/>
              <a:cxnLst/>
              <a:rect l="l" t="t" r="r" b="b"/>
              <a:pathLst>
                <a:path w="10668000" h="9525">
                  <a:moveTo>
                    <a:pt x="0" y="0"/>
                  </a:moveTo>
                  <a:lnTo>
                    <a:pt x="10668000" y="0"/>
                  </a:lnTo>
                </a:path>
              </a:pathLst>
            </a:custGeom>
            <a:noFill/>
            <a:ln w="9525">
              <a:solidFill>
                <a:srgbClr val="EAEEF3"/>
              </a:solidFill>
            </a:ln>
          </p:spPr>
        </p:sp>
        <p:sp>
          <p:nvSpPr>
            <p:cNvPr id="27" name="TextBox 27"/>
            <p:cNvSpPr txBox="1"/>
            <p:nvPr/>
          </p:nvSpPr>
          <p:spPr>
            <a:xfrm>
              <a:off x="755523" y="3596164"/>
              <a:ext cx="514177"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Batch</a:t>
              </a:r>
            </a:p>
          </p:txBody>
        </p:sp>
        <p:sp>
          <p:nvSpPr>
            <p:cNvPr id="28" name="TextBox 28"/>
            <p:cNvSpPr txBox="1"/>
            <p:nvPr/>
          </p:nvSpPr>
          <p:spPr>
            <a:xfrm>
              <a:off x="2851404" y="3604260"/>
              <a:ext cx="2403691"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APScheduler — in-process cron</a:t>
              </a:r>
            </a:p>
          </p:txBody>
        </p:sp>
        <p:sp>
          <p:nvSpPr>
            <p:cNvPr id="29" name="TextBox 29"/>
            <p:cNvSpPr txBox="1"/>
            <p:nvPr/>
          </p:nvSpPr>
          <p:spPr>
            <a:xfrm>
              <a:off x="7614285" y="3612356"/>
              <a:ext cx="3580519"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One daily job; Airflow would be over-engineering</a:t>
              </a:r>
            </a:p>
          </p:txBody>
        </p:sp>
        <p:sp>
          <p:nvSpPr>
            <p:cNvPr id="30" name="Line 30"/>
            <p:cNvSpPr/>
            <p:nvPr/>
          </p:nvSpPr>
          <p:spPr>
            <a:xfrm>
              <a:off x="762000" y="3905250"/>
              <a:ext cx="10668000" cy="9525"/>
            </a:xfrm>
            <a:custGeom>
              <a:avLst/>
              <a:gdLst/>
              <a:ahLst/>
              <a:cxnLst/>
              <a:rect l="l" t="t" r="r" b="b"/>
              <a:pathLst>
                <a:path w="10668000" h="9525">
                  <a:moveTo>
                    <a:pt x="0" y="0"/>
                  </a:moveTo>
                  <a:lnTo>
                    <a:pt x="10668000" y="0"/>
                  </a:lnTo>
                </a:path>
              </a:pathLst>
            </a:custGeom>
            <a:noFill/>
            <a:ln w="9525">
              <a:solidFill>
                <a:srgbClr val="EAEEF3"/>
              </a:solidFill>
            </a:ln>
          </p:spPr>
        </p:sp>
        <p:sp>
          <p:nvSpPr>
            <p:cNvPr id="31" name="TextBox 31"/>
            <p:cNvSpPr txBox="1"/>
            <p:nvPr/>
          </p:nvSpPr>
          <p:spPr>
            <a:xfrm>
              <a:off x="755523" y="4015264"/>
              <a:ext cx="811544"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Database</a:t>
              </a:r>
            </a:p>
          </p:txBody>
        </p:sp>
        <p:sp>
          <p:nvSpPr>
            <p:cNvPr id="32" name="TextBox 32"/>
            <p:cNvSpPr txBox="1"/>
            <p:nvPr/>
          </p:nvSpPr>
          <p:spPr>
            <a:xfrm>
              <a:off x="2851404" y="4023360"/>
              <a:ext cx="2086051"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PostgreSQL + TimescaleDB</a:t>
              </a:r>
            </a:p>
          </p:txBody>
        </p:sp>
        <p:sp>
          <p:nvSpPr>
            <p:cNvPr id="33" name="TextBox 33"/>
            <p:cNvSpPr txBox="1"/>
            <p:nvPr/>
          </p:nvSpPr>
          <p:spPr>
            <a:xfrm>
              <a:off x="7614285" y="4031456"/>
              <a:ext cx="3575612"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One store: relational + time-series hypertables</a:t>
              </a:r>
            </a:p>
          </p:txBody>
        </p:sp>
        <p:sp>
          <p:nvSpPr>
            <p:cNvPr id="34" name="Line 34"/>
            <p:cNvSpPr/>
            <p:nvPr/>
          </p:nvSpPr>
          <p:spPr>
            <a:xfrm>
              <a:off x="762000" y="4324350"/>
              <a:ext cx="10668000" cy="9525"/>
            </a:xfrm>
            <a:custGeom>
              <a:avLst/>
              <a:gdLst/>
              <a:ahLst/>
              <a:cxnLst/>
              <a:rect l="l" t="t" r="r" b="b"/>
              <a:pathLst>
                <a:path w="10668000" h="9525">
                  <a:moveTo>
                    <a:pt x="0" y="0"/>
                  </a:moveTo>
                  <a:lnTo>
                    <a:pt x="10668000" y="0"/>
                  </a:lnTo>
                </a:path>
              </a:pathLst>
            </a:custGeom>
            <a:noFill/>
            <a:ln w="9525">
              <a:solidFill>
                <a:srgbClr val="EAEEF3"/>
              </a:solidFill>
            </a:ln>
          </p:spPr>
        </p:sp>
        <p:sp>
          <p:nvSpPr>
            <p:cNvPr id="35" name="TextBox 35"/>
            <p:cNvSpPr txBox="1"/>
            <p:nvPr/>
          </p:nvSpPr>
          <p:spPr>
            <a:xfrm>
              <a:off x="755523" y="4434364"/>
              <a:ext cx="1126140"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Cache / Auth</a:t>
              </a:r>
            </a:p>
          </p:txBody>
        </p:sp>
        <p:sp>
          <p:nvSpPr>
            <p:cNvPr id="36" name="TextBox 36"/>
            <p:cNvSpPr txBox="1"/>
            <p:nvPr/>
          </p:nvSpPr>
          <p:spPr>
            <a:xfrm>
              <a:off x="2851404" y="4442460"/>
              <a:ext cx="2632573"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Redis · cookie (web) + JWT (iOS)</a:t>
              </a:r>
            </a:p>
          </p:txBody>
        </p:sp>
        <p:sp>
          <p:nvSpPr>
            <p:cNvPr id="37" name="TextBox 37"/>
            <p:cNvSpPr txBox="1"/>
            <p:nvPr/>
          </p:nvSpPr>
          <p:spPr>
            <a:xfrm>
              <a:off x="7614285" y="4450556"/>
              <a:ext cx="3954372"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Read-path cache; one verifier, two token strategies</a:t>
              </a:r>
            </a:p>
          </p:txBody>
        </p:sp>
        <p:sp>
          <p:nvSpPr>
            <p:cNvPr id="38" name="Line 38"/>
            <p:cNvSpPr/>
            <p:nvPr/>
          </p:nvSpPr>
          <p:spPr>
            <a:xfrm>
              <a:off x="762000" y="4743450"/>
              <a:ext cx="10668000" cy="9525"/>
            </a:xfrm>
            <a:custGeom>
              <a:avLst/>
              <a:gdLst/>
              <a:ahLst/>
              <a:cxnLst/>
              <a:rect l="l" t="t" r="r" b="b"/>
              <a:pathLst>
                <a:path w="10668000" h="9525">
                  <a:moveTo>
                    <a:pt x="0" y="0"/>
                  </a:moveTo>
                  <a:lnTo>
                    <a:pt x="10668000" y="0"/>
                  </a:lnTo>
                </a:path>
              </a:pathLst>
            </a:custGeom>
            <a:noFill/>
            <a:ln w="9525">
              <a:solidFill>
                <a:srgbClr val="EAEEF3"/>
              </a:solidFill>
            </a:ln>
          </p:spPr>
        </p:sp>
        <p:sp>
          <p:nvSpPr>
            <p:cNvPr id="39" name="TextBox 39"/>
            <p:cNvSpPr txBox="1"/>
            <p:nvPr/>
          </p:nvSpPr>
          <p:spPr>
            <a:xfrm>
              <a:off x="755523" y="4853464"/>
              <a:ext cx="451609"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News</a:t>
              </a:r>
            </a:p>
          </p:txBody>
        </p:sp>
        <p:sp>
          <p:nvSpPr>
            <p:cNvPr id="40" name="TextBox 40"/>
            <p:cNvSpPr txBox="1"/>
            <p:nvPr/>
          </p:nvSpPr>
          <p:spPr>
            <a:xfrm>
              <a:off x="2851404" y="4861560"/>
              <a:ext cx="2644914"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GDELT primary + VADER sentiment</a:t>
              </a:r>
            </a:p>
          </p:txBody>
        </p:sp>
        <p:sp>
          <p:nvSpPr>
            <p:cNvPr id="41" name="TextBox 41"/>
            <p:cNvSpPr txBox="1"/>
            <p:nvPr/>
          </p:nvSpPr>
          <p:spPr>
            <a:xfrm>
              <a:off x="7614285" y="4869656"/>
              <a:ext cx="4134436"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Free, no per-request cap; NewsAPI optional enrichment</a:t>
              </a:r>
            </a:p>
          </p:txBody>
        </p:sp>
        <p:sp>
          <p:nvSpPr>
            <p:cNvPr id="42" name="Line 42"/>
            <p:cNvSpPr/>
            <p:nvPr/>
          </p:nvSpPr>
          <p:spPr>
            <a:xfrm>
              <a:off x="762000" y="5162550"/>
              <a:ext cx="10668000" cy="9525"/>
            </a:xfrm>
            <a:custGeom>
              <a:avLst/>
              <a:gdLst/>
              <a:ahLst/>
              <a:cxnLst/>
              <a:rect l="l" t="t" r="r" b="b"/>
              <a:pathLst>
                <a:path w="10668000" h="9525">
                  <a:moveTo>
                    <a:pt x="0" y="0"/>
                  </a:moveTo>
                  <a:lnTo>
                    <a:pt x="10668000" y="0"/>
                  </a:lnTo>
                </a:path>
              </a:pathLst>
            </a:custGeom>
            <a:noFill/>
            <a:ln w="9525">
              <a:solidFill>
                <a:srgbClr val="EAEEF3"/>
              </a:solidFill>
            </a:ln>
          </p:spPr>
        </p:sp>
        <p:sp>
          <p:nvSpPr>
            <p:cNvPr id="43" name="TextBox 43"/>
            <p:cNvSpPr txBox="1"/>
            <p:nvPr/>
          </p:nvSpPr>
          <p:spPr>
            <a:xfrm>
              <a:off x="755523" y="5272564"/>
              <a:ext cx="667001"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Hosting</a:t>
              </a:r>
            </a:p>
          </p:txBody>
        </p:sp>
        <p:sp>
          <p:nvSpPr>
            <p:cNvPr id="44" name="TextBox 44"/>
            <p:cNvSpPr txBox="1"/>
            <p:nvPr/>
          </p:nvSpPr>
          <p:spPr>
            <a:xfrm>
              <a:off x="2851404" y="5280660"/>
              <a:ext cx="3119297"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Single VM · Docker Compose · ~$20 / mo</a:t>
              </a:r>
            </a:p>
          </p:txBody>
        </p:sp>
        <p:sp>
          <p:nvSpPr>
            <p:cNvPr id="45" name="TextBox 45"/>
            <p:cNvSpPr txBox="1"/>
            <p:nvPr/>
          </p:nvSpPr>
          <p:spPr>
            <a:xfrm>
              <a:off x="7614285" y="5288756"/>
              <a:ext cx="2459958"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Single-user scale; no Kubernetes</a:t>
              </a:r>
            </a:p>
          </p:txBody>
        </p:sp>
        <p:sp>
          <p:nvSpPr>
            <p:cNvPr id="46" name="Line 46"/>
            <p:cNvSpPr/>
            <p:nvPr/>
          </p:nvSpPr>
          <p:spPr>
            <a:xfrm>
              <a:off x="762000" y="5581650"/>
              <a:ext cx="10668000" cy="9525"/>
            </a:xfrm>
            <a:custGeom>
              <a:avLst/>
              <a:gdLst/>
              <a:ahLst/>
              <a:cxnLst/>
              <a:rect l="l" t="t" r="r" b="b"/>
              <a:pathLst>
                <a:path w="10668000" h="9525">
                  <a:moveTo>
                    <a:pt x="0" y="0"/>
                  </a:moveTo>
                  <a:lnTo>
                    <a:pt x="10668000" y="0"/>
                  </a:lnTo>
                </a:path>
              </a:pathLst>
            </a:custGeom>
            <a:noFill/>
            <a:ln w="9525">
              <a:solidFill>
                <a:srgbClr val="EAEEF3"/>
              </a:solidFill>
            </a:ln>
          </p:spPr>
        </p:sp>
      </p:grpSp>
      <p:grpSp>
        <p:nvGrpSpPr>
          <p:cNvPr id="49" name="Group 49"/>
          <p:cNvGrpSpPr/>
          <p:nvPr/>
        </p:nvGrpSpPr>
        <p:grpSpPr>
          <a:xfrm>
            <a:off x="755904" y="5852160"/>
            <a:ext cx="9307154" cy="234696"/>
            <a:chOff x="755904" y="5852160"/>
            <a:chExt cx="9307154" cy="234696"/>
          </a:xfrm>
        </p:grpSpPr>
        <p:sp>
          <p:nvSpPr>
            <p:cNvPr id="48" name="TextBox 48"/>
            <p:cNvSpPr txBox="1"/>
            <p:nvPr/>
          </p:nvSpPr>
          <p:spPr>
            <a:xfrm>
              <a:off x="755904" y="5852160"/>
              <a:ext cx="9307154" cy="234696"/>
            </a:xfrm>
            <a:prstGeom prst="rect">
              <a:avLst/>
            </a:prstGeom>
            <a:noFill/>
            <a:ln>
              <a:noFill/>
            </a:ln>
          </p:spPr>
          <p:txBody>
            <a:bodyPr wrap="none" lIns="0" tIns="0" rIns="0" bIns="0" anchor="t" anchorCtr="0">
              <a:spAutoFit/>
            </a:bodyPr>
            <a:lstStyle/>
            <a:p>
              <a:pPr algn="l"/>
              <a:r>
                <a:rPr lang="en-US" sz="1200" dirty="0">
                  <a:solidFill>
                    <a:srgbClr val="0E9AA7"/>
                  </a:solidFill>
                  <a:latin typeface="Arial"/>
                  <a:ea typeface="Arial"/>
                  <a:cs typeface="Arial"/>
                </a:rPr>
                <a:t xml:space="preserve">Design principle: </a:t>
              </a:r>
              <a:r>
                <a:rPr lang="en-US" sz="1200" b="1" dirty="0">
                  <a:solidFill>
                    <a:srgbClr val="0F2A43"/>
                  </a:solidFill>
                  <a:latin typeface="Arial"/>
                  <a:ea typeface="Arial"/>
                  <a:cs typeface="Arial"/>
                </a:rPr>
                <a:t>boring, cheap and well-documented</a:t>
              </a:r>
              <a:r>
                <a:rPr lang="en-US" sz="1200" dirty="0">
                  <a:solidFill>
                    <a:srgbClr val="0E9AA7"/>
                  </a:solidFill>
                  <a:latin typeface="Arial"/>
                  <a:ea typeface="Arial"/>
                  <a:cs typeface="Arial"/>
                </a:rPr>
                <a:t xml:space="preserve"> over scalable and exotic — the app serves one user, once a day.</a:t>
              </a:r>
            </a:p>
          </p:txBody>
        </p:sp>
      </p:grpSp>
      <p:grpSp>
        <p:nvGrpSpPr>
          <p:cNvPr id="53" name="Group 53"/>
          <p:cNvGrpSpPr/>
          <p:nvPr/>
        </p:nvGrpSpPr>
        <p:grpSpPr>
          <a:xfrm>
            <a:off x="757047" y="6477000"/>
            <a:ext cx="10677906" cy="285464"/>
            <a:chOff x="757047" y="6477000"/>
            <a:chExt cx="10677906" cy="285464"/>
          </a:xfrm>
        </p:grpSpPr>
        <p:sp>
          <p:nvSpPr>
            <p:cNvPr id="50" name="Line 50"/>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51" name="TextBox 51"/>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52" name="TextBox 52"/>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09 / 17</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50570" y="515302"/>
            <a:ext cx="10889902" cy="710565"/>
            <a:chOff x="750570" y="515302"/>
            <a:chExt cx="10889902" cy="710565"/>
          </a:xfrm>
        </p:grpSpPr>
        <p:sp>
          <p:nvSpPr>
            <p:cNvPr id="3" name="TextBox 3"/>
            <p:cNvSpPr txBox="1"/>
            <p:nvPr/>
          </p:nvSpPr>
          <p:spPr>
            <a:xfrm>
              <a:off x="756666" y="515302"/>
              <a:ext cx="1752752"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DATA MODEL · §20</a:t>
              </a:r>
            </a:p>
          </p:txBody>
        </p:sp>
        <p:sp>
          <p:nvSpPr>
            <p:cNvPr id="4" name="TextBox 4"/>
            <p:cNvSpPr txBox="1"/>
            <p:nvPr/>
          </p:nvSpPr>
          <p:spPr>
            <a:xfrm>
              <a:off x="750570" y="785812"/>
              <a:ext cx="10889902" cy="440055"/>
            </a:xfrm>
            <a:prstGeom prst="rect">
              <a:avLst/>
            </a:prstGeom>
            <a:noFill/>
            <a:ln>
              <a:noFill/>
            </a:ln>
          </p:spPr>
          <p:txBody>
            <a:bodyPr wrap="none" lIns="0" tIns="0" rIns="0" bIns="0" anchor="t" anchorCtr="0">
              <a:spAutoFit/>
            </a:bodyPr>
            <a:lstStyle/>
            <a:p>
              <a:pPr algn="l"/>
              <a:r>
                <a:rPr lang="en-US" sz="2250" b="1" dirty="0">
                  <a:solidFill>
                    <a:srgbClr val="0F2A43"/>
                  </a:solidFill>
                  <a:latin typeface="Arial"/>
                  <a:ea typeface="Arial"/>
                  <a:cs typeface="Arial"/>
                </a:rPr>
                <a:t>One Postgres + TimescaleDB schema holds facts, signals and decisions</a:t>
              </a:r>
            </a:p>
          </p:txBody>
        </p:sp>
      </p:grpSp>
      <p:grpSp>
        <p:nvGrpSpPr>
          <p:cNvPr id="26" name="Group 26"/>
          <p:cNvGrpSpPr/>
          <p:nvPr/>
        </p:nvGrpSpPr>
        <p:grpSpPr>
          <a:xfrm>
            <a:off x="757047" y="1323499"/>
            <a:ext cx="3148203" cy="3441858"/>
            <a:chOff x="757047" y="1323499"/>
            <a:chExt cx="3148203" cy="3441858"/>
          </a:xfrm>
        </p:grpSpPr>
        <p:sp>
          <p:nvSpPr>
            <p:cNvPr id="6" name="TextBox 6"/>
            <p:cNvSpPr txBox="1"/>
            <p:nvPr/>
          </p:nvSpPr>
          <p:spPr>
            <a:xfrm>
              <a:off x="757047" y="1323499"/>
              <a:ext cx="1152982"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MARKET FACTS</a:t>
              </a:r>
            </a:p>
          </p:txBody>
        </p:sp>
        <p:sp>
          <p:nvSpPr>
            <p:cNvPr id="7" name="Rectangle 7"/>
            <p:cNvSpPr/>
            <p:nvPr/>
          </p:nvSpPr>
          <p:spPr>
            <a:xfrm>
              <a:off x="762000" y="1543050"/>
              <a:ext cx="3143250" cy="704850"/>
            </a:xfrm>
            <a:prstGeom prst="rect">
              <a:avLst/>
            </a:prstGeom>
            <a:solidFill>
              <a:srgbClr val="FFFFFF"/>
            </a:solidFill>
            <a:ln w="14288">
              <a:solidFill>
                <a:srgbClr val="0F2A43"/>
              </a:solidFill>
            </a:ln>
          </p:spPr>
        </p:sp>
        <p:sp>
          <p:nvSpPr>
            <p:cNvPr id="8" name="Rectangle 8"/>
            <p:cNvSpPr/>
            <p:nvPr/>
          </p:nvSpPr>
          <p:spPr>
            <a:xfrm>
              <a:off x="762000" y="1543050"/>
              <a:ext cx="3143250" cy="247650"/>
            </a:xfrm>
            <a:prstGeom prst="rect">
              <a:avLst/>
            </a:prstGeom>
            <a:solidFill>
              <a:srgbClr val="0F2A43"/>
            </a:solidFill>
            <a:ln>
              <a:noFill/>
            </a:ln>
          </p:spPr>
        </p:sp>
        <p:sp>
          <p:nvSpPr>
            <p:cNvPr id="9" name="TextBox 9"/>
            <p:cNvSpPr txBox="1"/>
            <p:nvPr/>
          </p:nvSpPr>
          <p:spPr>
            <a:xfrm>
              <a:off x="889635" y="1602581"/>
              <a:ext cx="893990"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Arial"/>
                  <a:ea typeface="Arial"/>
                  <a:cs typeface="Arial"/>
                </a:rPr>
                <a:t xml:space="preserve">ticker </a:t>
              </a:r>
              <a:r>
                <a:rPr lang="en-US" sz="900" b="1" dirty="0">
                  <a:solidFill>
                    <a:srgbClr val="8FB4F5"/>
                  </a:solidFill>
                  <a:latin typeface="Arial"/>
                  <a:ea typeface="Arial"/>
                  <a:cs typeface="Arial"/>
                </a:rPr>
                <a:t>(hub)</a:t>
              </a:r>
            </a:p>
          </p:txBody>
        </p:sp>
        <p:sp>
          <p:nvSpPr>
            <p:cNvPr id="10" name="TextBox 10"/>
            <p:cNvSpPr txBox="1"/>
            <p:nvPr/>
          </p:nvSpPr>
          <p:spPr>
            <a:xfrm>
              <a:off x="890397" y="1875949"/>
              <a:ext cx="1621282"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id PK · symbol · exchange</a:t>
              </a:r>
            </a:p>
          </p:txBody>
        </p:sp>
        <p:sp>
          <p:nvSpPr>
            <p:cNvPr id="11" name="TextBox 11"/>
            <p:cNvSpPr txBox="1"/>
            <p:nvPr/>
          </p:nvSpPr>
          <p:spPr>
            <a:xfrm>
              <a:off x="890397" y="2047399"/>
              <a:ext cx="2277027"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full_symbol UNIQUE · name · sector</a:t>
              </a:r>
            </a:p>
          </p:txBody>
        </p:sp>
        <p:sp>
          <p:nvSpPr>
            <p:cNvPr id="12" name="TextBox 12"/>
            <p:cNvSpPr txBox="1"/>
            <p:nvPr/>
          </p:nvSpPr>
          <p:spPr>
            <a:xfrm>
              <a:off x="757238" y="2398395"/>
              <a:ext cx="2324557" cy="176212"/>
            </a:xfrm>
            <a:prstGeom prst="rect">
              <a:avLst/>
            </a:prstGeom>
            <a:noFill/>
            <a:ln>
              <a:noFill/>
            </a:ln>
          </p:spPr>
          <p:txBody>
            <a:bodyPr wrap="none" lIns="0" tIns="0" rIns="0" bIns="0" anchor="t" anchorCtr="0">
              <a:spAutoFit/>
            </a:bodyPr>
            <a:lstStyle/>
            <a:p>
              <a:pPr algn="l"/>
              <a:r>
                <a:rPr lang="en-US" sz="900" dirty="0">
                  <a:solidFill>
                    <a:srgbClr val="5B6B7B"/>
                  </a:solidFill>
                  <a:latin typeface="Arial"/>
                  <a:ea typeface="Arial"/>
                  <a:cs typeface="Arial"/>
                </a:rPr>
                <a:t>Per-ticker fact tables — all FK → ticker</a:t>
              </a:r>
            </a:p>
          </p:txBody>
        </p:sp>
        <p:sp>
          <p:nvSpPr>
            <p:cNvPr id="13" name="Rectangle 13"/>
            <p:cNvSpPr/>
            <p:nvPr/>
          </p:nvSpPr>
          <p:spPr>
            <a:xfrm>
              <a:off x="762000" y="2590800"/>
              <a:ext cx="3143250" cy="285750"/>
            </a:xfrm>
            <a:prstGeom prst="rect">
              <a:avLst/>
            </a:prstGeom>
            <a:solidFill>
              <a:srgbClr val="F3F5F8"/>
            </a:solidFill>
            <a:ln>
              <a:noFill/>
            </a:ln>
          </p:spPr>
        </p:sp>
        <p:sp>
          <p:nvSpPr>
            <p:cNvPr id="14" name="TextBox 14"/>
            <p:cNvSpPr txBox="1"/>
            <p:nvPr/>
          </p:nvSpPr>
          <p:spPr>
            <a:xfrm>
              <a:off x="890397" y="2676049"/>
              <a:ext cx="1741619" cy="190690"/>
            </a:xfrm>
            <a:prstGeom prst="rect">
              <a:avLst/>
            </a:prstGeom>
            <a:noFill/>
            <a:ln>
              <a:noFill/>
            </a:ln>
          </p:spPr>
          <p:txBody>
            <a:bodyPr wrap="none" lIns="0" tIns="0" rIns="0" bIns="0" anchor="t" anchorCtr="0">
              <a:spAutoFit/>
            </a:bodyPr>
            <a:lstStyle/>
            <a:p>
              <a:pPr algn="l"/>
              <a:r>
                <a:rPr lang="en-US" sz="980" b="1" dirty="0">
                  <a:solidFill>
                    <a:srgbClr val="0F2A43"/>
                  </a:solidFill>
                  <a:latin typeface="Arial"/>
                  <a:ea typeface="Arial"/>
                  <a:cs typeface="Arial"/>
                </a:rPr>
                <a:t>price_bar *</a:t>
              </a:r>
              <a:r>
                <a:rPr lang="en-US" sz="980" dirty="0">
                  <a:solidFill>
                    <a:srgbClr val="0F2A43"/>
                  </a:solidFill>
                  <a:latin typeface="Arial"/>
                  <a:ea typeface="Arial"/>
                  <a:cs typeface="Arial"/>
                </a:rPr>
                <a:t xml:space="preserve"> — date, OHLCV</a:t>
              </a:r>
            </a:p>
          </p:txBody>
        </p:sp>
        <p:sp>
          <p:nvSpPr>
            <p:cNvPr id="15" name="Rectangle 15"/>
            <p:cNvSpPr/>
            <p:nvPr/>
          </p:nvSpPr>
          <p:spPr>
            <a:xfrm>
              <a:off x="762000" y="2914650"/>
              <a:ext cx="3143250" cy="285750"/>
            </a:xfrm>
            <a:prstGeom prst="rect">
              <a:avLst/>
            </a:prstGeom>
            <a:solidFill>
              <a:srgbClr val="F3F5F8"/>
            </a:solidFill>
            <a:ln>
              <a:noFill/>
            </a:ln>
          </p:spPr>
        </p:sp>
        <p:sp>
          <p:nvSpPr>
            <p:cNvPr id="16" name="TextBox 16"/>
            <p:cNvSpPr txBox="1"/>
            <p:nvPr/>
          </p:nvSpPr>
          <p:spPr>
            <a:xfrm>
              <a:off x="890397" y="2999899"/>
              <a:ext cx="2992146" cy="190690"/>
            </a:xfrm>
            <a:prstGeom prst="rect">
              <a:avLst/>
            </a:prstGeom>
            <a:noFill/>
            <a:ln>
              <a:noFill/>
            </a:ln>
          </p:spPr>
          <p:txBody>
            <a:bodyPr wrap="none" lIns="0" tIns="0" rIns="0" bIns="0" anchor="t" anchorCtr="0">
              <a:spAutoFit/>
            </a:bodyPr>
            <a:lstStyle/>
            <a:p>
              <a:pPr algn="l"/>
              <a:r>
                <a:rPr lang="en-US" sz="980" b="1" dirty="0">
                  <a:solidFill>
                    <a:srgbClr val="0F2A43"/>
                  </a:solidFill>
                  <a:latin typeface="Arial"/>
                  <a:ea typeface="Arial"/>
                  <a:cs typeface="Arial"/>
                </a:rPr>
                <a:t>technical_indicator *</a:t>
              </a:r>
              <a:r>
                <a:rPr lang="en-US" sz="980" dirty="0">
                  <a:solidFill>
                    <a:srgbClr val="0F2A43"/>
                  </a:solidFill>
                  <a:latin typeface="Arial"/>
                  <a:ea typeface="Arial"/>
                  <a:cs typeface="Arial"/>
                </a:rPr>
                <a:t xml:space="preserve"> — MA, RSI, MACD, score</a:t>
              </a:r>
            </a:p>
          </p:txBody>
        </p:sp>
        <p:sp>
          <p:nvSpPr>
            <p:cNvPr id="17" name="Rectangle 17"/>
            <p:cNvSpPr/>
            <p:nvPr/>
          </p:nvSpPr>
          <p:spPr>
            <a:xfrm>
              <a:off x="762000" y="3238500"/>
              <a:ext cx="3143250" cy="285750"/>
            </a:xfrm>
            <a:prstGeom prst="rect">
              <a:avLst/>
            </a:prstGeom>
            <a:solidFill>
              <a:srgbClr val="F3F5F8"/>
            </a:solidFill>
            <a:ln>
              <a:noFill/>
            </a:ln>
          </p:spPr>
        </p:sp>
        <p:sp>
          <p:nvSpPr>
            <p:cNvPr id="18" name="TextBox 18"/>
            <p:cNvSpPr txBox="1"/>
            <p:nvPr/>
          </p:nvSpPr>
          <p:spPr>
            <a:xfrm>
              <a:off x="890397" y="3323749"/>
              <a:ext cx="2835902" cy="190690"/>
            </a:xfrm>
            <a:prstGeom prst="rect">
              <a:avLst/>
            </a:prstGeom>
            <a:noFill/>
            <a:ln>
              <a:noFill/>
            </a:ln>
          </p:spPr>
          <p:txBody>
            <a:bodyPr wrap="none" lIns="0" tIns="0" rIns="0" bIns="0" anchor="t" anchorCtr="0">
              <a:spAutoFit/>
            </a:bodyPr>
            <a:lstStyle/>
            <a:p>
              <a:pPr algn="l"/>
              <a:r>
                <a:rPr lang="en-US" sz="980" b="1" dirty="0">
                  <a:solidFill>
                    <a:srgbClr val="0F2A43"/>
                  </a:solidFill>
                  <a:latin typeface="Arial"/>
                  <a:ea typeface="Arial"/>
                  <a:cs typeface="Arial"/>
                </a:rPr>
                <a:t>fundamental</a:t>
              </a:r>
              <a:r>
                <a:rPr lang="en-US" sz="980" dirty="0">
                  <a:solidFill>
                    <a:srgbClr val="0F2A43"/>
                  </a:solidFill>
                  <a:latin typeface="Arial"/>
                  <a:ea typeface="Arial"/>
                  <a:cs typeface="Arial"/>
                </a:rPr>
                <a:t xml:space="preserve"> — PE, PB, EPS, margins, score</a:t>
              </a:r>
            </a:p>
          </p:txBody>
        </p:sp>
        <p:sp>
          <p:nvSpPr>
            <p:cNvPr id="19" name="Rectangle 19"/>
            <p:cNvSpPr/>
            <p:nvPr/>
          </p:nvSpPr>
          <p:spPr>
            <a:xfrm>
              <a:off x="762000" y="3562350"/>
              <a:ext cx="3143250" cy="285750"/>
            </a:xfrm>
            <a:prstGeom prst="rect">
              <a:avLst/>
            </a:prstGeom>
            <a:solidFill>
              <a:srgbClr val="F3F5F8"/>
            </a:solidFill>
            <a:ln>
              <a:noFill/>
            </a:ln>
          </p:spPr>
        </p:sp>
        <p:sp>
          <p:nvSpPr>
            <p:cNvPr id="20" name="TextBox 20"/>
            <p:cNvSpPr txBox="1"/>
            <p:nvPr/>
          </p:nvSpPr>
          <p:spPr>
            <a:xfrm>
              <a:off x="890397" y="3647599"/>
              <a:ext cx="2775438" cy="190690"/>
            </a:xfrm>
            <a:prstGeom prst="rect">
              <a:avLst/>
            </a:prstGeom>
            <a:noFill/>
            <a:ln>
              <a:noFill/>
            </a:ln>
          </p:spPr>
          <p:txBody>
            <a:bodyPr wrap="none" lIns="0" tIns="0" rIns="0" bIns="0" anchor="t" anchorCtr="0">
              <a:spAutoFit/>
            </a:bodyPr>
            <a:lstStyle/>
            <a:p>
              <a:pPr algn="l"/>
              <a:r>
                <a:rPr lang="en-US" sz="980" b="1" dirty="0">
                  <a:solidFill>
                    <a:srgbClr val="0F2A43"/>
                  </a:solidFill>
                  <a:latin typeface="Arial"/>
                  <a:ea typeface="Arial"/>
                  <a:cs typeface="Arial"/>
                </a:rPr>
                <a:t>chip_data_tw *</a:t>
              </a:r>
              <a:r>
                <a:rPr lang="en-US" sz="980" dirty="0">
                  <a:solidFill>
                    <a:srgbClr val="0F2A43"/>
                  </a:solidFill>
                  <a:latin typeface="Arial"/>
                  <a:ea typeface="Arial"/>
                  <a:cs typeface="Arial"/>
                </a:rPr>
                <a:t xml:space="preserve"> — inst nets, margin, score</a:t>
              </a:r>
            </a:p>
          </p:txBody>
        </p:sp>
        <p:sp>
          <p:nvSpPr>
            <p:cNvPr id="21" name="Rectangle 21"/>
            <p:cNvSpPr/>
            <p:nvPr/>
          </p:nvSpPr>
          <p:spPr>
            <a:xfrm>
              <a:off x="762000" y="3886200"/>
              <a:ext cx="3143250" cy="285750"/>
            </a:xfrm>
            <a:prstGeom prst="rect">
              <a:avLst/>
            </a:prstGeom>
            <a:solidFill>
              <a:srgbClr val="F3F5F8"/>
            </a:solidFill>
            <a:ln>
              <a:noFill/>
            </a:ln>
          </p:spPr>
        </p:sp>
        <p:sp>
          <p:nvSpPr>
            <p:cNvPr id="22" name="TextBox 22"/>
            <p:cNvSpPr txBox="1"/>
            <p:nvPr/>
          </p:nvSpPr>
          <p:spPr>
            <a:xfrm>
              <a:off x="890397" y="3971449"/>
              <a:ext cx="2543131" cy="190690"/>
            </a:xfrm>
            <a:prstGeom prst="rect">
              <a:avLst/>
            </a:prstGeom>
            <a:noFill/>
            <a:ln>
              <a:noFill/>
            </a:ln>
          </p:spPr>
          <p:txBody>
            <a:bodyPr wrap="none" lIns="0" tIns="0" rIns="0" bIns="0" anchor="t" anchorCtr="0">
              <a:spAutoFit/>
            </a:bodyPr>
            <a:lstStyle/>
            <a:p>
              <a:pPr algn="l"/>
              <a:r>
                <a:rPr lang="en-US" sz="980" b="1" dirty="0">
                  <a:solidFill>
                    <a:srgbClr val="0F2A43"/>
                  </a:solidFill>
                  <a:latin typeface="Arial"/>
                  <a:ea typeface="Arial"/>
                  <a:cs typeface="Arial"/>
                </a:rPr>
                <a:t>institutional_position_us</a:t>
              </a:r>
              <a:r>
                <a:rPr lang="en-US" sz="980" dirty="0">
                  <a:solidFill>
                    <a:srgbClr val="0F2A43"/>
                  </a:solidFill>
                  <a:latin typeface="Arial"/>
                  <a:ea typeface="Arial"/>
                  <a:cs typeface="Arial"/>
                </a:rPr>
                <a:t xml:space="preserve"> — 13F, score</a:t>
              </a:r>
            </a:p>
          </p:txBody>
        </p:sp>
        <p:sp>
          <p:nvSpPr>
            <p:cNvPr id="23" name="Rectangle 23"/>
            <p:cNvSpPr/>
            <p:nvPr/>
          </p:nvSpPr>
          <p:spPr>
            <a:xfrm>
              <a:off x="762000" y="4210050"/>
              <a:ext cx="3143250" cy="285750"/>
            </a:xfrm>
            <a:prstGeom prst="rect">
              <a:avLst/>
            </a:prstGeom>
            <a:solidFill>
              <a:srgbClr val="F3F5F8"/>
            </a:solidFill>
            <a:ln>
              <a:noFill/>
            </a:ln>
          </p:spPr>
        </p:sp>
        <p:sp>
          <p:nvSpPr>
            <p:cNvPr id="24" name="TextBox 24"/>
            <p:cNvSpPr txBox="1"/>
            <p:nvPr/>
          </p:nvSpPr>
          <p:spPr>
            <a:xfrm>
              <a:off x="890397" y="4295299"/>
              <a:ext cx="2602839" cy="190690"/>
            </a:xfrm>
            <a:prstGeom prst="rect">
              <a:avLst/>
            </a:prstGeom>
            <a:noFill/>
            <a:ln>
              <a:noFill/>
            </a:ln>
          </p:spPr>
          <p:txBody>
            <a:bodyPr wrap="none" lIns="0" tIns="0" rIns="0" bIns="0" anchor="t" anchorCtr="0">
              <a:spAutoFit/>
            </a:bodyPr>
            <a:lstStyle/>
            <a:p>
              <a:pPr algn="l"/>
              <a:r>
                <a:rPr lang="en-US" sz="980" b="1" dirty="0">
                  <a:solidFill>
                    <a:srgbClr val="0F2A43"/>
                  </a:solidFill>
                  <a:latin typeface="Arial"/>
                  <a:ea typeface="Arial"/>
                  <a:cs typeface="Arial"/>
                </a:rPr>
                <a:t>news_item</a:t>
              </a:r>
              <a:r>
                <a:rPr lang="en-US" sz="980" dirty="0">
                  <a:solidFill>
                    <a:srgbClr val="0F2A43"/>
                  </a:solidFill>
                  <a:latin typeface="Arial"/>
                  <a:ea typeface="Arial"/>
                  <a:cs typeface="Arial"/>
                </a:rPr>
                <a:t xml:space="preserve"> — headline, sentiment, score</a:t>
              </a:r>
            </a:p>
          </p:txBody>
        </p:sp>
        <p:sp>
          <p:nvSpPr>
            <p:cNvPr id="25" name="TextBox 25"/>
            <p:cNvSpPr txBox="1"/>
            <p:nvPr/>
          </p:nvSpPr>
          <p:spPr>
            <a:xfrm>
              <a:off x="757238" y="4589145"/>
              <a:ext cx="2770203" cy="176212"/>
            </a:xfrm>
            <a:prstGeom prst="rect">
              <a:avLst/>
            </a:prstGeom>
            <a:noFill/>
            <a:ln>
              <a:noFill/>
            </a:ln>
          </p:spPr>
          <p:txBody>
            <a:bodyPr wrap="none" lIns="0" tIns="0" rIns="0" bIns="0" anchor="t" anchorCtr="0">
              <a:spAutoFit/>
            </a:bodyPr>
            <a:lstStyle/>
            <a:p>
              <a:pPr algn="l"/>
              <a:r>
                <a:rPr lang="en-US" sz="900" dirty="0">
                  <a:solidFill>
                    <a:srgbClr val="0E9AA7"/>
                  </a:solidFill>
                  <a:latin typeface="Arial"/>
                  <a:ea typeface="Arial"/>
                  <a:cs typeface="Arial"/>
                </a:rPr>
                <a:t>* = Timescale hypertable (partitioned by date)</a:t>
              </a:r>
            </a:p>
          </p:txBody>
        </p:sp>
      </p:grpSp>
      <p:grpSp>
        <p:nvGrpSpPr>
          <p:cNvPr id="49" name="Group 49"/>
          <p:cNvGrpSpPr/>
          <p:nvPr/>
        </p:nvGrpSpPr>
        <p:grpSpPr>
          <a:xfrm>
            <a:off x="4300347" y="1323499"/>
            <a:ext cx="3471743" cy="4505801"/>
            <a:chOff x="4300347" y="1323499"/>
            <a:chExt cx="3471743" cy="4505801"/>
          </a:xfrm>
        </p:grpSpPr>
        <p:sp>
          <p:nvSpPr>
            <p:cNvPr id="27" name="TextBox 27"/>
            <p:cNvSpPr txBox="1"/>
            <p:nvPr/>
          </p:nvSpPr>
          <p:spPr>
            <a:xfrm>
              <a:off x="4300347" y="1323499"/>
              <a:ext cx="1920545"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DECISION &amp; EVALUATION</a:t>
              </a:r>
            </a:p>
          </p:txBody>
        </p:sp>
        <p:sp>
          <p:nvSpPr>
            <p:cNvPr id="28" name="Rectangle 28"/>
            <p:cNvSpPr/>
            <p:nvPr/>
          </p:nvSpPr>
          <p:spPr>
            <a:xfrm>
              <a:off x="4305300" y="1543050"/>
              <a:ext cx="3429000" cy="1428750"/>
            </a:xfrm>
            <a:prstGeom prst="rect">
              <a:avLst/>
            </a:prstGeom>
            <a:solidFill>
              <a:srgbClr val="FFFFFF"/>
            </a:solidFill>
            <a:ln w="14288">
              <a:solidFill>
                <a:srgbClr val="2563EB"/>
              </a:solidFill>
            </a:ln>
          </p:spPr>
        </p:sp>
        <p:sp>
          <p:nvSpPr>
            <p:cNvPr id="29" name="Rectangle 29"/>
            <p:cNvSpPr/>
            <p:nvPr/>
          </p:nvSpPr>
          <p:spPr>
            <a:xfrm>
              <a:off x="4305300" y="1543050"/>
              <a:ext cx="3429000" cy="247650"/>
            </a:xfrm>
            <a:prstGeom prst="rect">
              <a:avLst/>
            </a:prstGeom>
            <a:solidFill>
              <a:srgbClr val="2563EB"/>
            </a:solidFill>
            <a:ln>
              <a:noFill/>
            </a:ln>
          </p:spPr>
        </p:sp>
        <p:sp>
          <p:nvSpPr>
            <p:cNvPr id="30" name="TextBox 30"/>
            <p:cNvSpPr txBox="1"/>
            <p:nvPr/>
          </p:nvSpPr>
          <p:spPr>
            <a:xfrm>
              <a:off x="4432935" y="1602581"/>
              <a:ext cx="1259736"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Arial"/>
                  <a:ea typeface="Arial"/>
                  <a:cs typeface="Arial"/>
                </a:rPr>
                <a:t>recommendation</a:t>
              </a:r>
            </a:p>
          </p:txBody>
        </p:sp>
        <p:sp>
          <p:nvSpPr>
            <p:cNvPr id="31" name="TextBox 31"/>
            <p:cNvSpPr txBox="1"/>
            <p:nvPr/>
          </p:nvSpPr>
          <p:spPr>
            <a:xfrm>
              <a:off x="4433697" y="1875949"/>
              <a:ext cx="1333065"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PK (ticker_id, date)</a:t>
              </a:r>
            </a:p>
          </p:txBody>
        </p:sp>
        <p:sp>
          <p:nvSpPr>
            <p:cNvPr id="32" name="TextBox 32"/>
            <p:cNvSpPr txBox="1"/>
            <p:nvPr/>
          </p:nvSpPr>
          <p:spPr>
            <a:xfrm>
              <a:off x="4433697" y="2066449"/>
              <a:ext cx="2319985"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composite_signal · composite_score</a:t>
              </a:r>
            </a:p>
          </p:txBody>
        </p:sp>
        <p:sp>
          <p:nvSpPr>
            <p:cNvPr id="33" name="TextBox 33"/>
            <p:cNvSpPr txBox="1"/>
            <p:nvPr/>
          </p:nvSpPr>
          <p:spPr>
            <a:xfrm>
              <a:off x="4433697" y="2256949"/>
              <a:ext cx="1985286"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target_price bear / base / bull</a:t>
              </a:r>
            </a:p>
          </p:txBody>
        </p:sp>
        <p:sp>
          <p:nvSpPr>
            <p:cNvPr id="34" name="TextBox 34"/>
            <p:cNvSpPr txBox="1"/>
            <p:nvPr/>
          </p:nvSpPr>
          <p:spPr>
            <a:xfrm>
              <a:off x="4433697" y="2447449"/>
              <a:ext cx="1923228"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per_module_breakdown JSONB</a:t>
              </a:r>
            </a:p>
          </p:txBody>
        </p:sp>
        <p:sp>
          <p:nvSpPr>
            <p:cNvPr id="35" name="TextBox 35"/>
            <p:cNvSpPr txBox="1"/>
            <p:nvPr/>
          </p:nvSpPr>
          <p:spPr>
            <a:xfrm>
              <a:off x="4433697" y="2637949"/>
              <a:ext cx="2713749"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data_completeness · methodology_version</a:t>
              </a:r>
            </a:p>
          </p:txBody>
        </p:sp>
        <p:sp>
          <p:nvSpPr>
            <p:cNvPr id="36" name="Rectangle 36"/>
            <p:cNvSpPr/>
            <p:nvPr/>
          </p:nvSpPr>
          <p:spPr>
            <a:xfrm>
              <a:off x="4305300" y="3352800"/>
              <a:ext cx="3429000" cy="1257300"/>
            </a:xfrm>
            <a:prstGeom prst="rect">
              <a:avLst/>
            </a:prstGeom>
            <a:solidFill>
              <a:srgbClr val="F0FAFB"/>
            </a:solidFill>
            <a:ln w="19050">
              <a:solidFill>
                <a:srgbClr val="0E9AA7"/>
              </a:solidFill>
            </a:ln>
          </p:spPr>
        </p:sp>
        <p:sp>
          <p:nvSpPr>
            <p:cNvPr id="37" name="Rectangle 37"/>
            <p:cNvSpPr/>
            <p:nvPr/>
          </p:nvSpPr>
          <p:spPr>
            <a:xfrm>
              <a:off x="4305300" y="3352800"/>
              <a:ext cx="3429000" cy="247650"/>
            </a:xfrm>
            <a:prstGeom prst="rect">
              <a:avLst/>
            </a:prstGeom>
            <a:solidFill>
              <a:srgbClr val="0E9AA7"/>
            </a:solidFill>
            <a:ln>
              <a:noFill/>
            </a:ln>
          </p:spPr>
        </p:sp>
        <p:sp>
          <p:nvSpPr>
            <p:cNvPr id="38" name="TextBox 38"/>
            <p:cNvSpPr txBox="1"/>
            <p:nvPr/>
          </p:nvSpPr>
          <p:spPr>
            <a:xfrm>
              <a:off x="4432935" y="3412331"/>
              <a:ext cx="1379001"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Arial"/>
                  <a:ea typeface="Arial"/>
                  <a:cs typeface="Arial"/>
                </a:rPr>
                <a:t>user_decision_log</a:t>
              </a:r>
            </a:p>
          </p:txBody>
        </p:sp>
        <p:sp>
          <p:nvSpPr>
            <p:cNvPr id="39" name="TextBox 39"/>
            <p:cNvSpPr txBox="1"/>
            <p:nvPr/>
          </p:nvSpPr>
          <p:spPr>
            <a:xfrm>
              <a:off x="4433697" y="3685699"/>
              <a:ext cx="313587"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id PK</a:t>
              </a:r>
            </a:p>
          </p:txBody>
        </p:sp>
        <p:sp>
          <p:nvSpPr>
            <p:cNvPr id="40" name="TextBox 40"/>
            <p:cNvSpPr txBox="1"/>
            <p:nvPr/>
          </p:nvSpPr>
          <p:spPr>
            <a:xfrm>
              <a:off x="4433697" y="3876199"/>
              <a:ext cx="2825315" cy="190690"/>
            </a:xfrm>
            <a:prstGeom prst="rect">
              <a:avLst/>
            </a:prstGeom>
            <a:noFill/>
            <a:ln>
              <a:noFill/>
            </a:ln>
          </p:spPr>
          <p:txBody>
            <a:bodyPr wrap="none" lIns="0" tIns="0" rIns="0" bIns="0" anchor="t" anchorCtr="0">
              <a:spAutoFit/>
            </a:bodyPr>
            <a:lstStyle/>
            <a:p>
              <a:pPr algn="l"/>
              <a:r>
                <a:rPr lang="en-US" sz="980" dirty="0">
                  <a:solidFill>
                    <a:srgbClr val="0F2A43"/>
                  </a:solidFill>
                  <a:latin typeface="Arial"/>
                  <a:ea typeface="Arial"/>
                  <a:cs typeface="Arial"/>
                </a:rPr>
                <a:t xml:space="preserve">decision </a:t>
              </a:r>
              <a:r>
                <a:rPr lang="en-US" sz="980" dirty="0">
                  <a:solidFill>
                    <a:srgbClr val="5B6B7B"/>
                  </a:solidFill>
                  <a:latin typeface="Arial"/>
                  <a:ea typeface="Arial"/>
                  <a:cs typeface="Arial"/>
                </a:rPr>
                <a:t>('followed' | 'ignored' | 'partial')</a:t>
              </a:r>
            </a:p>
          </p:txBody>
        </p:sp>
        <p:sp>
          <p:nvSpPr>
            <p:cNvPr id="41" name="TextBox 41"/>
            <p:cNvSpPr txBox="1"/>
            <p:nvPr/>
          </p:nvSpPr>
          <p:spPr>
            <a:xfrm>
              <a:off x="4433697" y="4066699"/>
              <a:ext cx="2599098" cy="190690"/>
            </a:xfrm>
            <a:prstGeom prst="rect">
              <a:avLst/>
            </a:prstGeom>
            <a:noFill/>
            <a:ln>
              <a:noFill/>
            </a:ln>
          </p:spPr>
          <p:txBody>
            <a:bodyPr wrap="none" lIns="0" tIns="0" rIns="0" bIns="0" anchor="t" anchorCtr="0">
              <a:spAutoFit/>
            </a:bodyPr>
            <a:lstStyle/>
            <a:p>
              <a:pPr algn="l"/>
              <a:r>
                <a:rPr lang="en-US" sz="980" dirty="0">
                  <a:solidFill>
                    <a:srgbClr val="0F2A43"/>
                  </a:solidFill>
                  <a:latin typeface="Arial"/>
                  <a:ea typeface="Arial"/>
                  <a:cs typeface="Arial"/>
                </a:rPr>
                <a:t>transaction_price NUMERIC NULL · notes</a:t>
              </a:r>
            </a:p>
          </p:txBody>
        </p:sp>
        <p:sp>
          <p:nvSpPr>
            <p:cNvPr id="42" name="TextBox 42"/>
            <p:cNvSpPr txBox="1"/>
            <p:nvPr/>
          </p:nvSpPr>
          <p:spPr>
            <a:xfrm>
              <a:off x="4433697" y="4257199"/>
              <a:ext cx="626802"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logged_at</a:t>
              </a:r>
            </a:p>
          </p:txBody>
        </p:sp>
        <p:sp>
          <p:nvSpPr>
            <p:cNvPr id="43" name="TextBox 43"/>
            <p:cNvSpPr txBox="1"/>
            <p:nvPr/>
          </p:nvSpPr>
          <p:spPr>
            <a:xfrm>
              <a:off x="4433888" y="4436745"/>
              <a:ext cx="3338202" cy="176212"/>
            </a:xfrm>
            <a:prstGeom prst="rect">
              <a:avLst/>
            </a:prstGeom>
            <a:noFill/>
            <a:ln>
              <a:noFill/>
            </a:ln>
          </p:spPr>
          <p:txBody>
            <a:bodyPr wrap="none" lIns="0" tIns="0" rIns="0" bIns="0" anchor="t" anchorCtr="0">
              <a:spAutoFit/>
            </a:bodyPr>
            <a:lstStyle/>
            <a:p>
              <a:pPr algn="l"/>
              <a:r>
                <a:rPr lang="en-US" sz="900" dirty="0">
                  <a:solidFill>
                    <a:srgbClr val="0E7C87"/>
                  </a:solidFill>
                  <a:latin typeface="Arial"/>
                  <a:ea typeface="Arial"/>
                  <a:cs typeface="Arial"/>
                </a:rPr>
                <a:t>FK (ticker_id, recommendation_date) → recommendation</a:t>
              </a:r>
            </a:p>
          </p:txBody>
        </p:sp>
        <p:sp>
          <p:nvSpPr>
            <p:cNvPr id="44" name="Rectangle 44"/>
            <p:cNvSpPr/>
            <p:nvPr/>
          </p:nvSpPr>
          <p:spPr>
            <a:xfrm>
              <a:off x="4305300" y="4991100"/>
              <a:ext cx="3429000" cy="838200"/>
            </a:xfrm>
            <a:prstGeom prst="rect">
              <a:avLst/>
            </a:prstGeom>
            <a:solidFill>
              <a:srgbClr val="FFFFFF"/>
            </a:solidFill>
            <a:ln w="14288">
              <a:solidFill>
                <a:srgbClr val="0F2A43"/>
              </a:solidFill>
            </a:ln>
          </p:spPr>
        </p:sp>
        <p:sp>
          <p:nvSpPr>
            <p:cNvPr id="45" name="Rectangle 45"/>
            <p:cNvSpPr/>
            <p:nvPr/>
          </p:nvSpPr>
          <p:spPr>
            <a:xfrm>
              <a:off x="4305300" y="4991100"/>
              <a:ext cx="3429000" cy="247650"/>
            </a:xfrm>
            <a:prstGeom prst="rect">
              <a:avLst/>
            </a:prstGeom>
            <a:solidFill>
              <a:srgbClr val="0F2A43"/>
            </a:solidFill>
            <a:ln>
              <a:noFill/>
            </a:ln>
          </p:spPr>
        </p:sp>
        <p:sp>
          <p:nvSpPr>
            <p:cNvPr id="46" name="TextBox 46"/>
            <p:cNvSpPr txBox="1"/>
            <p:nvPr/>
          </p:nvSpPr>
          <p:spPr>
            <a:xfrm>
              <a:off x="4432935" y="5050631"/>
              <a:ext cx="1283589"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Arial"/>
                  <a:ea typeface="Arial"/>
                  <a:cs typeface="Arial"/>
                </a:rPr>
                <a:t>backtest_result</a:t>
              </a:r>
            </a:p>
          </p:txBody>
        </p:sp>
        <p:sp>
          <p:nvSpPr>
            <p:cNvPr id="47" name="TextBox 47"/>
            <p:cNvSpPr txBox="1"/>
            <p:nvPr/>
          </p:nvSpPr>
          <p:spPr>
            <a:xfrm>
              <a:off x="4433697" y="5323999"/>
              <a:ext cx="2201856"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window_months · rolling_accuracy</a:t>
              </a:r>
            </a:p>
          </p:txBody>
        </p:sp>
        <p:sp>
          <p:nvSpPr>
            <p:cNvPr id="48" name="TextBox 48"/>
            <p:cNvSpPr txBox="1"/>
            <p:nvPr/>
          </p:nvSpPr>
          <p:spPr>
            <a:xfrm>
              <a:off x="4433697" y="5514499"/>
              <a:ext cx="2641559"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estimated_return · methodology_version</a:t>
              </a:r>
            </a:p>
          </p:txBody>
        </p:sp>
      </p:grpSp>
      <p:grpSp>
        <p:nvGrpSpPr>
          <p:cNvPr id="72" name="Group 72"/>
          <p:cNvGrpSpPr/>
          <p:nvPr/>
        </p:nvGrpSpPr>
        <p:grpSpPr>
          <a:xfrm>
            <a:off x="8110347" y="1323499"/>
            <a:ext cx="3376584" cy="4476940"/>
            <a:chOff x="8110347" y="1323499"/>
            <a:chExt cx="3376584" cy="4476940"/>
          </a:xfrm>
        </p:grpSpPr>
        <p:sp>
          <p:nvSpPr>
            <p:cNvPr id="50" name="TextBox 50"/>
            <p:cNvSpPr txBox="1"/>
            <p:nvPr/>
          </p:nvSpPr>
          <p:spPr>
            <a:xfrm>
              <a:off x="8110347" y="1323499"/>
              <a:ext cx="2143506"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DISCOVERY, OPS &amp; CONFIG</a:t>
              </a:r>
            </a:p>
          </p:txBody>
        </p:sp>
        <p:sp>
          <p:nvSpPr>
            <p:cNvPr id="51" name="Rectangle 51"/>
            <p:cNvSpPr/>
            <p:nvPr/>
          </p:nvSpPr>
          <p:spPr>
            <a:xfrm>
              <a:off x="8115300" y="1543050"/>
              <a:ext cx="3314700" cy="704850"/>
            </a:xfrm>
            <a:prstGeom prst="rect">
              <a:avLst/>
            </a:prstGeom>
            <a:solidFill>
              <a:srgbClr val="FFFFFF"/>
            </a:solidFill>
            <a:ln w="14288">
              <a:solidFill>
                <a:srgbClr val="0F2A43"/>
              </a:solidFill>
            </a:ln>
          </p:spPr>
        </p:sp>
        <p:sp>
          <p:nvSpPr>
            <p:cNvPr id="52" name="Rectangle 52"/>
            <p:cNvSpPr/>
            <p:nvPr/>
          </p:nvSpPr>
          <p:spPr>
            <a:xfrm>
              <a:off x="8115300" y="1543050"/>
              <a:ext cx="3314700" cy="247650"/>
            </a:xfrm>
            <a:prstGeom prst="rect">
              <a:avLst/>
            </a:prstGeom>
            <a:solidFill>
              <a:srgbClr val="0F2A43"/>
            </a:solidFill>
            <a:ln>
              <a:noFill/>
            </a:ln>
          </p:spPr>
        </p:sp>
        <p:sp>
          <p:nvSpPr>
            <p:cNvPr id="53" name="TextBox 53"/>
            <p:cNvSpPr txBox="1"/>
            <p:nvPr/>
          </p:nvSpPr>
          <p:spPr>
            <a:xfrm>
              <a:off x="8242935" y="1602581"/>
              <a:ext cx="1418756"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Arial"/>
                  <a:ea typeface="Arial"/>
                  <a:cs typeface="Arial"/>
                </a:rPr>
                <a:t>supply_chain_node</a:t>
              </a:r>
            </a:p>
          </p:txBody>
        </p:sp>
        <p:sp>
          <p:nvSpPr>
            <p:cNvPr id="54" name="TextBox 54"/>
            <p:cNvSpPr txBox="1"/>
            <p:nvPr/>
          </p:nvSpPr>
          <p:spPr>
            <a:xfrm>
              <a:off x="8243697" y="1875949"/>
              <a:ext cx="1584960"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ticker_id · sector · role</a:t>
              </a:r>
            </a:p>
          </p:txBody>
        </p:sp>
        <p:sp>
          <p:nvSpPr>
            <p:cNvPr id="55" name="TextBox 55"/>
            <p:cNvSpPr txBox="1"/>
            <p:nvPr/>
          </p:nvSpPr>
          <p:spPr>
            <a:xfrm>
              <a:off x="8243888" y="2055495"/>
              <a:ext cx="2996070" cy="176212"/>
            </a:xfrm>
            <a:prstGeom prst="rect">
              <a:avLst/>
            </a:prstGeom>
            <a:noFill/>
            <a:ln>
              <a:noFill/>
            </a:ln>
          </p:spPr>
          <p:txBody>
            <a:bodyPr wrap="none" lIns="0" tIns="0" rIns="0" bIns="0" anchor="t" anchorCtr="0">
              <a:spAutoFit/>
            </a:bodyPr>
            <a:lstStyle/>
            <a:p>
              <a:pPr algn="l"/>
              <a:r>
                <a:rPr lang="en-US" sz="900" dirty="0">
                  <a:solidFill>
                    <a:srgbClr val="5B6B7B"/>
                  </a:solidFill>
                  <a:latin typeface="Arial"/>
                  <a:ea typeface="Arial"/>
                  <a:cs typeface="Arial"/>
                </a:rPr>
                <a:t>(fab | upstream_supplier | downstream_customer)</a:t>
              </a:r>
            </a:p>
          </p:txBody>
        </p:sp>
        <p:sp>
          <p:nvSpPr>
            <p:cNvPr id="56" name="Rectangle 56"/>
            <p:cNvSpPr/>
            <p:nvPr/>
          </p:nvSpPr>
          <p:spPr>
            <a:xfrm>
              <a:off x="8115300" y="2400300"/>
              <a:ext cx="3314700" cy="666750"/>
            </a:xfrm>
            <a:prstGeom prst="rect">
              <a:avLst/>
            </a:prstGeom>
            <a:solidFill>
              <a:srgbClr val="FFFFFF"/>
            </a:solidFill>
            <a:ln w="14288">
              <a:solidFill>
                <a:srgbClr val="0F2A43"/>
              </a:solidFill>
            </a:ln>
          </p:spPr>
        </p:sp>
        <p:sp>
          <p:nvSpPr>
            <p:cNvPr id="57" name="Rectangle 57"/>
            <p:cNvSpPr/>
            <p:nvPr/>
          </p:nvSpPr>
          <p:spPr>
            <a:xfrm>
              <a:off x="8115300" y="2400300"/>
              <a:ext cx="3314700" cy="247650"/>
            </a:xfrm>
            <a:prstGeom prst="rect">
              <a:avLst/>
            </a:prstGeom>
            <a:solidFill>
              <a:srgbClr val="0F2A43"/>
            </a:solidFill>
            <a:ln>
              <a:noFill/>
            </a:ln>
          </p:spPr>
        </p:sp>
        <p:sp>
          <p:nvSpPr>
            <p:cNvPr id="58" name="TextBox 58"/>
            <p:cNvSpPr txBox="1"/>
            <p:nvPr/>
          </p:nvSpPr>
          <p:spPr>
            <a:xfrm>
              <a:off x="8242935" y="2459831"/>
              <a:ext cx="1418756"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Arial"/>
                  <a:ea typeface="Arial"/>
                  <a:cs typeface="Arial"/>
                </a:rPr>
                <a:t>supply_chain_edge</a:t>
              </a:r>
            </a:p>
          </p:txBody>
        </p:sp>
        <p:sp>
          <p:nvSpPr>
            <p:cNvPr id="59" name="TextBox 59"/>
            <p:cNvSpPr txBox="1"/>
            <p:nvPr/>
          </p:nvSpPr>
          <p:spPr>
            <a:xfrm>
              <a:off x="8243697" y="2733199"/>
              <a:ext cx="262187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from_node · to_node · relationship_type</a:t>
              </a:r>
            </a:p>
          </p:txBody>
        </p:sp>
        <p:sp>
          <p:nvSpPr>
            <p:cNvPr id="60" name="Rectangle 60"/>
            <p:cNvSpPr/>
            <p:nvPr/>
          </p:nvSpPr>
          <p:spPr>
            <a:xfrm>
              <a:off x="8115300" y="3219450"/>
              <a:ext cx="3314700" cy="666750"/>
            </a:xfrm>
            <a:prstGeom prst="rect">
              <a:avLst/>
            </a:prstGeom>
            <a:solidFill>
              <a:srgbClr val="FFFFFF"/>
            </a:solidFill>
            <a:ln w="14288">
              <a:solidFill>
                <a:srgbClr val="0F2A43"/>
              </a:solidFill>
            </a:ln>
          </p:spPr>
        </p:sp>
        <p:sp>
          <p:nvSpPr>
            <p:cNvPr id="61" name="Rectangle 61"/>
            <p:cNvSpPr/>
            <p:nvPr/>
          </p:nvSpPr>
          <p:spPr>
            <a:xfrm>
              <a:off x="8115300" y="3219450"/>
              <a:ext cx="3314700" cy="247650"/>
            </a:xfrm>
            <a:prstGeom prst="rect">
              <a:avLst/>
            </a:prstGeom>
            <a:solidFill>
              <a:srgbClr val="0F2A43"/>
            </a:solidFill>
            <a:ln>
              <a:noFill/>
            </a:ln>
          </p:spPr>
        </p:sp>
        <p:sp>
          <p:nvSpPr>
            <p:cNvPr id="62" name="TextBox 62"/>
            <p:cNvSpPr txBox="1"/>
            <p:nvPr/>
          </p:nvSpPr>
          <p:spPr>
            <a:xfrm>
              <a:off x="8242935" y="3278981"/>
              <a:ext cx="941696"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Arial"/>
                  <a:ea typeface="Arial"/>
                  <a:cs typeface="Arial"/>
                </a:rPr>
                <a:t>pipeline_run</a:t>
              </a:r>
            </a:p>
          </p:txBody>
        </p:sp>
        <p:sp>
          <p:nvSpPr>
            <p:cNvPr id="63" name="TextBox 63"/>
            <p:cNvSpPr txBox="1"/>
            <p:nvPr/>
          </p:nvSpPr>
          <p:spPr>
            <a:xfrm>
              <a:off x="8243697" y="3552349"/>
              <a:ext cx="2142792"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run_date · source_name · status</a:t>
              </a:r>
            </a:p>
          </p:txBody>
        </p:sp>
        <p:sp>
          <p:nvSpPr>
            <p:cNvPr id="64" name="Rectangle 64"/>
            <p:cNvSpPr/>
            <p:nvPr/>
          </p:nvSpPr>
          <p:spPr>
            <a:xfrm>
              <a:off x="8115300" y="4038600"/>
              <a:ext cx="3314700" cy="857250"/>
            </a:xfrm>
            <a:prstGeom prst="rect">
              <a:avLst/>
            </a:prstGeom>
            <a:solidFill>
              <a:srgbClr val="FFFFFF"/>
            </a:solidFill>
            <a:ln w="14288">
              <a:solidFill>
                <a:srgbClr val="0F2A43"/>
              </a:solidFill>
            </a:ln>
          </p:spPr>
        </p:sp>
        <p:sp>
          <p:nvSpPr>
            <p:cNvPr id="65" name="Rectangle 65"/>
            <p:cNvSpPr/>
            <p:nvPr/>
          </p:nvSpPr>
          <p:spPr>
            <a:xfrm>
              <a:off x="8115300" y="4038600"/>
              <a:ext cx="3314700" cy="247650"/>
            </a:xfrm>
            <a:prstGeom prst="rect">
              <a:avLst/>
            </a:prstGeom>
            <a:solidFill>
              <a:srgbClr val="0F2A43"/>
            </a:solidFill>
            <a:ln>
              <a:noFill/>
            </a:ln>
          </p:spPr>
        </p:sp>
        <p:sp>
          <p:nvSpPr>
            <p:cNvPr id="66" name="TextBox 66"/>
            <p:cNvSpPr txBox="1"/>
            <p:nvPr/>
          </p:nvSpPr>
          <p:spPr>
            <a:xfrm>
              <a:off x="8242935" y="4098131"/>
              <a:ext cx="1751107"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Arial"/>
                  <a:ea typeface="Arial"/>
                  <a:cs typeface="Arial"/>
                </a:rPr>
                <a:t xml:space="preserve">user_config </a:t>
              </a:r>
              <a:r>
                <a:rPr lang="en-US" sz="900" b="1" dirty="0">
                  <a:solidFill>
                    <a:srgbClr val="8FB4F5"/>
                  </a:solidFill>
                  <a:latin typeface="Arial"/>
                  <a:ea typeface="Arial"/>
                  <a:cs typeface="Arial"/>
                </a:rPr>
                <a:t>(single row)</a:t>
              </a:r>
            </a:p>
          </p:txBody>
        </p:sp>
        <p:sp>
          <p:nvSpPr>
            <p:cNvPr id="67" name="TextBox 67"/>
            <p:cNvSpPr txBox="1"/>
            <p:nvPr/>
          </p:nvSpPr>
          <p:spPr>
            <a:xfrm>
              <a:off x="8243697" y="4371499"/>
              <a:ext cx="2080656"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module_weights JSONB · horizon</a:t>
              </a:r>
            </a:p>
          </p:txBody>
        </p:sp>
        <p:sp>
          <p:nvSpPr>
            <p:cNvPr id="68" name="TextBox 68"/>
            <p:cNvSpPr txBox="1"/>
            <p:nvPr/>
          </p:nvSpPr>
          <p:spPr>
            <a:xfrm>
              <a:off x="8243697" y="4561999"/>
              <a:ext cx="1066505"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ui_language 'en'</a:t>
              </a:r>
            </a:p>
          </p:txBody>
        </p:sp>
        <p:sp>
          <p:nvSpPr>
            <p:cNvPr id="69" name="TextBox 69"/>
            <p:cNvSpPr txBox="1"/>
            <p:nvPr/>
          </p:nvSpPr>
          <p:spPr>
            <a:xfrm>
              <a:off x="8110347" y="5190649"/>
              <a:ext cx="2671249" cy="190690"/>
            </a:xfrm>
            <a:prstGeom prst="rect">
              <a:avLst/>
            </a:prstGeom>
            <a:noFill/>
            <a:ln>
              <a:noFill/>
            </a:ln>
          </p:spPr>
          <p:txBody>
            <a:bodyPr wrap="none" lIns="0" tIns="0" rIns="0" bIns="0" anchor="t" anchorCtr="0">
              <a:spAutoFit/>
            </a:bodyPr>
            <a:lstStyle/>
            <a:p>
              <a:pPr algn="l"/>
              <a:r>
                <a:rPr lang="en-US" sz="980" dirty="0">
                  <a:solidFill>
                    <a:srgbClr val="0F2A43"/>
                  </a:solidFill>
                  <a:latin typeface="Arial"/>
                  <a:ea typeface="Arial"/>
                  <a:cs typeface="Arial"/>
                </a:rPr>
                <a:t xml:space="preserve">The </a:t>
              </a:r>
              <a:r>
                <a:rPr lang="en-US" sz="980" b="1" dirty="0">
                  <a:solidFill>
                    <a:srgbClr val="0F2A43"/>
                  </a:solidFill>
                  <a:latin typeface="Arial"/>
                  <a:ea typeface="Arial"/>
                  <a:cs typeface="Arial"/>
                </a:rPr>
                <a:t>recommendation</a:t>
              </a:r>
              <a:r>
                <a:rPr lang="en-US" sz="980" dirty="0">
                  <a:solidFill>
                    <a:srgbClr val="0F2A43"/>
                  </a:solidFill>
                  <a:latin typeface="Arial"/>
                  <a:ea typeface="Arial"/>
                  <a:cs typeface="Arial"/>
                </a:rPr>
                <a:t xml:space="preserve"> table doubles as the</a:t>
              </a:r>
            </a:p>
          </p:txBody>
        </p:sp>
        <p:sp>
          <p:nvSpPr>
            <p:cNvPr id="70" name="TextBox 70"/>
            <p:cNvSpPr txBox="1"/>
            <p:nvPr/>
          </p:nvSpPr>
          <p:spPr>
            <a:xfrm>
              <a:off x="8110347" y="5381149"/>
              <a:ext cx="3376584" cy="190690"/>
            </a:xfrm>
            <a:prstGeom prst="rect">
              <a:avLst/>
            </a:prstGeom>
            <a:noFill/>
            <a:ln>
              <a:noFill/>
            </a:ln>
          </p:spPr>
          <p:txBody>
            <a:bodyPr wrap="none" lIns="0" tIns="0" rIns="0" bIns="0" anchor="t" anchorCtr="0">
              <a:spAutoFit/>
            </a:bodyPr>
            <a:lstStyle/>
            <a:p>
              <a:pPr algn="l"/>
              <a:r>
                <a:rPr lang="en-US" sz="980" dirty="0">
                  <a:solidFill>
                    <a:srgbClr val="0F2A43"/>
                  </a:solidFill>
                  <a:latin typeface="Arial"/>
                  <a:ea typeface="Arial"/>
                  <a:cs typeface="Arial"/>
                </a:rPr>
                <a:t>immutable history log; annotations never mutate it.</a:t>
              </a:r>
            </a:p>
          </p:txBody>
        </p:sp>
        <p:sp>
          <p:nvSpPr>
            <p:cNvPr id="71" name="TextBox 71"/>
            <p:cNvSpPr txBox="1"/>
            <p:nvPr/>
          </p:nvSpPr>
          <p:spPr>
            <a:xfrm>
              <a:off x="8110347" y="5609749"/>
              <a:ext cx="3298142"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Sensitive columns are encrypted at rest (NFR-05).</a:t>
              </a:r>
            </a:p>
          </p:txBody>
        </p:sp>
      </p:grpSp>
      <p:grpSp>
        <p:nvGrpSpPr>
          <p:cNvPr id="79" name="Group 79"/>
          <p:cNvGrpSpPr/>
          <p:nvPr/>
        </p:nvGrpSpPr>
        <p:grpSpPr>
          <a:xfrm>
            <a:off x="3905250" y="1749266"/>
            <a:ext cx="5876925" cy="1603534"/>
            <a:chOff x="3905250" y="1749266"/>
            <a:chExt cx="5876925" cy="1603534"/>
          </a:xfrm>
        </p:grpSpPr>
        <p:sp>
          <p:nvSpPr>
            <p:cNvPr id="73" name="Line 73"/>
            <p:cNvSpPr/>
            <p:nvPr/>
          </p:nvSpPr>
          <p:spPr>
            <a:xfrm>
              <a:off x="3905250" y="1895475"/>
              <a:ext cx="400050" cy="9525"/>
            </a:xfrm>
            <a:custGeom>
              <a:avLst/>
              <a:gdLst/>
              <a:ahLst/>
              <a:cxnLst/>
              <a:rect l="l" t="t" r="r" b="b"/>
              <a:pathLst>
                <a:path w="400050" h="9525">
                  <a:moveTo>
                    <a:pt x="0" y="0"/>
                  </a:moveTo>
                  <a:lnTo>
                    <a:pt x="400050" y="0"/>
                  </a:lnTo>
                </a:path>
              </a:pathLst>
            </a:custGeom>
            <a:noFill/>
            <a:ln w="14288">
              <a:solidFill>
                <a:srgbClr val="9DB4C9"/>
              </a:solidFill>
            </a:ln>
          </p:spPr>
        </p:sp>
        <p:sp>
          <p:nvSpPr>
            <p:cNvPr id="74" name="TextBox 74"/>
            <p:cNvSpPr txBox="1"/>
            <p:nvPr/>
          </p:nvSpPr>
          <p:spPr>
            <a:xfrm>
              <a:off x="3948112" y="1749266"/>
              <a:ext cx="273558" cy="161925"/>
            </a:xfrm>
            <a:prstGeom prst="rect">
              <a:avLst/>
            </a:prstGeom>
            <a:noFill/>
            <a:ln>
              <a:noFill/>
            </a:ln>
          </p:spPr>
          <p:txBody>
            <a:bodyPr wrap="none" lIns="0" tIns="0" rIns="0" bIns="0" anchor="t" anchorCtr="0">
              <a:spAutoFit/>
            </a:bodyPr>
            <a:lstStyle/>
            <a:p>
              <a:pPr algn="l"/>
              <a:r>
                <a:rPr lang="en-US" sz="820" dirty="0">
                  <a:solidFill>
                    <a:srgbClr val="5B6B7B"/>
                  </a:solidFill>
                  <a:latin typeface="Arial"/>
                  <a:ea typeface="Arial"/>
                  <a:cs typeface="Arial"/>
                </a:rPr>
                <a:t>1 : N</a:t>
              </a:r>
            </a:p>
          </p:txBody>
        </p:sp>
        <p:sp>
          <p:nvSpPr>
            <p:cNvPr id="75" name="Line 75"/>
            <p:cNvSpPr/>
            <p:nvPr/>
          </p:nvSpPr>
          <p:spPr>
            <a:xfrm>
              <a:off x="6019800" y="2971800"/>
              <a:ext cx="9525" cy="381000"/>
            </a:xfrm>
            <a:custGeom>
              <a:avLst/>
              <a:gdLst/>
              <a:ahLst/>
              <a:cxnLst/>
              <a:rect l="l" t="t" r="r" b="b"/>
              <a:pathLst>
                <a:path w="9525" h="381000">
                  <a:moveTo>
                    <a:pt x="0" y="0"/>
                  </a:moveTo>
                  <a:lnTo>
                    <a:pt x="0" y="381000"/>
                  </a:lnTo>
                </a:path>
              </a:pathLst>
            </a:custGeom>
            <a:noFill/>
            <a:ln w="14288">
              <a:solidFill>
                <a:srgbClr val="0E9AA7"/>
              </a:solidFill>
            </a:ln>
          </p:spPr>
        </p:sp>
        <p:sp>
          <p:nvSpPr>
            <p:cNvPr id="76" name="TextBox 76"/>
            <p:cNvSpPr txBox="1"/>
            <p:nvPr/>
          </p:nvSpPr>
          <p:spPr>
            <a:xfrm>
              <a:off x="6091238" y="3130391"/>
              <a:ext cx="847201" cy="161925"/>
            </a:xfrm>
            <a:prstGeom prst="rect">
              <a:avLst/>
            </a:prstGeom>
            <a:noFill/>
            <a:ln>
              <a:noFill/>
            </a:ln>
          </p:spPr>
          <p:txBody>
            <a:bodyPr wrap="none" lIns="0" tIns="0" rIns="0" bIns="0" anchor="t" anchorCtr="0">
              <a:spAutoFit/>
            </a:bodyPr>
            <a:lstStyle/>
            <a:p>
              <a:pPr algn="l"/>
              <a:r>
                <a:rPr lang="en-US" sz="820" dirty="0">
                  <a:solidFill>
                    <a:srgbClr val="0E7C87"/>
                  </a:solidFill>
                  <a:latin typeface="Arial"/>
                  <a:ea typeface="Arial"/>
                  <a:cs typeface="Arial"/>
                </a:rPr>
                <a:t>annotates 1 : N</a:t>
              </a:r>
            </a:p>
          </p:txBody>
        </p:sp>
        <p:sp>
          <p:nvSpPr>
            <p:cNvPr id="77" name="Line 77"/>
            <p:cNvSpPr/>
            <p:nvPr/>
          </p:nvSpPr>
          <p:spPr>
            <a:xfrm>
              <a:off x="7734300" y="2047875"/>
              <a:ext cx="381000" cy="9525"/>
            </a:xfrm>
            <a:custGeom>
              <a:avLst/>
              <a:gdLst/>
              <a:ahLst/>
              <a:cxnLst/>
              <a:rect l="l" t="t" r="r" b="b"/>
              <a:pathLst>
                <a:path w="381000" h="9525">
                  <a:moveTo>
                    <a:pt x="0" y="0"/>
                  </a:moveTo>
                  <a:lnTo>
                    <a:pt x="381000" y="0"/>
                  </a:lnTo>
                </a:path>
              </a:pathLst>
            </a:custGeom>
            <a:noFill/>
            <a:ln w="14288">
              <a:solidFill>
                <a:srgbClr val="9DB4C9"/>
              </a:solidFill>
            </a:ln>
          </p:spPr>
        </p:sp>
        <p:sp>
          <p:nvSpPr>
            <p:cNvPr id="78" name="Line 78"/>
            <p:cNvSpPr/>
            <p:nvPr/>
          </p:nvSpPr>
          <p:spPr>
            <a:xfrm>
              <a:off x="9772650" y="2247900"/>
              <a:ext cx="9525" cy="152400"/>
            </a:xfrm>
            <a:custGeom>
              <a:avLst/>
              <a:gdLst/>
              <a:ahLst/>
              <a:cxnLst/>
              <a:rect l="l" t="t" r="r" b="b"/>
              <a:pathLst>
                <a:path w="9525" h="152400">
                  <a:moveTo>
                    <a:pt x="0" y="0"/>
                  </a:moveTo>
                  <a:lnTo>
                    <a:pt x="0" y="152400"/>
                  </a:lnTo>
                </a:path>
              </a:pathLst>
            </a:custGeom>
            <a:noFill/>
            <a:ln w="14288">
              <a:solidFill>
                <a:srgbClr val="9DB4C9"/>
              </a:solidFill>
            </a:ln>
          </p:spPr>
        </p:sp>
      </p:grpSp>
      <p:grpSp>
        <p:nvGrpSpPr>
          <p:cNvPr id="83" name="Group 83"/>
          <p:cNvGrpSpPr/>
          <p:nvPr/>
        </p:nvGrpSpPr>
        <p:grpSpPr>
          <a:xfrm>
            <a:off x="757047" y="6477000"/>
            <a:ext cx="10677906" cy="285464"/>
            <a:chOff x="757047" y="6477000"/>
            <a:chExt cx="10677906" cy="285464"/>
          </a:xfrm>
        </p:grpSpPr>
        <p:sp>
          <p:nvSpPr>
            <p:cNvPr id="80" name="Line 80"/>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81" name="TextBox 81"/>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82" name="TextBox 82"/>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10 / 17</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49808" y="572452"/>
            <a:ext cx="9480499" cy="974599"/>
            <a:chOff x="749808" y="572452"/>
            <a:chExt cx="9480499" cy="974599"/>
          </a:xfrm>
        </p:grpSpPr>
        <p:sp>
          <p:nvSpPr>
            <p:cNvPr id="3" name="TextBox 3"/>
            <p:cNvSpPr txBox="1"/>
            <p:nvPr/>
          </p:nvSpPr>
          <p:spPr>
            <a:xfrm>
              <a:off x="756666" y="572452"/>
              <a:ext cx="1769821"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API SURFACE · §21</a:t>
              </a:r>
            </a:p>
          </p:txBody>
        </p:sp>
        <p:sp>
          <p:nvSpPr>
            <p:cNvPr id="4" name="TextBox 4"/>
            <p:cNvSpPr txBox="1"/>
            <p:nvPr/>
          </p:nvSpPr>
          <p:spPr>
            <a:xfrm>
              <a:off x="749808" y="845820"/>
              <a:ext cx="9480499"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A small REST surface; the dashboard is a single-row read</a:t>
              </a:r>
            </a:p>
          </p:txBody>
        </p:sp>
        <p:sp>
          <p:nvSpPr>
            <p:cNvPr id="5" name="TextBox 5"/>
            <p:cNvSpPr txBox="1"/>
            <p:nvPr/>
          </p:nvSpPr>
          <p:spPr>
            <a:xfrm>
              <a:off x="755142" y="1283018"/>
              <a:ext cx="7940197" cy="264033"/>
            </a:xfrm>
            <a:prstGeom prst="rect">
              <a:avLst/>
            </a:prstGeom>
            <a:noFill/>
            <a:ln>
              <a:noFill/>
            </a:ln>
          </p:spPr>
          <p:txBody>
            <a:bodyPr wrap="none" lIns="0" tIns="0" rIns="0" bIns="0" anchor="t" anchorCtr="0">
              <a:spAutoFit/>
            </a:bodyPr>
            <a:lstStyle/>
            <a:p>
              <a:pPr algn="l"/>
              <a:r>
                <a:rPr lang="en-US" sz="1350" dirty="0">
                  <a:solidFill>
                    <a:srgbClr val="5B6B7B"/>
                  </a:solidFill>
                  <a:latin typeface="Arial"/>
                  <a:ea typeface="Arial"/>
                  <a:cs typeface="Arial"/>
                </a:rPr>
                <a:t>All routes are auth-gated and documented by FastAPI's auto-generated OpenAPI schema.</a:t>
              </a:r>
            </a:p>
          </p:txBody>
        </p:sp>
      </p:grpSp>
      <p:grpSp>
        <p:nvGrpSpPr>
          <p:cNvPr id="18" name="Group 18"/>
          <p:cNvGrpSpPr/>
          <p:nvPr/>
        </p:nvGrpSpPr>
        <p:grpSpPr>
          <a:xfrm>
            <a:off x="756285" y="1761649"/>
            <a:ext cx="4259696" cy="3137535"/>
            <a:chOff x="756285" y="1761649"/>
            <a:chExt cx="4259696" cy="3137535"/>
          </a:xfrm>
        </p:grpSpPr>
        <p:sp>
          <p:nvSpPr>
            <p:cNvPr id="7" name="TextBox 7"/>
            <p:cNvSpPr txBox="1"/>
            <p:nvPr/>
          </p:nvSpPr>
          <p:spPr>
            <a:xfrm>
              <a:off x="757047" y="1761649"/>
              <a:ext cx="957758"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STOCK DATA</a:t>
              </a:r>
            </a:p>
          </p:txBody>
        </p:sp>
        <p:sp>
          <p:nvSpPr>
            <p:cNvPr id="8" name="TextBox 8"/>
            <p:cNvSpPr txBox="1"/>
            <p:nvPr/>
          </p:nvSpPr>
          <p:spPr>
            <a:xfrm>
              <a:off x="756285" y="2031206"/>
              <a:ext cx="2464318" cy="220028"/>
            </a:xfrm>
            <a:prstGeom prst="rect">
              <a:avLst/>
            </a:prstGeom>
            <a:noFill/>
            <a:ln>
              <a:noFill/>
            </a:ln>
          </p:spPr>
          <p:txBody>
            <a:bodyPr wrap="none" lIns="0" tIns="0" rIns="0" bIns="0" anchor="t" anchorCtr="0">
              <a:spAutoFit/>
            </a:bodyPr>
            <a:lstStyle/>
            <a:p>
              <a:pPr algn="l"/>
              <a:r>
                <a:rPr lang="en-US" sz="1120" b="1" dirty="0">
                  <a:solidFill>
                    <a:srgbClr val="2563EB"/>
                  </a:solidFill>
                  <a:latin typeface="Consolas"/>
                  <a:ea typeface="Consolas"/>
                  <a:cs typeface="Consolas"/>
                </a:rPr>
                <a:t>GET</a:t>
              </a:r>
              <a:r>
                <a:rPr lang="en-US" sz="1120" dirty="0">
                  <a:solidFill>
                    <a:srgbClr val="0F2A43"/>
                  </a:solidFill>
                  <a:latin typeface="Consolas"/>
                  <a:ea typeface="Consolas"/>
                  <a:cs typeface="Consolas"/>
                </a:rPr>
                <a:t xml:space="preserve"> /stocks/{ticker}/dashboard</a:t>
              </a:r>
            </a:p>
          </p:txBody>
        </p:sp>
        <p:sp>
          <p:nvSpPr>
            <p:cNvPr id="9" name="TextBox 9"/>
            <p:cNvSpPr txBox="1"/>
            <p:nvPr/>
          </p:nvSpPr>
          <p:spPr>
            <a:xfrm>
              <a:off x="756285" y="2278856"/>
              <a:ext cx="4259696" cy="220028"/>
            </a:xfrm>
            <a:prstGeom prst="rect">
              <a:avLst/>
            </a:prstGeom>
            <a:noFill/>
            <a:ln>
              <a:noFill/>
            </a:ln>
          </p:spPr>
          <p:txBody>
            <a:bodyPr wrap="none" lIns="0" tIns="0" rIns="0" bIns="0" anchor="t" anchorCtr="0">
              <a:spAutoFit/>
            </a:bodyPr>
            <a:lstStyle/>
            <a:p>
              <a:pPr algn="l"/>
              <a:r>
                <a:rPr lang="en-US" sz="1120" b="1" dirty="0">
                  <a:solidFill>
                    <a:srgbClr val="2563EB"/>
                  </a:solidFill>
                  <a:latin typeface="Consolas"/>
                  <a:ea typeface="Consolas"/>
                  <a:cs typeface="Consolas"/>
                </a:rPr>
                <a:t>GET</a:t>
              </a:r>
              <a:r>
                <a:rPr lang="en-US" sz="1120" dirty="0">
                  <a:solidFill>
                    <a:srgbClr val="0F2A43"/>
                  </a:solidFill>
                  <a:latin typeface="Consolas"/>
                  <a:ea typeface="Consolas"/>
                  <a:cs typeface="Consolas"/>
                </a:rPr>
                <a:t xml:space="preserve"> /stocks/{ticker}/technical · /fundamentals · /news</a:t>
              </a:r>
            </a:p>
          </p:txBody>
        </p:sp>
        <p:sp>
          <p:nvSpPr>
            <p:cNvPr id="10" name="TextBox 10"/>
            <p:cNvSpPr txBox="1"/>
            <p:nvPr/>
          </p:nvSpPr>
          <p:spPr>
            <a:xfrm>
              <a:off x="756285" y="2526506"/>
              <a:ext cx="4116123" cy="220028"/>
            </a:xfrm>
            <a:prstGeom prst="rect">
              <a:avLst/>
            </a:prstGeom>
            <a:noFill/>
            <a:ln>
              <a:noFill/>
            </a:ln>
          </p:spPr>
          <p:txBody>
            <a:bodyPr wrap="none" lIns="0" tIns="0" rIns="0" bIns="0" anchor="t" anchorCtr="0">
              <a:spAutoFit/>
            </a:bodyPr>
            <a:lstStyle/>
            <a:p>
              <a:pPr algn="l"/>
              <a:r>
                <a:rPr lang="en-US" sz="1120" b="1" dirty="0">
                  <a:solidFill>
                    <a:srgbClr val="2563EB"/>
                  </a:solidFill>
                  <a:latin typeface="Consolas"/>
                  <a:ea typeface="Consolas"/>
                  <a:cs typeface="Consolas"/>
                </a:rPr>
                <a:t>GET</a:t>
              </a:r>
              <a:r>
                <a:rPr lang="en-US" sz="1120" dirty="0">
                  <a:solidFill>
                    <a:srgbClr val="0F2A43"/>
                  </a:solidFill>
                  <a:latin typeface="Consolas"/>
                  <a:ea typeface="Consolas"/>
                  <a:cs typeface="Consolas"/>
                </a:rPr>
                <a:t xml:space="preserve"> /stocks/{ticker}/chip · /supply-chain · /backtest</a:t>
              </a:r>
            </a:p>
          </p:txBody>
        </p:sp>
        <p:sp>
          <p:nvSpPr>
            <p:cNvPr id="11" name="TextBox 11"/>
            <p:cNvSpPr txBox="1"/>
            <p:nvPr/>
          </p:nvSpPr>
          <p:spPr>
            <a:xfrm>
              <a:off x="757047" y="2961799"/>
              <a:ext cx="1111377"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DECISION LOG</a:t>
              </a:r>
            </a:p>
          </p:txBody>
        </p:sp>
        <p:sp>
          <p:nvSpPr>
            <p:cNvPr id="12" name="TextBox 12"/>
            <p:cNvSpPr txBox="1"/>
            <p:nvPr/>
          </p:nvSpPr>
          <p:spPr>
            <a:xfrm>
              <a:off x="756285" y="3231356"/>
              <a:ext cx="3282166" cy="220028"/>
            </a:xfrm>
            <a:prstGeom prst="rect">
              <a:avLst/>
            </a:prstGeom>
            <a:noFill/>
            <a:ln>
              <a:noFill/>
            </a:ln>
          </p:spPr>
          <p:txBody>
            <a:bodyPr wrap="none" lIns="0" tIns="0" rIns="0" bIns="0" anchor="t" anchorCtr="0">
              <a:spAutoFit/>
            </a:bodyPr>
            <a:lstStyle/>
            <a:p>
              <a:pPr algn="l"/>
              <a:r>
                <a:rPr lang="en-US" sz="1120" b="1" dirty="0">
                  <a:solidFill>
                    <a:srgbClr val="2563EB"/>
                  </a:solidFill>
                  <a:latin typeface="Consolas"/>
                  <a:ea typeface="Consolas"/>
                  <a:cs typeface="Consolas"/>
                </a:rPr>
                <a:t>GET</a:t>
              </a:r>
              <a:r>
                <a:rPr lang="en-US" sz="1120" dirty="0">
                  <a:solidFill>
                    <a:srgbClr val="0F2A43"/>
                  </a:solidFill>
                  <a:latin typeface="Consolas"/>
                  <a:ea typeface="Consolas"/>
                  <a:cs typeface="Consolas"/>
                </a:rPr>
                <a:t xml:space="preserve"> /recommendations/log?ticker=&amp;limit=30</a:t>
              </a:r>
            </a:p>
          </p:txBody>
        </p:sp>
        <p:sp>
          <p:nvSpPr>
            <p:cNvPr id="13" name="TextBox 13"/>
            <p:cNvSpPr txBox="1"/>
            <p:nvPr/>
          </p:nvSpPr>
          <p:spPr>
            <a:xfrm>
              <a:off x="756285" y="3479006"/>
              <a:ext cx="3444740" cy="220028"/>
            </a:xfrm>
            <a:prstGeom prst="rect">
              <a:avLst/>
            </a:prstGeom>
            <a:noFill/>
            <a:ln>
              <a:noFill/>
            </a:ln>
          </p:spPr>
          <p:txBody>
            <a:bodyPr wrap="none" lIns="0" tIns="0" rIns="0" bIns="0" anchor="t" anchorCtr="0">
              <a:spAutoFit/>
            </a:bodyPr>
            <a:lstStyle/>
            <a:p>
              <a:pPr algn="l"/>
              <a:r>
                <a:rPr lang="en-US" sz="1120" b="1" dirty="0">
                  <a:solidFill>
                    <a:srgbClr val="0E9AA7"/>
                  </a:solidFill>
                  <a:latin typeface="Consolas"/>
                  <a:ea typeface="Consolas"/>
                  <a:cs typeface="Consolas"/>
                </a:rPr>
                <a:t>POST</a:t>
              </a:r>
              <a:r>
                <a:rPr lang="en-US" sz="1120" dirty="0">
                  <a:solidFill>
                    <a:srgbClr val="0F2A43"/>
                  </a:solidFill>
                  <a:latin typeface="Consolas"/>
                  <a:ea typeface="Consolas"/>
                  <a:cs typeface="Consolas"/>
                </a:rPr>
                <a:t xml:space="preserve"> /recommendations/log/{date}/annotate</a:t>
              </a:r>
            </a:p>
          </p:txBody>
        </p:sp>
        <p:sp>
          <p:nvSpPr>
            <p:cNvPr id="14" name="TextBox 14"/>
            <p:cNvSpPr txBox="1"/>
            <p:nvPr/>
          </p:nvSpPr>
          <p:spPr>
            <a:xfrm>
              <a:off x="757047" y="3914299"/>
              <a:ext cx="1725320"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CONFIG · OPS · AUTH</a:t>
              </a:r>
            </a:p>
          </p:txBody>
        </p:sp>
        <p:sp>
          <p:nvSpPr>
            <p:cNvPr id="15" name="TextBox 15"/>
            <p:cNvSpPr txBox="1"/>
            <p:nvPr/>
          </p:nvSpPr>
          <p:spPr>
            <a:xfrm>
              <a:off x="756285" y="4183856"/>
              <a:ext cx="1902136" cy="220028"/>
            </a:xfrm>
            <a:prstGeom prst="rect">
              <a:avLst/>
            </a:prstGeom>
            <a:noFill/>
            <a:ln>
              <a:noFill/>
            </a:ln>
          </p:spPr>
          <p:txBody>
            <a:bodyPr wrap="none" lIns="0" tIns="0" rIns="0" bIns="0" anchor="t" anchorCtr="0">
              <a:spAutoFit/>
            </a:bodyPr>
            <a:lstStyle/>
            <a:p>
              <a:pPr algn="l"/>
              <a:r>
                <a:rPr lang="en-US" sz="1120" b="1" dirty="0">
                  <a:solidFill>
                    <a:srgbClr val="2563EB"/>
                  </a:solidFill>
                  <a:latin typeface="Consolas"/>
                  <a:ea typeface="Consolas"/>
                  <a:cs typeface="Consolas"/>
                </a:rPr>
                <a:t>GET</a:t>
              </a:r>
              <a:r>
                <a:rPr lang="en-US" sz="1120" dirty="0">
                  <a:solidFill>
                    <a:srgbClr val="0F2A43"/>
                  </a:solidFill>
                  <a:latin typeface="Consolas"/>
                  <a:ea typeface="Consolas"/>
                  <a:cs typeface="Consolas"/>
                </a:rPr>
                <a:t>/</a:t>
              </a:r>
              <a:r>
                <a:rPr lang="en-US" sz="1120" b="1" dirty="0">
                  <a:solidFill>
                    <a:srgbClr val="0E9AA7"/>
                  </a:solidFill>
                  <a:latin typeface="Consolas"/>
                  <a:ea typeface="Consolas"/>
                  <a:cs typeface="Consolas"/>
                </a:rPr>
                <a:t>PUT</a:t>
              </a:r>
              <a:r>
                <a:rPr lang="en-US" sz="1120" dirty="0">
                  <a:solidFill>
                    <a:srgbClr val="0F2A43"/>
                  </a:solidFill>
                  <a:latin typeface="Consolas"/>
                  <a:ea typeface="Consolas"/>
                  <a:cs typeface="Consolas"/>
                </a:rPr>
                <a:t xml:space="preserve"> /config/weights</a:t>
              </a:r>
            </a:p>
          </p:txBody>
        </p:sp>
        <p:sp>
          <p:nvSpPr>
            <p:cNvPr id="16" name="TextBox 16"/>
            <p:cNvSpPr txBox="1"/>
            <p:nvPr/>
          </p:nvSpPr>
          <p:spPr>
            <a:xfrm>
              <a:off x="756285" y="4431506"/>
              <a:ext cx="1553652" cy="220028"/>
            </a:xfrm>
            <a:prstGeom prst="rect">
              <a:avLst/>
            </a:prstGeom>
            <a:noFill/>
            <a:ln>
              <a:noFill/>
            </a:ln>
          </p:spPr>
          <p:txBody>
            <a:bodyPr wrap="none" lIns="0" tIns="0" rIns="0" bIns="0" anchor="t" anchorCtr="0">
              <a:spAutoFit/>
            </a:bodyPr>
            <a:lstStyle/>
            <a:p>
              <a:pPr algn="l"/>
              <a:r>
                <a:rPr lang="en-US" sz="1120" b="1" dirty="0">
                  <a:solidFill>
                    <a:srgbClr val="2563EB"/>
                  </a:solidFill>
                  <a:latin typeface="Consolas"/>
                  <a:ea typeface="Consolas"/>
                  <a:cs typeface="Consolas"/>
                </a:rPr>
                <a:t>GET</a:t>
              </a:r>
              <a:r>
                <a:rPr lang="en-US" sz="1120" dirty="0">
                  <a:solidFill>
                    <a:srgbClr val="0F2A43"/>
                  </a:solidFill>
                  <a:latin typeface="Consolas"/>
                  <a:ea typeface="Consolas"/>
                  <a:cs typeface="Consolas"/>
                </a:rPr>
                <a:t xml:space="preserve"> /pipeline/status</a:t>
              </a:r>
            </a:p>
          </p:txBody>
        </p:sp>
        <p:sp>
          <p:nvSpPr>
            <p:cNvPr id="17" name="TextBox 17"/>
            <p:cNvSpPr txBox="1"/>
            <p:nvPr/>
          </p:nvSpPr>
          <p:spPr>
            <a:xfrm>
              <a:off x="756285" y="4679156"/>
              <a:ext cx="2438562" cy="220028"/>
            </a:xfrm>
            <a:prstGeom prst="rect">
              <a:avLst/>
            </a:prstGeom>
            <a:noFill/>
            <a:ln>
              <a:noFill/>
            </a:ln>
          </p:spPr>
          <p:txBody>
            <a:bodyPr wrap="none" lIns="0" tIns="0" rIns="0" bIns="0" anchor="t" anchorCtr="0">
              <a:spAutoFit/>
            </a:bodyPr>
            <a:lstStyle/>
            <a:p>
              <a:pPr algn="l"/>
              <a:r>
                <a:rPr lang="en-US" sz="1120" b="1" dirty="0">
                  <a:solidFill>
                    <a:srgbClr val="0E9AA7"/>
                  </a:solidFill>
                  <a:latin typeface="Consolas"/>
                  <a:ea typeface="Consolas"/>
                  <a:cs typeface="Consolas"/>
                </a:rPr>
                <a:t>POST</a:t>
              </a:r>
              <a:r>
                <a:rPr lang="en-US" sz="1120" dirty="0">
                  <a:solidFill>
                    <a:srgbClr val="0F2A43"/>
                  </a:solidFill>
                  <a:latin typeface="Consolas"/>
                  <a:ea typeface="Consolas"/>
                  <a:cs typeface="Consolas"/>
                </a:rPr>
                <a:t xml:space="preserve"> /auth/login · /auth/logout</a:t>
              </a:r>
            </a:p>
          </p:txBody>
        </p:sp>
      </p:grpSp>
      <p:grpSp>
        <p:nvGrpSpPr>
          <p:cNvPr id="36" name="Group 36"/>
          <p:cNvGrpSpPr/>
          <p:nvPr/>
        </p:nvGrpSpPr>
        <p:grpSpPr>
          <a:xfrm>
            <a:off x="6477000" y="1752600"/>
            <a:ext cx="4953000" cy="4038600"/>
            <a:chOff x="6477000" y="1752600"/>
            <a:chExt cx="4953000" cy="4038600"/>
          </a:xfrm>
        </p:grpSpPr>
        <p:sp>
          <p:nvSpPr>
            <p:cNvPr id="19" name="Rectangle 19"/>
            <p:cNvSpPr/>
            <p:nvPr/>
          </p:nvSpPr>
          <p:spPr>
            <a:xfrm>
              <a:off x="6477000" y="1752600"/>
              <a:ext cx="4953000" cy="4038600"/>
            </a:xfrm>
            <a:prstGeom prst="rect">
              <a:avLst/>
            </a:prstGeom>
            <a:solidFill>
              <a:srgbClr val="0F2A43"/>
            </a:solidFill>
            <a:ln>
              <a:noFill/>
            </a:ln>
          </p:spPr>
        </p:sp>
        <p:sp>
          <p:nvSpPr>
            <p:cNvPr id="20" name="Rectangle 20"/>
            <p:cNvSpPr/>
            <p:nvPr/>
          </p:nvSpPr>
          <p:spPr>
            <a:xfrm>
              <a:off x="6477000" y="1752600"/>
              <a:ext cx="57150" cy="4038600"/>
            </a:xfrm>
            <a:prstGeom prst="rect">
              <a:avLst/>
            </a:prstGeom>
            <a:solidFill>
              <a:srgbClr val="2563EB"/>
            </a:solidFill>
            <a:ln>
              <a:noFill/>
            </a:ln>
          </p:spPr>
        </p:sp>
        <p:sp>
          <p:nvSpPr>
            <p:cNvPr id="21" name="TextBox 21"/>
            <p:cNvSpPr txBox="1"/>
            <p:nvPr/>
          </p:nvSpPr>
          <p:spPr>
            <a:xfrm>
              <a:off x="6776847" y="1990249"/>
              <a:ext cx="1766392" cy="190690"/>
            </a:xfrm>
            <a:prstGeom prst="rect">
              <a:avLst/>
            </a:prstGeom>
            <a:noFill/>
            <a:ln>
              <a:noFill/>
            </a:ln>
          </p:spPr>
          <p:txBody>
            <a:bodyPr wrap="none" lIns="0" tIns="0" rIns="0" bIns="0" anchor="t" anchorCtr="0">
              <a:spAutoFit/>
            </a:bodyPr>
            <a:lstStyle/>
            <a:p>
              <a:pPr algn="l"/>
              <a:r>
                <a:rPr lang="en-US" sz="980" spc="150" dirty="0">
                  <a:solidFill>
                    <a:srgbClr val="8FB4F5"/>
                  </a:solidFill>
                  <a:latin typeface="Arial"/>
                  <a:ea typeface="Arial"/>
                  <a:cs typeface="Arial"/>
                </a:rPr>
                <a:t>DASHBOARD CONTRACT</a:t>
              </a:r>
            </a:p>
          </p:txBody>
        </p:sp>
        <p:sp>
          <p:nvSpPr>
            <p:cNvPr id="22" name="TextBox 22"/>
            <p:cNvSpPr txBox="1"/>
            <p:nvPr/>
          </p:nvSpPr>
          <p:spPr>
            <a:xfrm>
              <a:off x="6775704" y="2270760"/>
              <a:ext cx="3854430"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Arial"/>
                  <a:ea typeface="Arial"/>
                  <a:cs typeface="Arial"/>
                </a:rPr>
                <a:t>Always returns all four module keys, each with a</a:t>
              </a:r>
            </a:p>
          </p:txBody>
        </p:sp>
        <p:sp>
          <p:nvSpPr>
            <p:cNvPr id="23" name="TextBox 23"/>
            <p:cNvSpPr txBox="1"/>
            <p:nvPr/>
          </p:nvSpPr>
          <p:spPr>
            <a:xfrm>
              <a:off x="6775704" y="2480310"/>
              <a:ext cx="3509620"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Arial"/>
                  <a:ea typeface="Arial"/>
                  <a:cs typeface="Arial"/>
                </a:rPr>
                <a:t xml:space="preserve">status of </a:t>
              </a:r>
              <a:r>
                <a:rPr lang="en-US" sz="1200" dirty="0">
                  <a:solidFill>
                    <a:srgbClr val="8FB4F5"/>
                  </a:solidFill>
                  <a:latin typeface="Arial"/>
                  <a:ea typeface="Arial"/>
                  <a:cs typeface="Arial"/>
                </a:rPr>
                <a:t>ok</a:t>
              </a:r>
              <a:r>
                <a:rPr lang="en-US" sz="1200" dirty="0">
                  <a:solidFill>
                    <a:srgbClr val="FFFFFF"/>
                  </a:solidFill>
                  <a:latin typeface="Arial"/>
                  <a:ea typeface="Arial"/>
                  <a:cs typeface="Arial"/>
                </a:rPr>
                <a:t xml:space="preserve"> or </a:t>
              </a:r>
              <a:r>
                <a:rPr lang="en-US" sz="1200" dirty="0">
                  <a:solidFill>
                    <a:srgbClr val="8FB4F5"/>
                  </a:solidFill>
                  <a:latin typeface="Arial"/>
                  <a:ea typeface="Arial"/>
                  <a:cs typeface="Arial"/>
                </a:rPr>
                <a:t>unavailable</a:t>
              </a:r>
              <a:r>
                <a:rPr lang="en-US" sz="1200" dirty="0">
                  <a:solidFill>
                    <a:srgbClr val="FFFFFF"/>
                  </a:solidFill>
                  <a:latin typeface="Arial"/>
                  <a:ea typeface="Arial"/>
                  <a:cs typeface="Arial"/>
                </a:rPr>
                <a:t xml:space="preserve"> — never omitted.</a:t>
              </a:r>
            </a:p>
          </p:txBody>
        </p:sp>
        <p:sp>
          <p:nvSpPr>
            <p:cNvPr id="24" name="TextBox 24"/>
            <p:cNvSpPr txBox="1"/>
            <p:nvPr/>
          </p:nvSpPr>
          <p:spPr>
            <a:xfrm>
              <a:off x="6775704" y="2785110"/>
              <a:ext cx="3822075"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Arial"/>
                  <a:ea typeface="Arial"/>
                  <a:cs typeface="Arial"/>
                </a:rPr>
                <a:t>The recommendation always carries a non-empty</a:t>
              </a:r>
            </a:p>
          </p:txBody>
        </p:sp>
        <p:sp>
          <p:nvSpPr>
            <p:cNvPr id="25" name="TextBox 25"/>
            <p:cNvSpPr txBox="1"/>
            <p:nvPr/>
          </p:nvSpPr>
          <p:spPr>
            <a:xfrm>
              <a:off x="6775704" y="2994660"/>
              <a:ext cx="4486961"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Arial"/>
                  <a:ea typeface="Arial"/>
                  <a:cs typeface="Arial"/>
                </a:rPr>
                <a:t>per-lens breakdown — so no call ships without reasoning.</a:t>
              </a:r>
            </a:p>
          </p:txBody>
        </p:sp>
        <p:sp>
          <p:nvSpPr>
            <p:cNvPr id="26" name="Rectangle 26"/>
            <p:cNvSpPr/>
            <p:nvPr/>
          </p:nvSpPr>
          <p:spPr>
            <a:xfrm>
              <a:off x="6781800" y="3352800"/>
              <a:ext cx="4343400" cy="1428750"/>
            </a:xfrm>
            <a:prstGeom prst="rect">
              <a:avLst/>
            </a:prstGeom>
            <a:solidFill>
              <a:srgbClr val="0A2036"/>
            </a:solidFill>
            <a:ln>
              <a:noFill/>
            </a:ln>
          </p:spPr>
        </p:sp>
        <p:sp>
          <p:nvSpPr>
            <p:cNvPr id="27" name="TextBox 27"/>
            <p:cNvSpPr txBox="1"/>
            <p:nvPr/>
          </p:nvSpPr>
          <p:spPr>
            <a:xfrm>
              <a:off x="6948297" y="3514249"/>
              <a:ext cx="1880283" cy="190690"/>
            </a:xfrm>
            <a:prstGeom prst="rect">
              <a:avLst/>
            </a:prstGeom>
            <a:noFill/>
            <a:ln>
              <a:noFill/>
            </a:ln>
          </p:spPr>
          <p:txBody>
            <a:bodyPr wrap="none" lIns="0" tIns="0" rIns="0" bIns="0" anchor="t" anchorCtr="0">
              <a:spAutoFit/>
            </a:bodyPr>
            <a:lstStyle/>
            <a:p>
              <a:pPr algn="l"/>
              <a:r>
                <a:rPr lang="en-US" sz="980" dirty="0">
                  <a:solidFill>
                    <a:srgbClr val="C9D8EE"/>
                  </a:solidFill>
                  <a:latin typeface="Consolas"/>
                  <a:ea typeface="Consolas"/>
                  <a:cs typeface="Consolas"/>
                </a:rPr>
                <a:t>per_module_breakdown[i] = {</a:t>
              </a:r>
            </a:p>
          </p:txBody>
        </p:sp>
        <p:sp>
          <p:nvSpPr>
            <p:cNvPr id="28" name="TextBox 28"/>
            <p:cNvSpPr txBox="1"/>
            <p:nvPr/>
          </p:nvSpPr>
          <p:spPr>
            <a:xfrm>
              <a:off x="7119747" y="3723799"/>
              <a:ext cx="1493082" cy="190690"/>
            </a:xfrm>
            <a:prstGeom prst="rect">
              <a:avLst/>
            </a:prstGeom>
            <a:noFill/>
            <a:ln>
              <a:noFill/>
            </a:ln>
          </p:spPr>
          <p:txBody>
            <a:bodyPr wrap="none" lIns="0" tIns="0" rIns="0" bIns="0" anchor="t" anchorCtr="0">
              <a:spAutoFit/>
            </a:bodyPr>
            <a:lstStyle/>
            <a:p>
              <a:pPr algn="l"/>
              <a:r>
                <a:rPr lang="en-US" sz="980" dirty="0">
                  <a:solidFill>
                    <a:srgbClr val="C9D8EE"/>
                  </a:solidFill>
                  <a:latin typeface="Consolas"/>
                  <a:ea typeface="Consolas"/>
                  <a:cs typeface="Consolas"/>
                </a:rPr>
                <a:t>"module": "technical",</a:t>
              </a:r>
            </a:p>
          </p:txBody>
        </p:sp>
        <p:sp>
          <p:nvSpPr>
            <p:cNvPr id="29" name="TextBox 29"/>
            <p:cNvSpPr txBox="1"/>
            <p:nvPr/>
          </p:nvSpPr>
          <p:spPr>
            <a:xfrm>
              <a:off x="7119747" y="3933349"/>
              <a:ext cx="1355265" cy="190690"/>
            </a:xfrm>
            <a:prstGeom prst="rect">
              <a:avLst/>
            </a:prstGeom>
            <a:noFill/>
            <a:ln>
              <a:noFill/>
            </a:ln>
          </p:spPr>
          <p:txBody>
            <a:bodyPr wrap="none" lIns="0" tIns="0" rIns="0" bIns="0" anchor="t" anchorCtr="0">
              <a:spAutoFit/>
            </a:bodyPr>
            <a:lstStyle/>
            <a:p>
              <a:pPr algn="l"/>
              <a:r>
                <a:rPr lang="en-US" sz="980" dirty="0">
                  <a:solidFill>
                    <a:srgbClr val="C9D8EE"/>
                  </a:solidFill>
                  <a:latin typeface="Consolas"/>
                  <a:ea typeface="Consolas"/>
                  <a:cs typeface="Consolas"/>
                </a:rPr>
                <a:t>"signal_score": 1.2,</a:t>
              </a:r>
            </a:p>
          </p:txBody>
        </p:sp>
        <p:sp>
          <p:nvSpPr>
            <p:cNvPr id="30" name="TextBox 30"/>
            <p:cNvSpPr txBox="1"/>
            <p:nvPr/>
          </p:nvSpPr>
          <p:spPr>
            <a:xfrm>
              <a:off x="7119747" y="4142899"/>
              <a:ext cx="1670275" cy="190690"/>
            </a:xfrm>
            <a:prstGeom prst="rect">
              <a:avLst/>
            </a:prstGeom>
            <a:noFill/>
            <a:ln>
              <a:noFill/>
            </a:ln>
          </p:spPr>
          <p:txBody>
            <a:bodyPr wrap="none" lIns="0" tIns="0" rIns="0" bIns="0" anchor="t" anchorCtr="0">
              <a:spAutoFit/>
            </a:bodyPr>
            <a:lstStyle/>
            <a:p>
              <a:pPr algn="l"/>
              <a:r>
                <a:rPr lang="en-US" sz="980" dirty="0">
                  <a:solidFill>
                    <a:srgbClr val="C9D8EE"/>
                  </a:solidFill>
                  <a:latin typeface="Consolas"/>
                  <a:ea typeface="Consolas"/>
                  <a:cs typeface="Consolas"/>
                </a:rPr>
                <a:t>"weight_assigned": 0.30,</a:t>
              </a:r>
            </a:p>
          </p:txBody>
        </p:sp>
        <p:sp>
          <p:nvSpPr>
            <p:cNvPr id="31" name="TextBox 31"/>
            <p:cNvSpPr txBox="1"/>
            <p:nvPr/>
          </p:nvSpPr>
          <p:spPr>
            <a:xfrm>
              <a:off x="7119747" y="4352449"/>
              <a:ext cx="1742465" cy="190690"/>
            </a:xfrm>
            <a:prstGeom prst="rect">
              <a:avLst/>
            </a:prstGeom>
            <a:noFill/>
            <a:ln>
              <a:noFill/>
            </a:ln>
          </p:spPr>
          <p:txBody>
            <a:bodyPr wrap="none" lIns="0" tIns="0" rIns="0" bIns="0" anchor="t" anchorCtr="0">
              <a:spAutoFit/>
            </a:bodyPr>
            <a:lstStyle/>
            <a:p>
              <a:pPr algn="l"/>
              <a:r>
                <a:rPr lang="en-US" sz="980" dirty="0">
                  <a:solidFill>
                    <a:srgbClr val="8FB4F5"/>
                  </a:solidFill>
                  <a:latin typeface="Consolas"/>
                  <a:ea typeface="Consolas"/>
                  <a:cs typeface="Consolas"/>
                </a:rPr>
                <a:t>"weight_effective": 0.43,</a:t>
              </a:r>
            </a:p>
          </p:txBody>
        </p:sp>
        <p:sp>
          <p:nvSpPr>
            <p:cNvPr id="32" name="TextBox 32"/>
            <p:cNvSpPr txBox="1"/>
            <p:nvPr/>
          </p:nvSpPr>
          <p:spPr>
            <a:xfrm>
              <a:off x="7119747" y="4561999"/>
              <a:ext cx="1099318" cy="190690"/>
            </a:xfrm>
            <a:prstGeom prst="rect">
              <a:avLst/>
            </a:prstGeom>
            <a:noFill/>
            <a:ln>
              <a:noFill/>
            </a:ln>
          </p:spPr>
          <p:txBody>
            <a:bodyPr wrap="none" lIns="0" tIns="0" rIns="0" bIns="0" anchor="t" anchorCtr="0">
              <a:spAutoFit/>
            </a:bodyPr>
            <a:lstStyle/>
            <a:p>
              <a:pPr algn="l"/>
              <a:r>
                <a:rPr lang="en-US" sz="980" dirty="0">
                  <a:solidFill>
                    <a:srgbClr val="C9D8EE"/>
                  </a:solidFill>
                  <a:latin typeface="Consolas"/>
                  <a:ea typeface="Consolas"/>
                  <a:cs typeface="Consolas"/>
                </a:rPr>
                <a:t>"status": "ok" }</a:t>
              </a:r>
            </a:p>
          </p:txBody>
        </p:sp>
        <p:sp>
          <p:nvSpPr>
            <p:cNvPr id="33" name="TextBox 33"/>
            <p:cNvSpPr txBox="1"/>
            <p:nvPr/>
          </p:nvSpPr>
          <p:spPr>
            <a:xfrm>
              <a:off x="6776085" y="5060156"/>
              <a:ext cx="3787809" cy="220028"/>
            </a:xfrm>
            <a:prstGeom prst="rect">
              <a:avLst/>
            </a:prstGeom>
            <a:noFill/>
            <a:ln>
              <a:noFill/>
            </a:ln>
          </p:spPr>
          <p:txBody>
            <a:bodyPr wrap="none" lIns="0" tIns="0" rIns="0" bIns="0" anchor="t" anchorCtr="0">
              <a:spAutoFit/>
            </a:bodyPr>
            <a:lstStyle/>
            <a:p>
              <a:pPr algn="l"/>
              <a:r>
                <a:rPr lang="en-US" sz="1120" dirty="0">
                  <a:solidFill>
                    <a:srgbClr val="C9D8EE"/>
                  </a:solidFill>
                  <a:latin typeface="Arial"/>
                  <a:ea typeface="Arial"/>
                  <a:cs typeface="Arial"/>
                </a:rPr>
                <a:t>A single failed module returns 200 with that module</a:t>
              </a:r>
            </a:p>
          </p:txBody>
        </p:sp>
        <p:sp>
          <p:nvSpPr>
            <p:cNvPr id="34" name="TextBox 34"/>
            <p:cNvSpPr txBox="1"/>
            <p:nvPr/>
          </p:nvSpPr>
          <p:spPr>
            <a:xfrm>
              <a:off x="6776085" y="5269706"/>
              <a:ext cx="3925773" cy="220028"/>
            </a:xfrm>
            <a:prstGeom prst="rect">
              <a:avLst/>
            </a:prstGeom>
            <a:noFill/>
            <a:ln>
              <a:noFill/>
            </a:ln>
          </p:spPr>
          <p:txBody>
            <a:bodyPr wrap="none" lIns="0" tIns="0" rIns="0" bIns="0" anchor="t" anchorCtr="0">
              <a:spAutoFit/>
            </a:bodyPr>
            <a:lstStyle/>
            <a:p>
              <a:pPr algn="l"/>
              <a:r>
                <a:rPr lang="en-US" sz="1120" dirty="0">
                  <a:solidFill>
                    <a:srgbClr val="C9D8EE"/>
                  </a:solidFill>
                  <a:latin typeface="Arial"/>
                  <a:ea typeface="Arial"/>
                  <a:cs typeface="Arial"/>
                </a:rPr>
                <a:t>flagged; 503 is reserved for a total API / DB outage.</a:t>
              </a:r>
            </a:p>
          </p:txBody>
        </p:sp>
        <p:sp>
          <p:nvSpPr>
            <p:cNvPr id="35" name="TextBox 35"/>
            <p:cNvSpPr txBox="1"/>
            <p:nvPr/>
          </p:nvSpPr>
          <p:spPr>
            <a:xfrm>
              <a:off x="6776085" y="5498306"/>
              <a:ext cx="3991906" cy="220028"/>
            </a:xfrm>
            <a:prstGeom prst="rect">
              <a:avLst/>
            </a:prstGeom>
            <a:noFill/>
            <a:ln>
              <a:noFill/>
            </a:ln>
          </p:spPr>
          <p:txBody>
            <a:bodyPr wrap="none" lIns="0" tIns="0" rIns="0" bIns="0" anchor="t" anchorCtr="0">
              <a:spAutoFit/>
            </a:bodyPr>
            <a:lstStyle/>
            <a:p>
              <a:pPr algn="l"/>
              <a:r>
                <a:rPr lang="en-US" sz="1120" dirty="0">
                  <a:solidFill>
                    <a:srgbClr val="C9D8EE"/>
                  </a:solidFill>
                  <a:latin typeface="Arial"/>
                  <a:ea typeface="Arial"/>
                  <a:cs typeface="Arial"/>
                </a:rPr>
                <a:t>Out-of-scope tickers return SECTOR_NOT_COVERED.</a:t>
              </a:r>
            </a:p>
          </p:txBody>
        </p:sp>
      </p:grpSp>
      <p:grpSp>
        <p:nvGrpSpPr>
          <p:cNvPr id="40" name="Group 40"/>
          <p:cNvGrpSpPr/>
          <p:nvPr/>
        </p:nvGrpSpPr>
        <p:grpSpPr>
          <a:xfrm>
            <a:off x="757047" y="6477000"/>
            <a:ext cx="10677906" cy="285464"/>
            <a:chOff x="757047" y="6477000"/>
            <a:chExt cx="10677906" cy="285464"/>
          </a:xfrm>
        </p:grpSpPr>
        <p:sp>
          <p:nvSpPr>
            <p:cNvPr id="37" name="Line 37"/>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38" name="TextBox 38"/>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39" name="TextBox 39"/>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11 / 17</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9808" y="572452"/>
            <a:ext cx="8062116" cy="742760"/>
            <a:chOff x="749808" y="572452"/>
            <a:chExt cx="8062116" cy="742760"/>
          </a:xfrm>
        </p:grpSpPr>
        <p:sp>
          <p:nvSpPr>
            <p:cNvPr id="3" name="TextBox 3"/>
            <p:cNvSpPr txBox="1"/>
            <p:nvPr/>
          </p:nvSpPr>
          <p:spPr>
            <a:xfrm>
              <a:off x="756666" y="572452"/>
              <a:ext cx="3208934"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SEQUENCE — DAILY BATCH · §22.1</a:t>
              </a:r>
            </a:p>
          </p:txBody>
        </p:sp>
        <p:sp>
          <p:nvSpPr>
            <p:cNvPr id="4" name="TextBox 4"/>
            <p:cNvSpPr txBox="1"/>
            <p:nvPr/>
          </p:nvSpPr>
          <p:spPr>
            <a:xfrm>
              <a:off x="749808" y="845820"/>
              <a:ext cx="8062116"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Ingest → signal → score → backtest, before 07:00</a:t>
              </a:r>
            </a:p>
          </p:txBody>
        </p:sp>
      </p:grpSp>
      <p:grpSp>
        <p:nvGrpSpPr>
          <p:cNvPr id="7" name="Group 7"/>
          <p:cNvGrpSpPr/>
          <p:nvPr/>
        </p:nvGrpSpPr>
        <p:grpSpPr>
          <a:xfrm>
            <a:off x="1143000" y="1866900"/>
            <a:ext cx="9525" cy="3543300"/>
            <a:chOff x="1143000" y="1866900"/>
            <a:chExt cx="9525" cy="3543300"/>
          </a:xfrm>
        </p:grpSpPr>
        <p:sp>
          <p:nvSpPr>
            <p:cNvPr id="6" name="Line 6"/>
            <p:cNvSpPr/>
            <p:nvPr/>
          </p:nvSpPr>
          <p:spPr>
            <a:xfrm>
              <a:off x="1143000" y="1866900"/>
              <a:ext cx="9525" cy="3543300"/>
            </a:xfrm>
            <a:custGeom>
              <a:avLst/>
              <a:gdLst/>
              <a:ahLst/>
              <a:cxnLst/>
              <a:rect l="l" t="t" r="r" b="b"/>
              <a:pathLst>
                <a:path w="9525" h="3543300">
                  <a:moveTo>
                    <a:pt x="0" y="0"/>
                  </a:moveTo>
                  <a:lnTo>
                    <a:pt x="0" y="3543300"/>
                  </a:lnTo>
                </a:path>
              </a:pathLst>
            </a:custGeom>
            <a:noFill/>
            <a:ln w="19050">
              <a:solidFill>
                <a:srgbClr val="D6DDE5"/>
              </a:solidFill>
            </a:ln>
          </p:spPr>
        </p:sp>
      </p:grpSp>
      <p:grpSp>
        <p:nvGrpSpPr>
          <p:cNvPr id="12" name="Group 12"/>
          <p:cNvGrpSpPr/>
          <p:nvPr/>
        </p:nvGrpSpPr>
        <p:grpSpPr>
          <a:xfrm>
            <a:off x="952500" y="1733550"/>
            <a:ext cx="4689039" cy="505206"/>
            <a:chOff x="952500" y="1733550"/>
            <a:chExt cx="4689039" cy="505206"/>
          </a:xfrm>
        </p:grpSpPr>
        <p:sp>
          <p:nvSpPr>
            <p:cNvPr id="8" name="Rectangle 8"/>
            <p:cNvSpPr/>
            <p:nvPr/>
          </p:nvSpPr>
          <p:spPr>
            <a:xfrm>
              <a:off x="952500" y="1733550"/>
              <a:ext cx="381000" cy="381000"/>
            </a:xfrm>
            <a:prstGeom prst="rect">
              <a:avLst/>
            </a:prstGeom>
            <a:solidFill>
              <a:srgbClr val="2563EB"/>
            </a:solidFill>
            <a:ln>
              <a:noFill/>
            </a:ln>
          </p:spPr>
        </p:sp>
        <p:sp>
          <p:nvSpPr>
            <p:cNvPr id="9" name="TextBox 9"/>
            <p:cNvSpPr txBox="1"/>
            <p:nvPr/>
          </p:nvSpPr>
          <p:spPr>
            <a:xfrm>
              <a:off x="1083665" y="18449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rial"/>
                  <a:ea typeface="Arial"/>
                  <a:cs typeface="Arial"/>
                </a:rPr>
                <a:t>1</a:t>
              </a:r>
            </a:p>
          </p:txBody>
        </p:sp>
        <p:sp>
          <p:nvSpPr>
            <p:cNvPr id="10" name="TextBox 10"/>
            <p:cNvSpPr txBox="1"/>
            <p:nvPr/>
          </p:nvSpPr>
          <p:spPr>
            <a:xfrm>
              <a:off x="1669161" y="1751171"/>
              <a:ext cx="745472" cy="278702"/>
            </a:xfrm>
            <a:prstGeom prst="rect">
              <a:avLst/>
            </a:prstGeom>
            <a:noFill/>
            <a:ln>
              <a:noFill/>
            </a:ln>
          </p:spPr>
          <p:txBody>
            <a:bodyPr wrap="none" lIns="0" tIns="0" rIns="0" bIns="0" anchor="t" anchorCtr="0">
              <a:spAutoFit/>
            </a:bodyPr>
            <a:lstStyle/>
            <a:p>
              <a:pPr algn="l"/>
              <a:r>
                <a:rPr lang="en-US" sz="1420" b="1" dirty="0">
                  <a:solidFill>
                    <a:srgbClr val="0F2A43"/>
                  </a:solidFill>
                  <a:latin typeface="Arial"/>
                  <a:ea typeface="Arial"/>
                  <a:cs typeface="Arial"/>
                </a:rPr>
                <a:t>Trigger</a:t>
              </a:r>
            </a:p>
          </p:txBody>
        </p:sp>
        <p:sp>
          <p:nvSpPr>
            <p:cNvPr id="11" name="TextBox 11"/>
            <p:cNvSpPr txBox="1"/>
            <p:nvPr/>
          </p:nvSpPr>
          <p:spPr>
            <a:xfrm>
              <a:off x="1670304" y="2004060"/>
              <a:ext cx="3971235"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APScheduler fires once daily, ~03:00 Taiwan time.</a:t>
              </a:r>
            </a:p>
          </p:txBody>
        </p:sp>
      </p:grpSp>
      <p:grpSp>
        <p:nvGrpSpPr>
          <p:cNvPr id="17" name="Group 17"/>
          <p:cNvGrpSpPr/>
          <p:nvPr/>
        </p:nvGrpSpPr>
        <p:grpSpPr>
          <a:xfrm>
            <a:off x="952500" y="2400300"/>
            <a:ext cx="8804828" cy="505206"/>
            <a:chOff x="952500" y="2400300"/>
            <a:chExt cx="8804828" cy="505206"/>
          </a:xfrm>
        </p:grpSpPr>
        <p:sp>
          <p:nvSpPr>
            <p:cNvPr id="13" name="Rectangle 13"/>
            <p:cNvSpPr/>
            <p:nvPr/>
          </p:nvSpPr>
          <p:spPr>
            <a:xfrm>
              <a:off x="952500" y="2400300"/>
              <a:ext cx="381000" cy="381000"/>
            </a:xfrm>
            <a:prstGeom prst="rect">
              <a:avLst/>
            </a:prstGeom>
            <a:solidFill>
              <a:srgbClr val="0F2A43"/>
            </a:solidFill>
            <a:ln>
              <a:noFill/>
            </a:ln>
          </p:spPr>
        </p:sp>
        <p:sp>
          <p:nvSpPr>
            <p:cNvPr id="14" name="TextBox 14"/>
            <p:cNvSpPr txBox="1"/>
            <p:nvPr/>
          </p:nvSpPr>
          <p:spPr>
            <a:xfrm>
              <a:off x="1083665" y="25117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rial"/>
                  <a:ea typeface="Arial"/>
                  <a:cs typeface="Arial"/>
                </a:rPr>
                <a:t>2</a:t>
              </a:r>
            </a:p>
          </p:txBody>
        </p:sp>
        <p:sp>
          <p:nvSpPr>
            <p:cNvPr id="15" name="TextBox 15"/>
            <p:cNvSpPr txBox="1"/>
            <p:nvPr/>
          </p:nvSpPr>
          <p:spPr>
            <a:xfrm>
              <a:off x="1669161" y="2417921"/>
              <a:ext cx="634621" cy="278702"/>
            </a:xfrm>
            <a:prstGeom prst="rect">
              <a:avLst/>
            </a:prstGeom>
            <a:noFill/>
            <a:ln>
              <a:noFill/>
            </a:ln>
          </p:spPr>
          <p:txBody>
            <a:bodyPr wrap="none" lIns="0" tIns="0" rIns="0" bIns="0" anchor="t" anchorCtr="0">
              <a:spAutoFit/>
            </a:bodyPr>
            <a:lstStyle/>
            <a:p>
              <a:pPr algn="l"/>
              <a:r>
                <a:rPr lang="en-US" sz="1420" b="1" dirty="0">
                  <a:solidFill>
                    <a:srgbClr val="0F2A43"/>
                  </a:solidFill>
                  <a:latin typeface="Arial"/>
                  <a:ea typeface="Arial"/>
                  <a:cs typeface="Arial"/>
                </a:rPr>
                <a:t>Ingest</a:t>
              </a:r>
            </a:p>
          </p:txBody>
        </p:sp>
        <p:sp>
          <p:nvSpPr>
            <p:cNvPr id="16" name="TextBox 16"/>
            <p:cNvSpPr txBox="1"/>
            <p:nvPr/>
          </p:nvSpPr>
          <p:spPr>
            <a:xfrm>
              <a:off x="1670304" y="2670810"/>
              <a:ext cx="8087024"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Per ticker, each adapter fetches; try/except marks ok or unavailable — a failure never aborts peers.</a:t>
              </a:r>
            </a:p>
          </p:txBody>
        </p:sp>
      </p:grpSp>
      <p:grpSp>
        <p:nvGrpSpPr>
          <p:cNvPr id="22" name="Group 22"/>
          <p:cNvGrpSpPr/>
          <p:nvPr/>
        </p:nvGrpSpPr>
        <p:grpSpPr>
          <a:xfrm>
            <a:off x="952500" y="3067050"/>
            <a:ext cx="6840185" cy="505206"/>
            <a:chOff x="952500" y="3067050"/>
            <a:chExt cx="6840185" cy="505206"/>
          </a:xfrm>
        </p:grpSpPr>
        <p:sp>
          <p:nvSpPr>
            <p:cNvPr id="18" name="Rectangle 18"/>
            <p:cNvSpPr/>
            <p:nvPr/>
          </p:nvSpPr>
          <p:spPr>
            <a:xfrm>
              <a:off x="952500" y="3067050"/>
              <a:ext cx="381000" cy="381000"/>
            </a:xfrm>
            <a:prstGeom prst="rect">
              <a:avLst/>
            </a:prstGeom>
            <a:solidFill>
              <a:srgbClr val="0F2A43"/>
            </a:solidFill>
            <a:ln>
              <a:noFill/>
            </a:ln>
          </p:spPr>
        </p:sp>
        <p:sp>
          <p:nvSpPr>
            <p:cNvPr id="19" name="TextBox 19"/>
            <p:cNvSpPr txBox="1"/>
            <p:nvPr/>
          </p:nvSpPr>
          <p:spPr>
            <a:xfrm>
              <a:off x="1083665" y="31784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rial"/>
                  <a:ea typeface="Arial"/>
                  <a:cs typeface="Arial"/>
                </a:rPr>
                <a:t>3</a:t>
              </a:r>
            </a:p>
          </p:txBody>
        </p:sp>
        <p:sp>
          <p:nvSpPr>
            <p:cNvPr id="20" name="TextBox 20"/>
            <p:cNvSpPr txBox="1"/>
            <p:nvPr/>
          </p:nvSpPr>
          <p:spPr>
            <a:xfrm>
              <a:off x="1669161" y="3084671"/>
              <a:ext cx="1058342" cy="278702"/>
            </a:xfrm>
            <a:prstGeom prst="rect">
              <a:avLst/>
            </a:prstGeom>
            <a:noFill/>
            <a:ln>
              <a:noFill/>
            </a:ln>
          </p:spPr>
          <p:txBody>
            <a:bodyPr wrap="none" lIns="0" tIns="0" rIns="0" bIns="0" anchor="t" anchorCtr="0">
              <a:spAutoFit/>
            </a:bodyPr>
            <a:lstStyle/>
            <a:p>
              <a:pPr algn="l"/>
              <a:r>
                <a:rPr lang="en-US" sz="1420" b="1" dirty="0">
                  <a:solidFill>
                    <a:srgbClr val="0F2A43"/>
                  </a:solidFill>
                  <a:latin typeface="Arial"/>
                  <a:ea typeface="Arial"/>
                  <a:cs typeface="Arial"/>
                </a:rPr>
                <a:t>Transform</a:t>
              </a:r>
            </a:p>
          </p:txBody>
        </p:sp>
        <p:sp>
          <p:nvSpPr>
            <p:cNvPr id="21" name="TextBox 21"/>
            <p:cNvSpPr txBox="1"/>
            <p:nvPr/>
          </p:nvSpPr>
          <p:spPr>
            <a:xfrm>
              <a:off x="1670304" y="3337560"/>
              <a:ext cx="6122381"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Signal Calculators derive each module's −2 to +2 signal from the day's facts.</a:t>
              </a:r>
            </a:p>
          </p:txBody>
        </p:sp>
      </p:grpSp>
      <p:grpSp>
        <p:nvGrpSpPr>
          <p:cNvPr id="27" name="Group 27"/>
          <p:cNvGrpSpPr/>
          <p:nvPr/>
        </p:nvGrpSpPr>
        <p:grpSpPr>
          <a:xfrm>
            <a:off x="952500" y="3733800"/>
            <a:ext cx="9586769" cy="505206"/>
            <a:chOff x="952500" y="3733800"/>
            <a:chExt cx="9586769" cy="505206"/>
          </a:xfrm>
        </p:grpSpPr>
        <p:sp>
          <p:nvSpPr>
            <p:cNvPr id="23" name="Rectangle 23"/>
            <p:cNvSpPr/>
            <p:nvPr/>
          </p:nvSpPr>
          <p:spPr>
            <a:xfrm>
              <a:off x="952500" y="3733800"/>
              <a:ext cx="381000" cy="381000"/>
            </a:xfrm>
            <a:prstGeom prst="rect">
              <a:avLst/>
            </a:prstGeom>
            <a:solidFill>
              <a:srgbClr val="2563EB"/>
            </a:solidFill>
            <a:ln>
              <a:noFill/>
            </a:ln>
          </p:spPr>
        </p:sp>
        <p:sp>
          <p:nvSpPr>
            <p:cNvPr id="24" name="TextBox 24"/>
            <p:cNvSpPr txBox="1"/>
            <p:nvPr/>
          </p:nvSpPr>
          <p:spPr>
            <a:xfrm>
              <a:off x="1083665" y="38452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rial"/>
                  <a:ea typeface="Arial"/>
                  <a:cs typeface="Arial"/>
                </a:rPr>
                <a:t>4</a:t>
              </a:r>
            </a:p>
          </p:txBody>
        </p:sp>
        <p:sp>
          <p:nvSpPr>
            <p:cNvPr id="25" name="TextBox 25"/>
            <p:cNvSpPr txBox="1"/>
            <p:nvPr/>
          </p:nvSpPr>
          <p:spPr>
            <a:xfrm>
              <a:off x="1669161" y="3751421"/>
              <a:ext cx="574668" cy="278702"/>
            </a:xfrm>
            <a:prstGeom prst="rect">
              <a:avLst/>
            </a:prstGeom>
            <a:noFill/>
            <a:ln>
              <a:noFill/>
            </a:ln>
          </p:spPr>
          <p:txBody>
            <a:bodyPr wrap="none" lIns="0" tIns="0" rIns="0" bIns="0" anchor="t" anchorCtr="0">
              <a:spAutoFit/>
            </a:bodyPr>
            <a:lstStyle/>
            <a:p>
              <a:pPr algn="l"/>
              <a:r>
                <a:rPr lang="en-US" sz="1420" b="1" dirty="0">
                  <a:solidFill>
                    <a:srgbClr val="0F2A43"/>
                  </a:solidFill>
                  <a:latin typeface="Arial"/>
                  <a:ea typeface="Arial"/>
                  <a:cs typeface="Arial"/>
                </a:rPr>
                <a:t>Score</a:t>
              </a:r>
            </a:p>
          </p:txBody>
        </p:sp>
        <p:sp>
          <p:nvSpPr>
            <p:cNvPr id="26" name="TextBox 26"/>
            <p:cNvSpPr txBox="1"/>
            <p:nvPr/>
          </p:nvSpPr>
          <p:spPr>
            <a:xfrm>
              <a:off x="1670304" y="4004310"/>
              <a:ext cx="8868965"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Recommendation Engine reads signals + weights → writes signal, Bear/Base/Bull target, confidence, breakdown.</a:t>
              </a:r>
            </a:p>
          </p:txBody>
        </p:sp>
      </p:grpSp>
      <p:grpSp>
        <p:nvGrpSpPr>
          <p:cNvPr id="32" name="Group 32"/>
          <p:cNvGrpSpPr/>
          <p:nvPr/>
        </p:nvGrpSpPr>
        <p:grpSpPr>
          <a:xfrm>
            <a:off x="952500" y="4400550"/>
            <a:ext cx="8990392" cy="505206"/>
            <a:chOff x="952500" y="4400550"/>
            <a:chExt cx="8990392" cy="505206"/>
          </a:xfrm>
        </p:grpSpPr>
        <p:sp>
          <p:nvSpPr>
            <p:cNvPr id="28" name="Rectangle 28"/>
            <p:cNvSpPr/>
            <p:nvPr/>
          </p:nvSpPr>
          <p:spPr>
            <a:xfrm>
              <a:off x="952500" y="4400550"/>
              <a:ext cx="381000" cy="381000"/>
            </a:xfrm>
            <a:prstGeom prst="rect">
              <a:avLst/>
            </a:prstGeom>
            <a:solidFill>
              <a:srgbClr val="0F2A43"/>
            </a:solidFill>
            <a:ln>
              <a:noFill/>
            </a:ln>
          </p:spPr>
        </p:sp>
        <p:sp>
          <p:nvSpPr>
            <p:cNvPr id="29" name="TextBox 29"/>
            <p:cNvSpPr txBox="1"/>
            <p:nvPr/>
          </p:nvSpPr>
          <p:spPr>
            <a:xfrm>
              <a:off x="1083665" y="45119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rial"/>
                  <a:ea typeface="Arial"/>
                  <a:cs typeface="Arial"/>
                </a:rPr>
                <a:t>5</a:t>
              </a:r>
            </a:p>
          </p:txBody>
        </p:sp>
        <p:sp>
          <p:nvSpPr>
            <p:cNvPr id="30" name="TextBox 30"/>
            <p:cNvSpPr txBox="1"/>
            <p:nvPr/>
          </p:nvSpPr>
          <p:spPr>
            <a:xfrm>
              <a:off x="1669161" y="4418171"/>
              <a:ext cx="907020" cy="278702"/>
            </a:xfrm>
            <a:prstGeom prst="rect">
              <a:avLst/>
            </a:prstGeom>
            <a:noFill/>
            <a:ln>
              <a:noFill/>
            </a:ln>
          </p:spPr>
          <p:txBody>
            <a:bodyPr wrap="none" lIns="0" tIns="0" rIns="0" bIns="0" anchor="t" anchorCtr="0">
              <a:spAutoFit/>
            </a:bodyPr>
            <a:lstStyle/>
            <a:p>
              <a:pPr algn="l"/>
              <a:r>
                <a:rPr lang="en-US" sz="1420" b="1" dirty="0">
                  <a:solidFill>
                    <a:srgbClr val="0F2A43"/>
                  </a:solidFill>
                  <a:latin typeface="Arial"/>
                  <a:ea typeface="Arial"/>
                  <a:cs typeface="Arial"/>
                </a:rPr>
                <a:t>Backtest</a:t>
              </a:r>
            </a:p>
          </p:txBody>
        </p:sp>
        <p:sp>
          <p:nvSpPr>
            <p:cNvPr id="31" name="TextBox 31"/>
            <p:cNvSpPr txBox="1"/>
            <p:nvPr/>
          </p:nvSpPr>
          <p:spPr>
            <a:xfrm>
              <a:off x="1670304" y="4671060"/>
              <a:ext cx="8272588"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Rolling accuracy is recomputed, segmented by data-completeness so partial days never bias the number.</a:t>
              </a:r>
            </a:p>
          </p:txBody>
        </p:sp>
      </p:grpSp>
      <p:grpSp>
        <p:nvGrpSpPr>
          <p:cNvPr id="37" name="Group 37"/>
          <p:cNvGrpSpPr/>
          <p:nvPr/>
        </p:nvGrpSpPr>
        <p:grpSpPr>
          <a:xfrm>
            <a:off x="952500" y="5067300"/>
            <a:ext cx="7479760" cy="505206"/>
            <a:chOff x="952500" y="5067300"/>
            <a:chExt cx="7479760" cy="505206"/>
          </a:xfrm>
        </p:grpSpPr>
        <p:sp>
          <p:nvSpPr>
            <p:cNvPr id="33" name="Rectangle 33"/>
            <p:cNvSpPr/>
            <p:nvPr/>
          </p:nvSpPr>
          <p:spPr>
            <a:xfrm>
              <a:off x="952500" y="5067300"/>
              <a:ext cx="381000" cy="381000"/>
            </a:xfrm>
            <a:prstGeom prst="rect">
              <a:avLst/>
            </a:prstGeom>
            <a:solidFill>
              <a:srgbClr val="0E9AA7"/>
            </a:solidFill>
            <a:ln>
              <a:noFill/>
            </a:ln>
          </p:spPr>
        </p:sp>
        <p:sp>
          <p:nvSpPr>
            <p:cNvPr id="34" name="TextBox 34"/>
            <p:cNvSpPr txBox="1"/>
            <p:nvPr/>
          </p:nvSpPr>
          <p:spPr>
            <a:xfrm>
              <a:off x="1083665" y="51787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rial"/>
                  <a:ea typeface="Arial"/>
                  <a:cs typeface="Arial"/>
                </a:rPr>
                <a:t>6</a:t>
              </a:r>
            </a:p>
          </p:txBody>
        </p:sp>
        <p:sp>
          <p:nvSpPr>
            <p:cNvPr id="35" name="TextBox 35"/>
            <p:cNvSpPr txBox="1"/>
            <p:nvPr/>
          </p:nvSpPr>
          <p:spPr>
            <a:xfrm>
              <a:off x="1669161" y="5084921"/>
              <a:ext cx="745472" cy="278702"/>
            </a:xfrm>
            <a:prstGeom prst="rect">
              <a:avLst/>
            </a:prstGeom>
            <a:noFill/>
            <a:ln>
              <a:noFill/>
            </a:ln>
          </p:spPr>
          <p:txBody>
            <a:bodyPr wrap="none" lIns="0" tIns="0" rIns="0" bIns="0" anchor="t" anchorCtr="0">
              <a:spAutoFit/>
            </a:bodyPr>
            <a:lstStyle/>
            <a:p>
              <a:pPr algn="l"/>
              <a:r>
                <a:rPr lang="en-US" sz="1420" b="1" dirty="0">
                  <a:solidFill>
                    <a:srgbClr val="0F2A43"/>
                  </a:solidFill>
                  <a:latin typeface="Arial"/>
                  <a:ea typeface="Arial"/>
                  <a:cs typeface="Arial"/>
                </a:rPr>
                <a:t>Persist</a:t>
              </a:r>
            </a:p>
          </p:txBody>
        </p:sp>
        <p:sp>
          <p:nvSpPr>
            <p:cNvPr id="36" name="TextBox 36"/>
            <p:cNvSpPr txBox="1"/>
            <p:nvPr/>
          </p:nvSpPr>
          <p:spPr>
            <a:xfrm>
              <a:off x="1670304" y="5337810"/>
              <a:ext cx="6761956"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A versioned daily snapshot is written; each failed source is flagged data-unavailable.</a:t>
              </a:r>
            </a:p>
          </p:txBody>
        </p:sp>
      </p:grpSp>
      <p:grpSp>
        <p:nvGrpSpPr>
          <p:cNvPr id="51" name="Group 51"/>
          <p:cNvGrpSpPr/>
          <p:nvPr/>
        </p:nvGrpSpPr>
        <p:grpSpPr>
          <a:xfrm>
            <a:off x="8115300" y="1733550"/>
            <a:ext cx="3314700" cy="3714750"/>
            <a:chOff x="8115300" y="1733550"/>
            <a:chExt cx="3314700" cy="3714750"/>
          </a:xfrm>
        </p:grpSpPr>
        <p:sp>
          <p:nvSpPr>
            <p:cNvPr id="38" name="Rectangle 38"/>
            <p:cNvSpPr/>
            <p:nvPr/>
          </p:nvSpPr>
          <p:spPr>
            <a:xfrm>
              <a:off x="8115300" y="1733550"/>
              <a:ext cx="3314700" cy="3714750"/>
            </a:xfrm>
            <a:prstGeom prst="rect">
              <a:avLst/>
            </a:prstGeom>
            <a:solidFill>
              <a:srgbClr val="F3F5F8"/>
            </a:solidFill>
            <a:ln>
              <a:noFill/>
            </a:ln>
          </p:spPr>
        </p:sp>
        <p:sp>
          <p:nvSpPr>
            <p:cNvPr id="39" name="Rectangle 39"/>
            <p:cNvSpPr/>
            <p:nvPr/>
          </p:nvSpPr>
          <p:spPr>
            <a:xfrm>
              <a:off x="8115300" y="1733550"/>
              <a:ext cx="3314700" cy="47625"/>
            </a:xfrm>
            <a:prstGeom prst="rect">
              <a:avLst/>
            </a:prstGeom>
            <a:solidFill>
              <a:srgbClr val="2563EB"/>
            </a:solidFill>
            <a:ln>
              <a:noFill/>
            </a:ln>
          </p:spPr>
        </p:sp>
        <p:sp>
          <p:nvSpPr>
            <p:cNvPr id="40" name="TextBox 40"/>
            <p:cNvSpPr txBox="1"/>
            <p:nvPr/>
          </p:nvSpPr>
          <p:spPr>
            <a:xfrm>
              <a:off x="8377047" y="2009299"/>
              <a:ext cx="637184"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THE SLA</a:t>
              </a:r>
            </a:p>
          </p:txBody>
        </p:sp>
        <p:sp>
          <p:nvSpPr>
            <p:cNvPr id="41" name="TextBox 41"/>
            <p:cNvSpPr txBox="1"/>
            <p:nvPr/>
          </p:nvSpPr>
          <p:spPr>
            <a:xfrm>
              <a:off x="8364474" y="2275522"/>
              <a:ext cx="2058845" cy="674751"/>
            </a:xfrm>
            <a:prstGeom prst="rect">
              <a:avLst/>
            </a:prstGeom>
            <a:noFill/>
            <a:ln>
              <a:noFill/>
            </a:ln>
          </p:spPr>
          <p:txBody>
            <a:bodyPr wrap="none" lIns="0" tIns="0" rIns="0" bIns="0" anchor="t" anchorCtr="0">
              <a:spAutoFit/>
            </a:bodyPr>
            <a:lstStyle/>
            <a:p>
              <a:pPr algn="l"/>
              <a:r>
                <a:rPr lang="en-US" sz="3450" b="1" dirty="0">
                  <a:solidFill>
                    <a:srgbClr val="0F2A43"/>
                  </a:solidFill>
                  <a:latin typeface="Arial"/>
                  <a:ea typeface="Arial"/>
                  <a:cs typeface="Arial"/>
                </a:rPr>
                <a:t>by 07:00</a:t>
              </a:r>
            </a:p>
          </p:txBody>
        </p:sp>
        <p:sp>
          <p:nvSpPr>
            <p:cNvPr id="42" name="TextBox 42"/>
            <p:cNvSpPr txBox="1"/>
            <p:nvPr/>
          </p:nvSpPr>
          <p:spPr>
            <a:xfrm>
              <a:off x="8375904" y="2804160"/>
              <a:ext cx="2351329"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Taiwan time (NFR-01) — ready</a:t>
              </a:r>
            </a:p>
          </p:txBody>
        </p:sp>
        <p:sp>
          <p:nvSpPr>
            <p:cNvPr id="43" name="TextBox 43"/>
            <p:cNvSpPr txBox="1"/>
            <p:nvPr/>
          </p:nvSpPr>
          <p:spPr>
            <a:xfrm>
              <a:off x="8375904" y="3013710"/>
              <a:ext cx="1918411"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for the morning review.</a:t>
              </a:r>
            </a:p>
          </p:txBody>
        </p:sp>
        <p:sp>
          <p:nvSpPr>
            <p:cNvPr id="44" name="Line 44"/>
            <p:cNvSpPr/>
            <p:nvPr/>
          </p:nvSpPr>
          <p:spPr>
            <a:xfrm>
              <a:off x="8382000" y="3429000"/>
              <a:ext cx="2781300" cy="9525"/>
            </a:xfrm>
            <a:custGeom>
              <a:avLst/>
              <a:gdLst/>
              <a:ahLst/>
              <a:cxnLst/>
              <a:rect l="l" t="t" r="r" b="b"/>
              <a:pathLst>
                <a:path w="2781300" h="9525">
                  <a:moveTo>
                    <a:pt x="0" y="0"/>
                  </a:moveTo>
                  <a:lnTo>
                    <a:pt x="2781300" y="0"/>
                  </a:lnTo>
                </a:path>
              </a:pathLst>
            </a:custGeom>
            <a:noFill/>
            <a:ln w="9525">
              <a:solidFill>
                <a:srgbClr val="D6DDE5"/>
              </a:solidFill>
            </a:ln>
          </p:spPr>
        </p:sp>
        <p:sp>
          <p:nvSpPr>
            <p:cNvPr id="45" name="TextBox 45"/>
            <p:cNvSpPr txBox="1"/>
            <p:nvPr/>
          </p:nvSpPr>
          <p:spPr>
            <a:xfrm>
              <a:off x="8375904" y="3642360"/>
              <a:ext cx="2910377"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The 03:00 window captures the prior</a:t>
              </a:r>
            </a:p>
          </p:txBody>
        </p:sp>
        <p:sp>
          <p:nvSpPr>
            <p:cNvPr id="46" name="TextBox 46"/>
            <p:cNvSpPr txBox="1"/>
            <p:nvPr/>
          </p:nvSpPr>
          <p:spPr>
            <a:xfrm>
              <a:off x="8375904" y="3851910"/>
              <a:ext cx="2731040"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full US session and TW evening chip</a:t>
              </a:r>
            </a:p>
          </p:txBody>
        </p:sp>
        <p:sp>
          <p:nvSpPr>
            <p:cNvPr id="47" name="TextBox 47"/>
            <p:cNvSpPr txBox="1"/>
            <p:nvPr/>
          </p:nvSpPr>
          <p:spPr>
            <a:xfrm>
              <a:off x="8375904" y="4061460"/>
              <a:ext cx="1272235"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data in one run.</a:t>
              </a:r>
            </a:p>
          </p:txBody>
        </p:sp>
        <p:sp>
          <p:nvSpPr>
            <p:cNvPr id="48" name="TextBox 48"/>
            <p:cNvSpPr txBox="1"/>
            <p:nvPr/>
          </p:nvSpPr>
          <p:spPr>
            <a:xfrm>
              <a:off x="8375904" y="4480560"/>
              <a:ext cx="2941655"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Clients then read only the snapshot —</a:t>
              </a:r>
            </a:p>
          </p:txBody>
        </p:sp>
        <p:sp>
          <p:nvSpPr>
            <p:cNvPr id="49" name="TextBox 49"/>
            <p:cNvSpPr txBox="1"/>
            <p:nvPr/>
          </p:nvSpPr>
          <p:spPr>
            <a:xfrm>
              <a:off x="8375904" y="4690110"/>
              <a:ext cx="3008833"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no live computation, so the dashboard</a:t>
              </a:r>
            </a:p>
          </p:txBody>
        </p:sp>
        <p:sp>
          <p:nvSpPr>
            <p:cNvPr id="50" name="TextBox 50"/>
            <p:cNvSpPr txBox="1"/>
            <p:nvPr/>
          </p:nvSpPr>
          <p:spPr>
            <a:xfrm>
              <a:off x="8375904" y="4899660"/>
              <a:ext cx="2771498" cy="234696"/>
            </a:xfrm>
            <a:prstGeom prst="rect">
              <a:avLst/>
            </a:prstGeom>
            <a:noFill/>
            <a:ln>
              <a:noFill/>
            </a:ln>
          </p:spPr>
          <p:txBody>
            <a:bodyPr wrap="none" lIns="0" tIns="0" rIns="0" bIns="0" anchor="t" anchorCtr="0">
              <a:spAutoFit/>
            </a:bodyPr>
            <a:lstStyle/>
            <a:p>
              <a:pPr algn="l"/>
              <a:r>
                <a:rPr lang="en-US" sz="1200" dirty="0">
                  <a:solidFill>
                    <a:srgbClr val="0F2A43"/>
                  </a:solidFill>
                  <a:latin typeface="Arial"/>
                  <a:ea typeface="Arial"/>
                  <a:cs typeface="Arial"/>
                </a:rPr>
                <a:t>loads in under 5 seconds (NFR-02).</a:t>
              </a:r>
            </a:p>
          </p:txBody>
        </p:sp>
      </p:grpSp>
      <p:grpSp>
        <p:nvGrpSpPr>
          <p:cNvPr id="55" name="Group 55"/>
          <p:cNvGrpSpPr/>
          <p:nvPr/>
        </p:nvGrpSpPr>
        <p:grpSpPr>
          <a:xfrm>
            <a:off x="757047" y="6477000"/>
            <a:ext cx="10677906" cy="285464"/>
            <a:chOff x="757047" y="6477000"/>
            <a:chExt cx="10677906" cy="285464"/>
          </a:xfrm>
        </p:grpSpPr>
        <p:sp>
          <p:nvSpPr>
            <p:cNvPr id="52" name="Line 52"/>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53" name="TextBox 53"/>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54" name="TextBox 54"/>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12 / 17</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9808" y="572452"/>
            <a:ext cx="10348799" cy="742760"/>
            <a:chOff x="749808" y="572452"/>
            <a:chExt cx="10348799" cy="742760"/>
          </a:xfrm>
        </p:grpSpPr>
        <p:sp>
          <p:nvSpPr>
            <p:cNvPr id="3" name="TextBox 3"/>
            <p:cNvSpPr txBox="1"/>
            <p:nvPr/>
          </p:nvSpPr>
          <p:spPr>
            <a:xfrm>
              <a:off x="756666" y="572452"/>
              <a:ext cx="3933292"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SEQUENCE — FAILURE RESILIENCE · §22.4</a:t>
              </a:r>
            </a:p>
          </p:txBody>
        </p:sp>
        <p:sp>
          <p:nvSpPr>
            <p:cNvPr id="4" name="TextBox 4"/>
            <p:cNvSpPr txBox="1"/>
            <p:nvPr/>
          </p:nvSpPr>
          <p:spPr>
            <a:xfrm>
              <a:off x="749808" y="845820"/>
              <a:ext cx="10348799"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One adapter fails, the call still ships — degraded, never silent</a:t>
              </a:r>
            </a:p>
          </p:txBody>
        </p:sp>
      </p:grpSp>
      <p:grpSp>
        <p:nvGrpSpPr>
          <p:cNvPr id="12" name="Group 12"/>
          <p:cNvGrpSpPr/>
          <p:nvPr/>
        </p:nvGrpSpPr>
        <p:grpSpPr>
          <a:xfrm>
            <a:off x="762000" y="1790700"/>
            <a:ext cx="3333750" cy="1428750"/>
            <a:chOff x="762000" y="1790700"/>
            <a:chExt cx="3333750" cy="1428750"/>
          </a:xfrm>
        </p:grpSpPr>
        <p:sp>
          <p:nvSpPr>
            <p:cNvPr id="6" name="Rectangle 6"/>
            <p:cNvSpPr/>
            <p:nvPr/>
          </p:nvSpPr>
          <p:spPr>
            <a:xfrm>
              <a:off x="762000" y="1790700"/>
              <a:ext cx="3333750" cy="1428750"/>
            </a:xfrm>
            <a:prstGeom prst="rect">
              <a:avLst/>
            </a:prstGeom>
            <a:solidFill>
              <a:srgbClr val="FBEBEC"/>
            </a:solidFill>
            <a:ln>
              <a:noFill/>
            </a:ln>
          </p:spPr>
        </p:sp>
        <p:sp>
          <p:nvSpPr>
            <p:cNvPr id="7" name="Rectangle 7"/>
            <p:cNvSpPr/>
            <p:nvPr/>
          </p:nvSpPr>
          <p:spPr>
            <a:xfrm>
              <a:off x="762000" y="1790700"/>
              <a:ext cx="3333750" cy="47625"/>
            </a:xfrm>
            <a:prstGeom prst="rect">
              <a:avLst/>
            </a:prstGeom>
            <a:solidFill>
              <a:srgbClr val="DC2626"/>
            </a:solidFill>
            <a:ln>
              <a:noFill/>
            </a:ln>
          </p:spPr>
        </p:sp>
        <p:sp>
          <p:nvSpPr>
            <p:cNvPr id="8" name="TextBox 8"/>
            <p:cNvSpPr txBox="1"/>
            <p:nvPr/>
          </p:nvSpPr>
          <p:spPr>
            <a:xfrm>
              <a:off x="979170" y="1928812"/>
              <a:ext cx="197782" cy="440055"/>
            </a:xfrm>
            <a:prstGeom prst="rect">
              <a:avLst/>
            </a:prstGeom>
            <a:noFill/>
            <a:ln>
              <a:noFill/>
            </a:ln>
          </p:spPr>
          <p:txBody>
            <a:bodyPr wrap="none" lIns="0" tIns="0" rIns="0" bIns="0" anchor="t" anchorCtr="0">
              <a:spAutoFit/>
            </a:bodyPr>
            <a:lstStyle/>
            <a:p>
              <a:pPr algn="l"/>
              <a:r>
                <a:rPr lang="en-US" sz="2250" b="1" dirty="0">
                  <a:solidFill>
                    <a:srgbClr val="DC2626"/>
                  </a:solidFill>
                  <a:latin typeface="Arial"/>
                  <a:ea typeface="Arial"/>
                  <a:cs typeface="Arial"/>
                </a:rPr>
                <a:t>1</a:t>
              </a:r>
            </a:p>
          </p:txBody>
        </p:sp>
        <p:sp>
          <p:nvSpPr>
            <p:cNvPr id="9" name="TextBox 9"/>
            <p:cNvSpPr txBox="1"/>
            <p:nvPr/>
          </p:nvSpPr>
          <p:spPr>
            <a:xfrm>
              <a:off x="983361" y="2379821"/>
              <a:ext cx="694709" cy="278702"/>
            </a:xfrm>
            <a:prstGeom prst="rect">
              <a:avLst/>
            </a:prstGeom>
            <a:noFill/>
            <a:ln>
              <a:noFill/>
            </a:ln>
          </p:spPr>
          <p:txBody>
            <a:bodyPr wrap="none" lIns="0" tIns="0" rIns="0" bIns="0" anchor="t" anchorCtr="0">
              <a:spAutoFit/>
            </a:bodyPr>
            <a:lstStyle/>
            <a:p>
              <a:pPr algn="l"/>
              <a:r>
                <a:rPr lang="en-US" sz="1420" b="1" dirty="0">
                  <a:solidFill>
                    <a:srgbClr val="991B1B"/>
                  </a:solidFill>
                  <a:latin typeface="Arial"/>
                  <a:ea typeface="Arial"/>
                  <a:cs typeface="Arial"/>
                </a:rPr>
                <a:t>Failure</a:t>
              </a:r>
            </a:p>
          </p:txBody>
        </p:sp>
        <p:sp>
          <p:nvSpPr>
            <p:cNvPr id="10" name="TextBox 10"/>
            <p:cNvSpPr txBox="1"/>
            <p:nvPr/>
          </p:nvSpPr>
          <p:spPr>
            <a:xfrm>
              <a:off x="984885" y="2717006"/>
              <a:ext cx="1306306"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Consolas"/>
                  <a:ea typeface="Consolas"/>
                  <a:cs typeface="Consolas"/>
                </a:rPr>
                <a:t>yfinance.fetch()</a:t>
              </a:r>
            </a:p>
          </p:txBody>
        </p:sp>
        <p:sp>
          <p:nvSpPr>
            <p:cNvPr id="11" name="TextBox 11"/>
            <p:cNvSpPr txBox="1"/>
            <p:nvPr/>
          </p:nvSpPr>
          <p:spPr>
            <a:xfrm>
              <a:off x="984885" y="2926556"/>
              <a:ext cx="1520190"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Consolas"/>
                  <a:ea typeface="Consolas"/>
                  <a:cs typeface="Consolas"/>
                </a:rPr>
                <a:t>raises TimeoutError</a:t>
              </a:r>
            </a:p>
          </p:txBody>
        </p:sp>
      </p:grpSp>
      <p:grpSp>
        <p:nvGrpSpPr>
          <p:cNvPr id="19" name="Group 19"/>
          <p:cNvGrpSpPr/>
          <p:nvPr/>
        </p:nvGrpSpPr>
        <p:grpSpPr>
          <a:xfrm>
            <a:off x="4429125" y="1790700"/>
            <a:ext cx="3333750" cy="1428750"/>
            <a:chOff x="4429125" y="1790700"/>
            <a:chExt cx="3333750" cy="1428750"/>
          </a:xfrm>
        </p:grpSpPr>
        <p:sp>
          <p:nvSpPr>
            <p:cNvPr id="13" name="Rectangle 13"/>
            <p:cNvSpPr/>
            <p:nvPr/>
          </p:nvSpPr>
          <p:spPr>
            <a:xfrm>
              <a:off x="4429125" y="1790700"/>
              <a:ext cx="3333750" cy="1428750"/>
            </a:xfrm>
            <a:prstGeom prst="rect">
              <a:avLst/>
            </a:prstGeom>
            <a:solidFill>
              <a:srgbClr val="F3F5F8"/>
            </a:solidFill>
            <a:ln>
              <a:noFill/>
            </a:ln>
          </p:spPr>
        </p:sp>
        <p:sp>
          <p:nvSpPr>
            <p:cNvPr id="14" name="Rectangle 14"/>
            <p:cNvSpPr/>
            <p:nvPr/>
          </p:nvSpPr>
          <p:spPr>
            <a:xfrm>
              <a:off x="4429125" y="1790700"/>
              <a:ext cx="3333750" cy="47625"/>
            </a:xfrm>
            <a:prstGeom prst="rect">
              <a:avLst/>
            </a:prstGeom>
            <a:solidFill>
              <a:srgbClr val="0F2A43"/>
            </a:solidFill>
            <a:ln>
              <a:noFill/>
            </a:ln>
          </p:spPr>
        </p:sp>
        <p:sp>
          <p:nvSpPr>
            <p:cNvPr id="15" name="TextBox 15"/>
            <p:cNvSpPr txBox="1"/>
            <p:nvPr/>
          </p:nvSpPr>
          <p:spPr>
            <a:xfrm>
              <a:off x="4646295" y="1928812"/>
              <a:ext cx="197782" cy="440055"/>
            </a:xfrm>
            <a:prstGeom prst="rect">
              <a:avLst/>
            </a:prstGeom>
            <a:noFill/>
            <a:ln>
              <a:noFill/>
            </a:ln>
          </p:spPr>
          <p:txBody>
            <a:bodyPr wrap="none" lIns="0" tIns="0" rIns="0" bIns="0" anchor="t" anchorCtr="0">
              <a:spAutoFit/>
            </a:bodyPr>
            <a:lstStyle/>
            <a:p>
              <a:pPr algn="l"/>
              <a:r>
                <a:rPr lang="en-US" sz="2250" b="1" dirty="0">
                  <a:solidFill>
                    <a:srgbClr val="0F2A43"/>
                  </a:solidFill>
                  <a:latin typeface="Arial"/>
                  <a:ea typeface="Arial"/>
                  <a:cs typeface="Arial"/>
                </a:rPr>
                <a:t>2</a:t>
              </a:r>
            </a:p>
          </p:txBody>
        </p:sp>
        <p:sp>
          <p:nvSpPr>
            <p:cNvPr id="16" name="TextBox 16"/>
            <p:cNvSpPr txBox="1"/>
            <p:nvPr/>
          </p:nvSpPr>
          <p:spPr>
            <a:xfrm>
              <a:off x="4650486" y="2379821"/>
              <a:ext cx="694709" cy="278702"/>
            </a:xfrm>
            <a:prstGeom prst="rect">
              <a:avLst/>
            </a:prstGeom>
            <a:noFill/>
            <a:ln>
              <a:noFill/>
            </a:ln>
          </p:spPr>
          <p:txBody>
            <a:bodyPr wrap="none" lIns="0" tIns="0" rIns="0" bIns="0" anchor="t" anchorCtr="0">
              <a:spAutoFit/>
            </a:bodyPr>
            <a:lstStyle/>
            <a:p>
              <a:pPr algn="l"/>
              <a:r>
                <a:rPr lang="en-US" sz="1420" b="1" dirty="0">
                  <a:solidFill>
                    <a:srgbClr val="0F2A43"/>
                  </a:solidFill>
                  <a:latin typeface="Arial"/>
                  <a:ea typeface="Arial"/>
                  <a:cs typeface="Arial"/>
                </a:rPr>
                <a:t>Isolate</a:t>
              </a:r>
            </a:p>
          </p:txBody>
        </p:sp>
        <p:sp>
          <p:nvSpPr>
            <p:cNvPr id="17" name="TextBox 17"/>
            <p:cNvSpPr txBox="1"/>
            <p:nvPr/>
          </p:nvSpPr>
          <p:spPr>
            <a:xfrm>
              <a:off x="4652010" y="2717006"/>
              <a:ext cx="2651589"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Orchestrator catches it; technical</a:t>
              </a:r>
            </a:p>
          </p:txBody>
        </p:sp>
        <p:sp>
          <p:nvSpPr>
            <p:cNvPr id="18" name="TextBox 18"/>
            <p:cNvSpPr txBox="1"/>
            <p:nvPr/>
          </p:nvSpPr>
          <p:spPr>
            <a:xfrm>
              <a:off x="4652010" y="2926556"/>
              <a:ext cx="2692051"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marked unavailable; peers continue.</a:t>
              </a:r>
            </a:p>
          </p:txBody>
        </p:sp>
      </p:grpSp>
      <p:grpSp>
        <p:nvGrpSpPr>
          <p:cNvPr id="26" name="Group 26"/>
          <p:cNvGrpSpPr/>
          <p:nvPr/>
        </p:nvGrpSpPr>
        <p:grpSpPr>
          <a:xfrm>
            <a:off x="8096250" y="1790700"/>
            <a:ext cx="3333750" cy="1428750"/>
            <a:chOff x="8096250" y="1790700"/>
            <a:chExt cx="3333750" cy="1428750"/>
          </a:xfrm>
        </p:grpSpPr>
        <p:sp>
          <p:nvSpPr>
            <p:cNvPr id="20" name="Rectangle 20"/>
            <p:cNvSpPr/>
            <p:nvPr/>
          </p:nvSpPr>
          <p:spPr>
            <a:xfrm>
              <a:off x="8096250" y="1790700"/>
              <a:ext cx="3333750" cy="1428750"/>
            </a:xfrm>
            <a:prstGeom prst="rect">
              <a:avLst/>
            </a:prstGeom>
            <a:solidFill>
              <a:srgbClr val="F3F5F8"/>
            </a:solidFill>
            <a:ln>
              <a:noFill/>
            </a:ln>
          </p:spPr>
        </p:sp>
        <p:sp>
          <p:nvSpPr>
            <p:cNvPr id="21" name="Rectangle 21"/>
            <p:cNvSpPr/>
            <p:nvPr/>
          </p:nvSpPr>
          <p:spPr>
            <a:xfrm>
              <a:off x="8096250" y="1790700"/>
              <a:ext cx="3333750" cy="47625"/>
            </a:xfrm>
            <a:prstGeom prst="rect">
              <a:avLst/>
            </a:prstGeom>
            <a:solidFill>
              <a:srgbClr val="2563EB"/>
            </a:solidFill>
            <a:ln>
              <a:noFill/>
            </a:ln>
          </p:spPr>
        </p:sp>
        <p:sp>
          <p:nvSpPr>
            <p:cNvPr id="22" name="TextBox 22"/>
            <p:cNvSpPr txBox="1"/>
            <p:nvPr/>
          </p:nvSpPr>
          <p:spPr>
            <a:xfrm>
              <a:off x="8313420" y="1928812"/>
              <a:ext cx="197782" cy="440055"/>
            </a:xfrm>
            <a:prstGeom prst="rect">
              <a:avLst/>
            </a:prstGeom>
            <a:noFill/>
            <a:ln>
              <a:noFill/>
            </a:ln>
          </p:spPr>
          <p:txBody>
            <a:bodyPr wrap="none" lIns="0" tIns="0" rIns="0" bIns="0" anchor="t" anchorCtr="0">
              <a:spAutoFit/>
            </a:bodyPr>
            <a:lstStyle/>
            <a:p>
              <a:pPr algn="l"/>
              <a:r>
                <a:rPr lang="en-US" sz="2250" b="1" dirty="0">
                  <a:solidFill>
                    <a:srgbClr val="2563EB"/>
                  </a:solidFill>
                  <a:latin typeface="Arial"/>
                  <a:ea typeface="Arial"/>
                  <a:cs typeface="Arial"/>
                </a:rPr>
                <a:t>3</a:t>
              </a:r>
            </a:p>
          </p:txBody>
        </p:sp>
        <p:sp>
          <p:nvSpPr>
            <p:cNvPr id="23" name="TextBox 23"/>
            <p:cNvSpPr txBox="1"/>
            <p:nvPr/>
          </p:nvSpPr>
          <p:spPr>
            <a:xfrm>
              <a:off x="8317611" y="2379821"/>
              <a:ext cx="1178633" cy="278702"/>
            </a:xfrm>
            <a:prstGeom prst="rect">
              <a:avLst/>
            </a:prstGeom>
            <a:noFill/>
            <a:ln>
              <a:noFill/>
            </a:ln>
          </p:spPr>
          <p:txBody>
            <a:bodyPr wrap="none" lIns="0" tIns="0" rIns="0" bIns="0" anchor="t" anchorCtr="0">
              <a:spAutoFit/>
            </a:bodyPr>
            <a:lstStyle/>
            <a:p>
              <a:pPr algn="l"/>
              <a:r>
                <a:rPr lang="en-US" sz="1420" b="1" dirty="0">
                  <a:solidFill>
                    <a:srgbClr val="0F2A43"/>
                  </a:solidFill>
                  <a:latin typeface="Arial"/>
                  <a:ea typeface="Arial"/>
                  <a:cs typeface="Arial"/>
                </a:rPr>
                <a:t>Renormalise</a:t>
              </a:r>
            </a:p>
          </p:txBody>
        </p:sp>
        <p:sp>
          <p:nvSpPr>
            <p:cNvPr id="24" name="TextBox 24"/>
            <p:cNvSpPr txBox="1"/>
            <p:nvPr/>
          </p:nvSpPr>
          <p:spPr>
            <a:xfrm>
              <a:off x="8319135" y="2717006"/>
              <a:ext cx="2235596"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Score on 3 modules; effective</a:t>
              </a:r>
            </a:p>
          </p:txBody>
        </p:sp>
        <p:sp>
          <p:nvSpPr>
            <p:cNvPr id="25" name="TextBox 25"/>
            <p:cNvSpPr txBox="1"/>
            <p:nvPr/>
          </p:nvSpPr>
          <p:spPr>
            <a:xfrm>
              <a:off x="8319135" y="2926556"/>
              <a:ext cx="3078242"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weights recomputed; completeness 0.75.</a:t>
              </a:r>
            </a:p>
          </p:txBody>
        </p:sp>
      </p:grpSp>
      <p:grpSp>
        <p:nvGrpSpPr>
          <p:cNvPr id="29" name="Group 29"/>
          <p:cNvGrpSpPr/>
          <p:nvPr/>
        </p:nvGrpSpPr>
        <p:grpSpPr>
          <a:xfrm>
            <a:off x="4114800" y="2505075"/>
            <a:ext cx="3962400" cy="1"/>
            <a:chOff x="4114800" y="2505075"/>
            <a:chExt cx="3962400" cy="1"/>
          </a:xfrm>
        </p:grpSpPr>
        <p:sp>
          <p:nvSpPr>
            <p:cNvPr id="27" name="Line 27"/>
            <p:cNvSpPr/>
            <p:nvPr/>
          </p:nvSpPr>
          <p:spPr>
            <a:xfrm>
              <a:off x="4114800" y="2505075"/>
              <a:ext cx="295275" cy="1"/>
            </a:xfrm>
            <a:prstGeom prst="line">
              <a:avLst/>
            </a:prstGeom>
            <a:noFill/>
            <a:ln w="23812">
              <a:solidFill>
                <a:srgbClr val="9DB4C9"/>
              </a:solidFill>
              <a:tailEnd type="triangle" w="lg" len="lg"/>
            </a:ln>
          </p:spPr>
        </p:sp>
        <p:sp>
          <p:nvSpPr>
            <p:cNvPr id="28" name="Line 28"/>
            <p:cNvSpPr/>
            <p:nvPr/>
          </p:nvSpPr>
          <p:spPr>
            <a:xfrm>
              <a:off x="7781925" y="2505075"/>
              <a:ext cx="295275" cy="1"/>
            </a:xfrm>
            <a:prstGeom prst="line">
              <a:avLst/>
            </a:prstGeom>
            <a:noFill/>
            <a:ln w="23812">
              <a:solidFill>
                <a:srgbClr val="9DB4C9"/>
              </a:solidFill>
              <a:tailEnd type="triangle" w="lg" len="lg"/>
            </a:ln>
          </p:spPr>
        </p:sp>
      </p:grpSp>
      <p:grpSp>
        <p:nvGrpSpPr>
          <p:cNvPr id="35" name="Group 35"/>
          <p:cNvGrpSpPr/>
          <p:nvPr/>
        </p:nvGrpSpPr>
        <p:grpSpPr>
          <a:xfrm>
            <a:off x="762000" y="3581400"/>
            <a:ext cx="10668000" cy="1052418"/>
            <a:chOff x="762000" y="3581400"/>
            <a:chExt cx="10668000" cy="1052418"/>
          </a:xfrm>
        </p:grpSpPr>
        <p:sp>
          <p:nvSpPr>
            <p:cNvPr id="30" name="Rectangle 30"/>
            <p:cNvSpPr/>
            <p:nvPr/>
          </p:nvSpPr>
          <p:spPr>
            <a:xfrm>
              <a:off x="762000" y="3581400"/>
              <a:ext cx="10668000" cy="990600"/>
            </a:xfrm>
            <a:prstGeom prst="rect">
              <a:avLst/>
            </a:prstGeom>
            <a:solidFill>
              <a:srgbClr val="0F2A43"/>
            </a:solidFill>
            <a:ln>
              <a:noFill/>
            </a:ln>
          </p:spPr>
        </p:sp>
        <p:sp>
          <p:nvSpPr>
            <p:cNvPr id="31" name="Rectangle 31"/>
            <p:cNvSpPr/>
            <p:nvPr/>
          </p:nvSpPr>
          <p:spPr>
            <a:xfrm>
              <a:off x="762000" y="3581400"/>
              <a:ext cx="57150" cy="990600"/>
            </a:xfrm>
            <a:prstGeom prst="rect">
              <a:avLst/>
            </a:prstGeom>
            <a:solidFill>
              <a:srgbClr val="15803D"/>
            </a:solidFill>
            <a:ln>
              <a:noFill/>
            </a:ln>
          </p:spPr>
        </p:sp>
        <p:sp>
          <p:nvSpPr>
            <p:cNvPr id="32" name="TextBox 32"/>
            <p:cNvSpPr txBox="1"/>
            <p:nvPr/>
          </p:nvSpPr>
          <p:spPr>
            <a:xfrm>
              <a:off x="1137666" y="3810952"/>
              <a:ext cx="867308" cy="205359"/>
            </a:xfrm>
            <a:prstGeom prst="rect">
              <a:avLst/>
            </a:prstGeom>
            <a:noFill/>
            <a:ln>
              <a:noFill/>
            </a:ln>
          </p:spPr>
          <p:txBody>
            <a:bodyPr wrap="none" lIns="0" tIns="0" rIns="0" bIns="0" anchor="t" anchorCtr="0">
              <a:spAutoFit/>
            </a:bodyPr>
            <a:lstStyle/>
            <a:p>
              <a:pPr algn="l"/>
              <a:r>
                <a:rPr lang="en-US" sz="1050" spc="225" dirty="0">
                  <a:solidFill>
                    <a:srgbClr val="7FDBA0"/>
                  </a:solidFill>
                  <a:latin typeface="Arial"/>
                  <a:ea typeface="Arial"/>
                  <a:cs typeface="Arial"/>
                </a:rPr>
                <a:t>OUTCOME</a:t>
              </a:r>
            </a:p>
          </p:txBody>
        </p:sp>
        <p:sp>
          <p:nvSpPr>
            <p:cNvPr id="33" name="TextBox 33"/>
            <p:cNvSpPr txBox="1"/>
            <p:nvPr/>
          </p:nvSpPr>
          <p:spPr>
            <a:xfrm>
              <a:off x="1134999" y="4078129"/>
              <a:ext cx="9044922"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rial"/>
                  <a:ea typeface="Arial"/>
                  <a:cs typeface="Arial"/>
                </a:rPr>
                <a:t xml:space="preserve">The recommendation still ships — 3 of 4 lenses populated, technical flagged </a:t>
              </a:r>
              <a:r>
                <a:rPr lang="en-US" sz="1580" dirty="0">
                  <a:solidFill>
                    <a:srgbClr val="8FB4F5"/>
                  </a:solidFill>
                  <a:latin typeface="Arial"/>
                  <a:ea typeface="Arial"/>
                  <a:cs typeface="Arial"/>
                </a:rPr>
                <a:t>unavailable</a:t>
              </a:r>
              <a:r>
                <a:rPr lang="en-US" sz="1580" dirty="0">
                  <a:solidFill>
                    <a:srgbClr val="FFFFFF"/>
                  </a:solidFill>
                  <a:latin typeface="Arial"/>
                  <a:ea typeface="Arial"/>
                  <a:cs typeface="Arial"/>
                </a:rPr>
                <a:t>,</a:t>
              </a:r>
            </a:p>
          </p:txBody>
        </p:sp>
        <p:sp>
          <p:nvSpPr>
            <p:cNvPr id="34" name="TextBox 34"/>
            <p:cNvSpPr txBox="1"/>
            <p:nvPr/>
          </p:nvSpPr>
          <p:spPr>
            <a:xfrm>
              <a:off x="1134999" y="4325779"/>
              <a:ext cx="6321687"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rial"/>
                  <a:ea typeface="Arial"/>
                  <a:cs typeface="Arial"/>
                </a:rPr>
                <a:t xml:space="preserve">marked </a:t>
              </a:r>
              <a:r>
                <a:rPr lang="en-US" sz="1580" b="1" dirty="0">
                  <a:solidFill>
                    <a:srgbClr val="FFFFFF"/>
                  </a:solidFill>
                  <a:latin typeface="Arial"/>
                  <a:ea typeface="Arial"/>
                  <a:cs typeface="Arial"/>
                </a:rPr>
                <a:t>Reduced Confidence.</a:t>
              </a:r>
              <a:r>
                <a:rPr lang="en-US" sz="1580" dirty="0">
                  <a:solidFill>
                    <a:srgbClr val="FFFFFF"/>
                  </a:solidFill>
                  <a:latin typeface="Arial"/>
                  <a:ea typeface="Arial"/>
                  <a:cs typeface="Arial"/>
                </a:rPr>
                <a:t xml:space="preserve"> No crash. No silent stale data.</a:t>
              </a:r>
            </a:p>
          </p:txBody>
        </p:sp>
      </p:grpSp>
      <p:grpSp>
        <p:nvGrpSpPr>
          <p:cNvPr id="41" name="Group 41"/>
          <p:cNvGrpSpPr/>
          <p:nvPr/>
        </p:nvGrpSpPr>
        <p:grpSpPr>
          <a:xfrm>
            <a:off x="762000" y="4876800"/>
            <a:ext cx="5219700" cy="990600"/>
            <a:chOff x="762000" y="4876800"/>
            <a:chExt cx="5219700" cy="990600"/>
          </a:xfrm>
        </p:grpSpPr>
        <p:sp>
          <p:nvSpPr>
            <p:cNvPr id="36" name="Rectangle 36"/>
            <p:cNvSpPr/>
            <p:nvPr/>
          </p:nvSpPr>
          <p:spPr>
            <a:xfrm>
              <a:off x="762000" y="4876800"/>
              <a:ext cx="5219700" cy="990600"/>
            </a:xfrm>
            <a:prstGeom prst="rect">
              <a:avLst/>
            </a:prstGeom>
            <a:solidFill>
              <a:srgbClr val="FBEBEC"/>
            </a:solidFill>
            <a:ln>
              <a:noFill/>
            </a:ln>
          </p:spPr>
        </p:sp>
        <p:sp>
          <p:nvSpPr>
            <p:cNvPr id="37" name="Rectangle 37"/>
            <p:cNvSpPr/>
            <p:nvPr/>
          </p:nvSpPr>
          <p:spPr>
            <a:xfrm>
              <a:off x="762000" y="4876800"/>
              <a:ext cx="57150" cy="990600"/>
            </a:xfrm>
            <a:prstGeom prst="rect">
              <a:avLst/>
            </a:prstGeom>
            <a:solidFill>
              <a:srgbClr val="DC2626"/>
            </a:solidFill>
            <a:ln>
              <a:noFill/>
            </a:ln>
          </p:spPr>
        </p:sp>
        <p:sp>
          <p:nvSpPr>
            <p:cNvPr id="38" name="TextBox 38"/>
            <p:cNvSpPr txBox="1"/>
            <p:nvPr/>
          </p:nvSpPr>
          <p:spPr>
            <a:xfrm>
              <a:off x="1059942" y="5073968"/>
              <a:ext cx="1671529" cy="264033"/>
            </a:xfrm>
            <a:prstGeom prst="rect">
              <a:avLst/>
            </a:prstGeom>
            <a:noFill/>
            <a:ln>
              <a:noFill/>
            </a:ln>
          </p:spPr>
          <p:txBody>
            <a:bodyPr wrap="none" lIns="0" tIns="0" rIns="0" bIns="0" anchor="t" anchorCtr="0">
              <a:spAutoFit/>
            </a:bodyPr>
            <a:lstStyle/>
            <a:p>
              <a:pPr algn="l"/>
              <a:r>
                <a:rPr lang="en-US" sz="1350" b="1" dirty="0">
                  <a:solidFill>
                    <a:srgbClr val="991B1B"/>
                  </a:solidFill>
                  <a:latin typeface="Arial"/>
                  <a:ea typeface="Arial"/>
                  <a:cs typeface="Arial"/>
                </a:rPr>
                <a:t>If ≥ 2 modules fail</a:t>
              </a:r>
            </a:p>
          </p:txBody>
        </p:sp>
        <p:sp>
          <p:nvSpPr>
            <p:cNvPr id="39" name="TextBox 39"/>
            <p:cNvSpPr txBox="1"/>
            <p:nvPr/>
          </p:nvSpPr>
          <p:spPr>
            <a:xfrm>
              <a:off x="1060704" y="5375910"/>
              <a:ext cx="4016064"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The recommendation is suppressed — the app shows</a:t>
              </a:r>
            </a:p>
          </p:txBody>
        </p:sp>
        <p:sp>
          <p:nvSpPr>
            <p:cNvPr id="40" name="TextBox 40"/>
            <p:cNvSpPr txBox="1"/>
            <p:nvPr/>
          </p:nvSpPr>
          <p:spPr>
            <a:xfrm>
              <a:off x="1060704" y="5585460"/>
              <a:ext cx="3491597"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"Analysis Only — Insufficient Data" instead.</a:t>
              </a:r>
            </a:p>
          </p:txBody>
        </p:sp>
      </p:grpSp>
      <p:grpSp>
        <p:nvGrpSpPr>
          <p:cNvPr id="47" name="Group 47"/>
          <p:cNvGrpSpPr/>
          <p:nvPr/>
        </p:nvGrpSpPr>
        <p:grpSpPr>
          <a:xfrm>
            <a:off x="6210300" y="4876800"/>
            <a:ext cx="5219700" cy="990600"/>
            <a:chOff x="6210300" y="4876800"/>
            <a:chExt cx="5219700" cy="990600"/>
          </a:xfrm>
        </p:grpSpPr>
        <p:sp>
          <p:nvSpPr>
            <p:cNvPr id="42" name="Rectangle 42"/>
            <p:cNvSpPr/>
            <p:nvPr/>
          </p:nvSpPr>
          <p:spPr>
            <a:xfrm>
              <a:off x="6210300" y="4876800"/>
              <a:ext cx="5219700" cy="990600"/>
            </a:xfrm>
            <a:prstGeom prst="rect">
              <a:avLst/>
            </a:prstGeom>
            <a:solidFill>
              <a:srgbClr val="F0FAFB"/>
            </a:solidFill>
            <a:ln>
              <a:noFill/>
            </a:ln>
          </p:spPr>
        </p:sp>
        <p:sp>
          <p:nvSpPr>
            <p:cNvPr id="43" name="Rectangle 43"/>
            <p:cNvSpPr/>
            <p:nvPr/>
          </p:nvSpPr>
          <p:spPr>
            <a:xfrm>
              <a:off x="6210300" y="4876800"/>
              <a:ext cx="57150" cy="990600"/>
            </a:xfrm>
            <a:prstGeom prst="rect">
              <a:avLst/>
            </a:prstGeom>
            <a:solidFill>
              <a:srgbClr val="0E9AA7"/>
            </a:solidFill>
            <a:ln>
              <a:noFill/>
            </a:ln>
          </p:spPr>
        </p:sp>
        <p:sp>
          <p:nvSpPr>
            <p:cNvPr id="44" name="TextBox 44"/>
            <p:cNvSpPr txBox="1"/>
            <p:nvPr/>
          </p:nvSpPr>
          <p:spPr>
            <a:xfrm>
              <a:off x="6508242" y="5073968"/>
              <a:ext cx="2128601" cy="264033"/>
            </a:xfrm>
            <a:prstGeom prst="rect">
              <a:avLst/>
            </a:prstGeom>
            <a:noFill/>
            <a:ln>
              <a:noFill/>
            </a:ln>
          </p:spPr>
          <p:txBody>
            <a:bodyPr wrap="none" lIns="0" tIns="0" rIns="0" bIns="0" anchor="t" anchorCtr="0">
              <a:spAutoFit/>
            </a:bodyPr>
            <a:lstStyle/>
            <a:p>
              <a:pPr algn="l"/>
              <a:r>
                <a:rPr lang="en-US" sz="1350" b="1" dirty="0">
                  <a:solidFill>
                    <a:srgbClr val="0E7C87"/>
                  </a:solidFill>
                  <a:latin typeface="Arial"/>
                  <a:ea typeface="Arial"/>
                  <a:cs typeface="Arial"/>
                </a:rPr>
                <a:t>Backtest stays honest</a:t>
              </a:r>
            </a:p>
          </p:txBody>
        </p:sp>
        <p:sp>
          <p:nvSpPr>
            <p:cNvPr id="45" name="TextBox 45"/>
            <p:cNvSpPr txBox="1"/>
            <p:nvPr/>
          </p:nvSpPr>
          <p:spPr>
            <a:xfrm>
              <a:off x="6509004" y="5375910"/>
              <a:ext cx="3878697"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Partial-data days are tagged and kept out of the</a:t>
              </a:r>
            </a:p>
          </p:txBody>
        </p:sp>
        <p:sp>
          <p:nvSpPr>
            <p:cNvPr id="46" name="TextBox 46"/>
            <p:cNvSpPr txBox="1"/>
            <p:nvPr/>
          </p:nvSpPr>
          <p:spPr>
            <a:xfrm>
              <a:off x="6509004" y="5585460"/>
              <a:ext cx="2621128"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headline rolling-accuracy figure.</a:t>
              </a:r>
            </a:p>
          </p:txBody>
        </p:sp>
      </p:grpSp>
      <p:grpSp>
        <p:nvGrpSpPr>
          <p:cNvPr id="51" name="Group 51"/>
          <p:cNvGrpSpPr/>
          <p:nvPr/>
        </p:nvGrpSpPr>
        <p:grpSpPr>
          <a:xfrm>
            <a:off x="757047" y="6477000"/>
            <a:ext cx="10677906" cy="285464"/>
            <a:chOff x="757047" y="6477000"/>
            <a:chExt cx="10677906" cy="285464"/>
          </a:xfrm>
        </p:grpSpPr>
        <p:sp>
          <p:nvSpPr>
            <p:cNvPr id="48" name="Line 48"/>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49" name="TextBox 49"/>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50" name="TextBox 50"/>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13 / 17</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9808" y="572452"/>
            <a:ext cx="9128048" cy="742760"/>
            <a:chOff x="749808" y="572452"/>
            <a:chExt cx="9128048" cy="742760"/>
          </a:xfrm>
        </p:grpSpPr>
        <p:sp>
          <p:nvSpPr>
            <p:cNvPr id="3" name="TextBox 3"/>
            <p:cNvSpPr txBox="1"/>
            <p:nvPr/>
          </p:nvSpPr>
          <p:spPr>
            <a:xfrm>
              <a:off x="756666" y="572452"/>
              <a:ext cx="1425245"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DATA STRATEGY</a:t>
              </a:r>
            </a:p>
          </p:txBody>
        </p:sp>
        <p:sp>
          <p:nvSpPr>
            <p:cNvPr id="4" name="TextBox 4"/>
            <p:cNvSpPr txBox="1"/>
            <p:nvPr/>
          </p:nvSpPr>
          <p:spPr>
            <a:xfrm>
              <a:off x="749808" y="845820"/>
              <a:ext cx="9128048"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Free-first data, with a documented path to paid feeds</a:t>
              </a:r>
            </a:p>
          </p:txBody>
        </p:sp>
      </p:grpSp>
      <p:grpSp>
        <p:nvGrpSpPr>
          <p:cNvPr id="30" name="Group 30"/>
          <p:cNvGrpSpPr/>
          <p:nvPr/>
        </p:nvGrpSpPr>
        <p:grpSpPr>
          <a:xfrm>
            <a:off x="755523" y="1494949"/>
            <a:ext cx="5911977" cy="4096607"/>
            <a:chOff x="755523" y="1494949"/>
            <a:chExt cx="5911977" cy="4096607"/>
          </a:xfrm>
        </p:grpSpPr>
        <p:sp>
          <p:nvSpPr>
            <p:cNvPr id="6" name="TextBox 6"/>
            <p:cNvSpPr txBox="1"/>
            <p:nvPr/>
          </p:nvSpPr>
          <p:spPr>
            <a:xfrm>
              <a:off x="757047" y="1494949"/>
              <a:ext cx="601980"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SOURCE</a:t>
              </a:r>
            </a:p>
          </p:txBody>
        </p:sp>
        <p:sp>
          <p:nvSpPr>
            <p:cNvPr id="7" name="TextBox 7"/>
            <p:cNvSpPr txBox="1"/>
            <p:nvPr/>
          </p:nvSpPr>
          <p:spPr>
            <a:xfrm>
              <a:off x="3424047" y="1494949"/>
              <a:ext cx="762533"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PROVIDES</a:t>
              </a:r>
            </a:p>
          </p:txBody>
        </p:sp>
        <p:sp>
          <p:nvSpPr>
            <p:cNvPr id="8" name="Line 8"/>
            <p:cNvSpPr/>
            <p:nvPr/>
          </p:nvSpPr>
          <p:spPr>
            <a:xfrm>
              <a:off x="762000" y="1714500"/>
              <a:ext cx="5905500" cy="9525"/>
            </a:xfrm>
            <a:custGeom>
              <a:avLst/>
              <a:gdLst/>
              <a:ahLst/>
              <a:cxnLst/>
              <a:rect l="l" t="t" r="r" b="b"/>
              <a:pathLst>
                <a:path w="5905500" h="9525">
                  <a:moveTo>
                    <a:pt x="0" y="0"/>
                  </a:moveTo>
                  <a:lnTo>
                    <a:pt x="5905500" y="0"/>
                  </a:lnTo>
                </a:path>
              </a:pathLst>
            </a:custGeom>
            <a:noFill/>
            <a:ln w="19050">
              <a:solidFill>
                <a:srgbClr val="0F2A43"/>
              </a:solidFill>
            </a:ln>
          </p:spPr>
        </p:sp>
        <p:sp>
          <p:nvSpPr>
            <p:cNvPr id="9" name="TextBox 9"/>
            <p:cNvSpPr txBox="1"/>
            <p:nvPr/>
          </p:nvSpPr>
          <p:spPr>
            <a:xfrm>
              <a:off x="755523" y="1900714"/>
              <a:ext cx="760877"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yfinance</a:t>
              </a:r>
            </a:p>
          </p:txBody>
        </p:sp>
        <p:sp>
          <p:nvSpPr>
            <p:cNvPr id="10" name="TextBox 10"/>
            <p:cNvSpPr txBox="1"/>
            <p:nvPr/>
          </p:nvSpPr>
          <p:spPr>
            <a:xfrm>
              <a:off x="3423285" y="1916906"/>
              <a:ext cx="2162209"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TW + US price &amp; fundamentals</a:t>
              </a:r>
            </a:p>
          </p:txBody>
        </p:sp>
        <p:sp>
          <p:nvSpPr>
            <p:cNvPr id="11" name="Line 11"/>
            <p:cNvSpPr/>
            <p:nvPr/>
          </p:nvSpPr>
          <p:spPr>
            <a:xfrm>
              <a:off x="762000" y="2190750"/>
              <a:ext cx="5905500" cy="9525"/>
            </a:xfrm>
            <a:custGeom>
              <a:avLst/>
              <a:gdLst/>
              <a:ahLst/>
              <a:cxnLst/>
              <a:rect l="l" t="t" r="r" b="b"/>
              <a:pathLst>
                <a:path w="5905500" h="9525">
                  <a:moveTo>
                    <a:pt x="0" y="0"/>
                  </a:moveTo>
                  <a:lnTo>
                    <a:pt x="5905500" y="0"/>
                  </a:lnTo>
                </a:path>
              </a:pathLst>
            </a:custGeom>
            <a:noFill/>
            <a:ln w="9525">
              <a:solidFill>
                <a:srgbClr val="EAEEF3"/>
              </a:solidFill>
            </a:ln>
          </p:spPr>
        </p:sp>
        <p:sp>
          <p:nvSpPr>
            <p:cNvPr id="12" name="TextBox 12"/>
            <p:cNvSpPr txBox="1"/>
            <p:nvPr/>
          </p:nvSpPr>
          <p:spPr>
            <a:xfrm>
              <a:off x="755523" y="2376964"/>
              <a:ext cx="1861833"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TWSE / TPEx OpenAPI</a:t>
              </a:r>
            </a:p>
          </p:txBody>
        </p:sp>
        <p:sp>
          <p:nvSpPr>
            <p:cNvPr id="13" name="TextBox 13"/>
            <p:cNvSpPr txBox="1"/>
            <p:nvPr/>
          </p:nvSpPr>
          <p:spPr>
            <a:xfrm>
              <a:off x="3423285" y="2393156"/>
              <a:ext cx="2536843"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TW chip — inst nets, margin, block</a:t>
              </a:r>
            </a:p>
          </p:txBody>
        </p:sp>
        <p:sp>
          <p:nvSpPr>
            <p:cNvPr id="14" name="Line 14"/>
            <p:cNvSpPr/>
            <p:nvPr/>
          </p:nvSpPr>
          <p:spPr>
            <a:xfrm>
              <a:off x="762000" y="2667000"/>
              <a:ext cx="5905500" cy="9525"/>
            </a:xfrm>
            <a:custGeom>
              <a:avLst/>
              <a:gdLst/>
              <a:ahLst/>
              <a:cxnLst/>
              <a:rect l="l" t="t" r="r" b="b"/>
              <a:pathLst>
                <a:path w="5905500" h="9525">
                  <a:moveTo>
                    <a:pt x="0" y="0"/>
                  </a:moveTo>
                  <a:lnTo>
                    <a:pt x="5905500" y="0"/>
                  </a:lnTo>
                </a:path>
              </a:pathLst>
            </a:custGeom>
            <a:noFill/>
            <a:ln w="9525">
              <a:solidFill>
                <a:srgbClr val="EAEEF3"/>
              </a:solidFill>
            </a:ln>
          </p:spPr>
        </p:sp>
        <p:sp>
          <p:nvSpPr>
            <p:cNvPr id="15" name="TextBox 15"/>
            <p:cNvSpPr txBox="1"/>
            <p:nvPr/>
          </p:nvSpPr>
          <p:spPr>
            <a:xfrm>
              <a:off x="755523" y="2853214"/>
              <a:ext cx="1279272"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SEC EDGAR 13F</a:t>
              </a:r>
            </a:p>
          </p:txBody>
        </p:sp>
        <p:sp>
          <p:nvSpPr>
            <p:cNvPr id="16" name="TextBox 16"/>
            <p:cNvSpPr txBox="1"/>
            <p:nvPr/>
          </p:nvSpPr>
          <p:spPr>
            <a:xfrm>
              <a:off x="3423285" y="2869406"/>
              <a:ext cx="2011636"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US institutional positioning</a:t>
              </a:r>
            </a:p>
          </p:txBody>
        </p:sp>
        <p:sp>
          <p:nvSpPr>
            <p:cNvPr id="17" name="Line 17"/>
            <p:cNvSpPr/>
            <p:nvPr/>
          </p:nvSpPr>
          <p:spPr>
            <a:xfrm>
              <a:off x="762000" y="3143250"/>
              <a:ext cx="5905500" cy="9525"/>
            </a:xfrm>
            <a:custGeom>
              <a:avLst/>
              <a:gdLst/>
              <a:ahLst/>
              <a:cxnLst/>
              <a:rect l="l" t="t" r="r" b="b"/>
              <a:pathLst>
                <a:path w="5905500" h="9525">
                  <a:moveTo>
                    <a:pt x="0" y="0"/>
                  </a:moveTo>
                  <a:lnTo>
                    <a:pt x="5905500" y="0"/>
                  </a:lnTo>
                </a:path>
              </a:pathLst>
            </a:custGeom>
            <a:noFill/>
            <a:ln w="9525">
              <a:solidFill>
                <a:srgbClr val="EAEEF3"/>
              </a:solidFill>
            </a:ln>
          </p:spPr>
        </p:sp>
        <p:sp>
          <p:nvSpPr>
            <p:cNvPr id="18" name="TextBox 18"/>
            <p:cNvSpPr txBox="1"/>
            <p:nvPr/>
          </p:nvSpPr>
          <p:spPr>
            <a:xfrm>
              <a:off x="755523" y="3329464"/>
              <a:ext cx="1279272"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GDELT + VADER</a:t>
              </a:r>
            </a:p>
          </p:txBody>
        </p:sp>
        <p:sp>
          <p:nvSpPr>
            <p:cNvPr id="19" name="TextBox 19"/>
            <p:cNvSpPr txBox="1"/>
            <p:nvPr/>
          </p:nvSpPr>
          <p:spPr>
            <a:xfrm>
              <a:off x="3423285" y="3345656"/>
              <a:ext cx="2015680"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News headlines + sentiment</a:t>
              </a:r>
            </a:p>
          </p:txBody>
        </p:sp>
        <p:sp>
          <p:nvSpPr>
            <p:cNvPr id="20" name="Line 20"/>
            <p:cNvSpPr/>
            <p:nvPr/>
          </p:nvSpPr>
          <p:spPr>
            <a:xfrm>
              <a:off x="762000" y="3619500"/>
              <a:ext cx="5905500" cy="9525"/>
            </a:xfrm>
            <a:custGeom>
              <a:avLst/>
              <a:gdLst/>
              <a:ahLst/>
              <a:cxnLst/>
              <a:rect l="l" t="t" r="r" b="b"/>
              <a:pathLst>
                <a:path w="5905500" h="9525">
                  <a:moveTo>
                    <a:pt x="0" y="0"/>
                  </a:moveTo>
                  <a:lnTo>
                    <a:pt x="5905500" y="0"/>
                  </a:lnTo>
                </a:path>
              </a:pathLst>
            </a:custGeom>
            <a:noFill/>
            <a:ln w="9525">
              <a:solidFill>
                <a:srgbClr val="EAEEF3"/>
              </a:solidFill>
            </a:ln>
          </p:spPr>
        </p:sp>
        <p:sp>
          <p:nvSpPr>
            <p:cNvPr id="21" name="TextBox 21"/>
            <p:cNvSpPr txBox="1"/>
            <p:nvPr/>
          </p:nvSpPr>
          <p:spPr>
            <a:xfrm>
              <a:off x="755523" y="3805714"/>
              <a:ext cx="1460564"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Curated dataset</a:t>
              </a:r>
            </a:p>
          </p:txBody>
        </p:sp>
        <p:sp>
          <p:nvSpPr>
            <p:cNvPr id="22" name="TextBox 22"/>
            <p:cNvSpPr txBox="1"/>
            <p:nvPr/>
          </p:nvSpPr>
          <p:spPr>
            <a:xfrm>
              <a:off x="3423285" y="3821906"/>
              <a:ext cx="2447076"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Silicon-wafer supply-chain graph</a:t>
              </a:r>
            </a:p>
          </p:txBody>
        </p:sp>
        <p:sp>
          <p:nvSpPr>
            <p:cNvPr id="23" name="Line 23"/>
            <p:cNvSpPr/>
            <p:nvPr/>
          </p:nvSpPr>
          <p:spPr>
            <a:xfrm>
              <a:off x="762000" y="4095750"/>
              <a:ext cx="5905500" cy="9525"/>
            </a:xfrm>
            <a:custGeom>
              <a:avLst/>
              <a:gdLst/>
              <a:ahLst/>
              <a:cxnLst/>
              <a:rect l="l" t="t" r="r" b="b"/>
              <a:pathLst>
                <a:path w="5905500" h="9525">
                  <a:moveTo>
                    <a:pt x="0" y="0"/>
                  </a:moveTo>
                  <a:lnTo>
                    <a:pt x="5905500" y="0"/>
                  </a:lnTo>
                </a:path>
              </a:pathLst>
            </a:custGeom>
            <a:noFill/>
            <a:ln w="9525">
              <a:solidFill>
                <a:srgbClr val="EAEEF3"/>
              </a:solidFill>
            </a:ln>
          </p:spPr>
        </p:sp>
        <p:sp>
          <p:nvSpPr>
            <p:cNvPr id="24" name="Rectangle 24"/>
            <p:cNvSpPr/>
            <p:nvPr/>
          </p:nvSpPr>
          <p:spPr>
            <a:xfrm>
              <a:off x="762000" y="4438650"/>
              <a:ext cx="5905500" cy="1143000"/>
            </a:xfrm>
            <a:prstGeom prst="rect">
              <a:avLst/>
            </a:prstGeom>
            <a:solidFill>
              <a:srgbClr val="F0FAFB"/>
            </a:solidFill>
            <a:ln>
              <a:noFill/>
            </a:ln>
          </p:spPr>
        </p:sp>
        <p:sp>
          <p:nvSpPr>
            <p:cNvPr id="25" name="Rectangle 25"/>
            <p:cNvSpPr/>
            <p:nvPr/>
          </p:nvSpPr>
          <p:spPr>
            <a:xfrm>
              <a:off x="762000" y="4438650"/>
              <a:ext cx="57150" cy="1143000"/>
            </a:xfrm>
            <a:prstGeom prst="rect">
              <a:avLst/>
            </a:prstGeom>
            <a:solidFill>
              <a:srgbClr val="0E9AA7"/>
            </a:solidFill>
            <a:ln>
              <a:noFill/>
            </a:ln>
          </p:spPr>
        </p:sp>
        <p:sp>
          <p:nvSpPr>
            <p:cNvPr id="26" name="TextBox 26"/>
            <p:cNvSpPr txBox="1"/>
            <p:nvPr/>
          </p:nvSpPr>
          <p:spPr>
            <a:xfrm>
              <a:off x="1022223" y="4643914"/>
              <a:ext cx="1370088" cy="249364"/>
            </a:xfrm>
            <a:prstGeom prst="rect">
              <a:avLst/>
            </a:prstGeom>
            <a:noFill/>
            <a:ln>
              <a:noFill/>
            </a:ln>
          </p:spPr>
          <p:txBody>
            <a:bodyPr wrap="none" lIns="0" tIns="0" rIns="0" bIns="0" anchor="t" anchorCtr="0">
              <a:spAutoFit/>
            </a:bodyPr>
            <a:lstStyle/>
            <a:p>
              <a:pPr algn="l"/>
              <a:r>
                <a:rPr lang="en-US" sz="1280" b="1" dirty="0">
                  <a:solidFill>
                    <a:srgbClr val="0E7C87"/>
                  </a:solidFill>
                  <a:latin typeface="Arial"/>
                  <a:ea typeface="Arial"/>
                  <a:cs typeface="Arial"/>
                </a:rPr>
                <a:t>Escalation path</a:t>
              </a:r>
            </a:p>
          </p:txBody>
        </p:sp>
        <p:sp>
          <p:nvSpPr>
            <p:cNvPr id="27" name="TextBox 27"/>
            <p:cNvSpPr txBox="1"/>
            <p:nvPr/>
          </p:nvSpPr>
          <p:spPr>
            <a:xfrm>
              <a:off x="1022604" y="4937760"/>
              <a:ext cx="4383411"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Every source starts free. Paid vendors (TEJ, CMoney,</a:t>
              </a:r>
            </a:p>
          </p:txBody>
        </p:sp>
        <p:sp>
          <p:nvSpPr>
            <p:cNvPr id="28" name="TextBox 28"/>
            <p:cNvSpPr txBox="1"/>
            <p:nvPr/>
          </p:nvSpPr>
          <p:spPr>
            <a:xfrm>
              <a:off x="1022604" y="5147310"/>
              <a:ext cx="3822075"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Bloomberg) are adopted only if free feeds prove</a:t>
              </a:r>
            </a:p>
          </p:txBody>
        </p:sp>
        <p:sp>
          <p:nvSpPr>
            <p:cNvPr id="29" name="TextBox 29"/>
            <p:cNvSpPr txBox="1"/>
            <p:nvPr/>
          </p:nvSpPr>
          <p:spPr>
            <a:xfrm>
              <a:off x="1022604" y="5356860"/>
              <a:ext cx="3937711"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insufficient — flagged to the client at that point.</a:t>
              </a:r>
            </a:p>
          </p:txBody>
        </p:sp>
      </p:grpSp>
      <p:grpSp>
        <p:nvGrpSpPr>
          <p:cNvPr id="46" name="Group 46"/>
          <p:cNvGrpSpPr/>
          <p:nvPr/>
        </p:nvGrpSpPr>
        <p:grpSpPr>
          <a:xfrm>
            <a:off x="7042404" y="1494949"/>
            <a:ext cx="4387596" cy="3892962"/>
            <a:chOff x="7042404" y="1494949"/>
            <a:chExt cx="4387596" cy="3892962"/>
          </a:xfrm>
        </p:grpSpPr>
        <p:sp>
          <p:nvSpPr>
            <p:cNvPr id="31" name="TextBox 31"/>
            <p:cNvSpPr txBox="1"/>
            <p:nvPr/>
          </p:nvSpPr>
          <p:spPr>
            <a:xfrm>
              <a:off x="7043547" y="1494949"/>
              <a:ext cx="1278865" cy="190690"/>
            </a:xfrm>
            <a:prstGeom prst="rect">
              <a:avLst/>
            </a:prstGeom>
            <a:noFill/>
            <a:ln>
              <a:noFill/>
            </a:ln>
          </p:spPr>
          <p:txBody>
            <a:bodyPr wrap="none" lIns="0" tIns="0" rIns="0" bIns="0" anchor="t" anchorCtr="0">
              <a:spAutoFit/>
            </a:bodyPr>
            <a:lstStyle/>
            <a:p>
              <a:pPr algn="l"/>
              <a:r>
                <a:rPr lang="en-US" sz="980" spc="150" dirty="0">
                  <a:solidFill>
                    <a:srgbClr val="5B6B7B"/>
                  </a:solidFill>
                  <a:latin typeface="Arial"/>
                  <a:ea typeface="Arial"/>
                  <a:cs typeface="Arial"/>
                </a:rPr>
                <a:t>TOP DATA RISKS</a:t>
              </a:r>
            </a:p>
          </p:txBody>
        </p:sp>
        <p:sp>
          <p:nvSpPr>
            <p:cNvPr id="32" name="Line 32"/>
            <p:cNvSpPr/>
            <p:nvPr/>
          </p:nvSpPr>
          <p:spPr>
            <a:xfrm>
              <a:off x="7048500" y="1714500"/>
              <a:ext cx="4381500" cy="9525"/>
            </a:xfrm>
            <a:custGeom>
              <a:avLst/>
              <a:gdLst/>
              <a:ahLst/>
              <a:cxnLst/>
              <a:rect l="l" t="t" r="r" b="b"/>
              <a:pathLst>
                <a:path w="4381500" h="9525">
                  <a:moveTo>
                    <a:pt x="0" y="0"/>
                  </a:moveTo>
                  <a:lnTo>
                    <a:pt x="4381500" y="0"/>
                  </a:lnTo>
                </a:path>
              </a:pathLst>
            </a:custGeom>
            <a:noFill/>
            <a:ln w="19050">
              <a:solidFill>
                <a:srgbClr val="0F2A43"/>
              </a:solidFill>
            </a:ln>
          </p:spPr>
        </p:sp>
        <p:sp>
          <p:nvSpPr>
            <p:cNvPr id="33" name="TextBox 33"/>
            <p:cNvSpPr txBox="1"/>
            <p:nvPr/>
          </p:nvSpPr>
          <p:spPr>
            <a:xfrm>
              <a:off x="7042404" y="1908810"/>
              <a:ext cx="2342266" cy="234696"/>
            </a:xfrm>
            <a:prstGeom prst="rect">
              <a:avLst/>
            </a:prstGeom>
            <a:noFill/>
            <a:ln>
              <a:noFill/>
            </a:ln>
          </p:spPr>
          <p:txBody>
            <a:bodyPr wrap="none" lIns="0" tIns="0" rIns="0" bIns="0" anchor="t" anchorCtr="0">
              <a:spAutoFit/>
            </a:bodyPr>
            <a:lstStyle/>
            <a:p>
              <a:pPr algn="l"/>
              <a:r>
                <a:rPr lang="en-US" sz="1200" b="1" dirty="0">
                  <a:solidFill>
                    <a:srgbClr val="DC2626"/>
                  </a:solidFill>
                  <a:latin typeface="Arial"/>
                  <a:ea typeface="Arial"/>
                  <a:cs typeface="Arial"/>
                </a:rPr>
                <a:t>R-01 · yfinance is unofficial</a:t>
              </a:r>
            </a:p>
          </p:txBody>
        </p:sp>
        <p:sp>
          <p:nvSpPr>
            <p:cNvPr id="34" name="TextBox 34"/>
            <p:cNvSpPr txBox="1"/>
            <p:nvPr/>
          </p:nvSpPr>
          <p:spPr>
            <a:xfrm>
              <a:off x="7042785" y="2145506"/>
              <a:ext cx="3593470"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Rate-limited, ToS-gray, can break. Cache hard,</a:t>
              </a:r>
            </a:p>
          </p:txBody>
        </p:sp>
        <p:sp>
          <p:nvSpPr>
            <p:cNvPr id="35" name="TextBox 35"/>
            <p:cNvSpPr txBox="1"/>
            <p:nvPr/>
          </p:nvSpPr>
          <p:spPr>
            <a:xfrm>
              <a:off x="7042785" y="2336006"/>
              <a:ext cx="3426571"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track pipeline status, alert after 2 bad days.</a:t>
              </a:r>
            </a:p>
          </p:txBody>
        </p:sp>
        <p:sp>
          <p:nvSpPr>
            <p:cNvPr id="36" name="TextBox 36"/>
            <p:cNvSpPr txBox="1"/>
            <p:nvPr/>
          </p:nvSpPr>
          <p:spPr>
            <a:xfrm>
              <a:off x="7042404" y="2708910"/>
              <a:ext cx="1504330" cy="234696"/>
            </a:xfrm>
            <a:prstGeom prst="rect">
              <a:avLst/>
            </a:prstGeom>
            <a:noFill/>
            <a:ln>
              <a:noFill/>
            </a:ln>
          </p:spPr>
          <p:txBody>
            <a:bodyPr wrap="none" lIns="0" tIns="0" rIns="0" bIns="0" anchor="t" anchorCtr="0">
              <a:spAutoFit/>
            </a:bodyPr>
            <a:lstStyle/>
            <a:p>
              <a:pPr algn="l"/>
              <a:r>
                <a:rPr lang="en-US" sz="1200" b="1" dirty="0">
                  <a:solidFill>
                    <a:srgbClr val="0F2A43"/>
                  </a:solidFill>
                  <a:latin typeface="Arial"/>
                  <a:ea typeface="Arial"/>
                  <a:cs typeface="Arial"/>
                </a:rPr>
                <a:t>R-04 · US chip gap</a:t>
              </a:r>
            </a:p>
          </p:txBody>
        </p:sp>
        <p:sp>
          <p:nvSpPr>
            <p:cNvPr id="37" name="TextBox 37"/>
            <p:cNvSpPr txBox="1"/>
            <p:nvPr/>
          </p:nvSpPr>
          <p:spPr>
            <a:xfrm>
              <a:off x="7042785" y="2945606"/>
              <a:ext cx="2803906"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13F is quarterly + delayed — scoped as</a:t>
              </a:r>
            </a:p>
          </p:txBody>
        </p:sp>
        <p:sp>
          <p:nvSpPr>
            <p:cNvPr id="38" name="TextBox 38"/>
            <p:cNvSpPr txBox="1"/>
            <p:nvPr/>
          </p:nvSpPr>
          <p:spPr>
            <a:xfrm>
              <a:off x="7042785" y="3136106"/>
              <a:ext cx="3055525"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"quarterly positioning", clearly labelled.</a:t>
              </a:r>
            </a:p>
          </p:txBody>
        </p:sp>
        <p:sp>
          <p:nvSpPr>
            <p:cNvPr id="39" name="TextBox 39"/>
            <p:cNvSpPr txBox="1"/>
            <p:nvPr/>
          </p:nvSpPr>
          <p:spPr>
            <a:xfrm>
              <a:off x="7042404" y="3509010"/>
              <a:ext cx="2476431" cy="234696"/>
            </a:xfrm>
            <a:prstGeom prst="rect">
              <a:avLst/>
            </a:prstGeom>
            <a:noFill/>
            <a:ln>
              <a:noFill/>
            </a:ln>
          </p:spPr>
          <p:txBody>
            <a:bodyPr wrap="none" lIns="0" tIns="0" rIns="0" bIns="0" anchor="t" anchorCtr="0">
              <a:spAutoFit/>
            </a:bodyPr>
            <a:lstStyle/>
            <a:p>
              <a:pPr algn="l"/>
              <a:r>
                <a:rPr lang="en-US" sz="1200" b="1" dirty="0">
                  <a:solidFill>
                    <a:srgbClr val="0F2A43"/>
                  </a:solidFill>
                  <a:latin typeface="Arial"/>
                  <a:ea typeface="Arial"/>
                  <a:cs typeface="Arial"/>
                </a:rPr>
                <a:t>R-02 · Supply-chain staleness</a:t>
              </a:r>
            </a:p>
          </p:txBody>
        </p:sp>
        <p:sp>
          <p:nvSpPr>
            <p:cNvPr id="40" name="TextBox 40"/>
            <p:cNvSpPr txBox="1"/>
            <p:nvPr/>
          </p:nvSpPr>
          <p:spPr>
            <a:xfrm>
              <a:off x="7042785" y="3745706"/>
              <a:ext cx="3196828"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Manually curated; editable without deploy,</a:t>
              </a:r>
            </a:p>
          </p:txBody>
        </p:sp>
        <p:sp>
          <p:nvSpPr>
            <p:cNvPr id="41" name="TextBox 41"/>
            <p:cNvSpPr txBox="1"/>
            <p:nvPr/>
          </p:nvSpPr>
          <p:spPr>
            <a:xfrm>
              <a:off x="7042785" y="3936206"/>
              <a:ext cx="2972229"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reviewed periodically, grows over time.</a:t>
              </a:r>
            </a:p>
          </p:txBody>
        </p:sp>
        <p:sp>
          <p:nvSpPr>
            <p:cNvPr id="42" name="TextBox 42"/>
            <p:cNvSpPr txBox="1"/>
            <p:nvPr/>
          </p:nvSpPr>
          <p:spPr>
            <a:xfrm>
              <a:off x="7042404" y="4309110"/>
              <a:ext cx="2044126" cy="234696"/>
            </a:xfrm>
            <a:prstGeom prst="rect">
              <a:avLst/>
            </a:prstGeom>
            <a:noFill/>
            <a:ln>
              <a:noFill/>
            </a:ln>
          </p:spPr>
          <p:txBody>
            <a:bodyPr wrap="none" lIns="0" tIns="0" rIns="0" bIns="0" anchor="t" anchorCtr="0">
              <a:spAutoFit/>
            </a:bodyPr>
            <a:lstStyle/>
            <a:p>
              <a:pPr algn="l"/>
              <a:r>
                <a:rPr lang="en-US" sz="1200" b="1" dirty="0">
                  <a:solidFill>
                    <a:srgbClr val="0F2A43"/>
                  </a:solidFill>
                  <a:latin typeface="Arial"/>
                  <a:ea typeface="Arial"/>
                  <a:cs typeface="Arial"/>
                </a:rPr>
                <a:t>R-03 · Model overfitting</a:t>
              </a:r>
            </a:p>
          </p:txBody>
        </p:sp>
        <p:sp>
          <p:nvSpPr>
            <p:cNvPr id="43" name="TextBox 43"/>
            <p:cNvSpPr txBox="1"/>
            <p:nvPr/>
          </p:nvSpPr>
          <p:spPr>
            <a:xfrm>
              <a:off x="7042785" y="4545806"/>
              <a:ext cx="3737039"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≥12-month backtest window; methodology_version</a:t>
              </a:r>
            </a:p>
          </p:txBody>
        </p:sp>
        <p:sp>
          <p:nvSpPr>
            <p:cNvPr id="44" name="TextBox 44"/>
            <p:cNvSpPr txBox="1"/>
            <p:nvPr/>
          </p:nvSpPr>
          <p:spPr>
            <a:xfrm>
              <a:off x="7042785" y="4736306"/>
              <a:ext cx="3282696"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tracked; "past ≠ future" disclaimer in-app.</a:t>
              </a:r>
            </a:p>
          </p:txBody>
        </p:sp>
        <p:sp>
          <p:nvSpPr>
            <p:cNvPr id="45" name="TextBox 45"/>
            <p:cNvSpPr txBox="1"/>
            <p:nvPr/>
          </p:nvSpPr>
          <p:spPr>
            <a:xfrm>
              <a:off x="7043166" y="5182552"/>
              <a:ext cx="3275697" cy="205359"/>
            </a:xfrm>
            <a:prstGeom prst="rect">
              <a:avLst/>
            </a:prstGeom>
            <a:noFill/>
            <a:ln>
              <a:noFill/>
            </a:ln>
          </p:spPr>
          <p:txBody>
            <a:bodyPr wrap="none" lIns="0" tIns="0" rIns="0" bIns="0" anchor="t" anchorCtr="0">
              <a:spAutoFit/>
            </a:bodyPr>
            <a:lstStyle/>
            <a:p>
              <a:pPr algn="l"/>
              <a:r>
                <a:rPr lang="en-US" sz="1050" dirty="0">
                  <a:solidFill>
                    <a:srgbClr val="5B6B7B"/>
                  </a:solidFill>
                  <a:latin typeface="Arial"/>
                  <a:ea typeface="Arial"/>
                  <a:cs typeface="Arial"/>
                </a:rPr>
                <a:t>Full risks register: BA spec §8b (R-01 … R-05).</a:t>
              </a:r>
            </a:p>
          </p:txBody>
        </p:sp>
      </p:grpSp>
      <p:grpSp>
        <p:nvGrpSpPr>
          <p:cNvPr id="50" name="Group 50"/>
          <p:cNvGrpSpPr/>
          <p:nvPr/>
        </p:nvGrpSpPr>
        <p:grpSpPr>
          <a:xfrm>
            <a:off x="757047" y="6477000"/>
            <a:ext cx="10677906" cy="285464"/>
            <a:chOff x="757047" y="6477000"/>
            <a:chExt cx="10677906" cy="285464"/>
          </a:xfrm>
        </p:grpSpPr>
        <p:sp>
          <p:nvSpPr>
            <p:cNvPr id="47" name="Line 47"/>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48" name="TextBox 48"/>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49" name="TextBox 49"/>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14 / 17</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9808" y="572452"/>
            <a:ext cx="5717416" cy="742760"/>
            <a:chOff x="749808" y="572452"/>
            <a:chExt cx="5717416" cy="742760"/>
          </a:xfrm>
        </p:grpSpPr>
        <p:sp>
          <p:nvSpPr>
            <p:cNvPr id="3" name="TextBox 3"/>
            <p:cNvSpPr txBox="1"/>
            <p:nvPr/>
          </p:nvSpPr>
          <p:spPr>
            <a:xfrm>
              <a:off x="756666" y="572452"/>
              <a:ext cx="2104796"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KEY DESIGN DECISIONS</a:t>
              </a:r>
            </a:p>
          </p:txBody>
        </p:sp>
        <p:sp>
          <p:nvSpPr>
            <p:cNvPr id="4" name="TextBox 4"/>
            <p:cNvSpPr txBox="1"/>
            <p:nvPr/>
          </p:nvSpPr>
          <p:spPr>
            <a:xfrm>
              <a:off x="749808" y="845820"/>
              <a:ext cx="5717416"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Five decisions that shape the build</a:t>
              </a:r>
            </a:p>
          </p:txBody>
        </p:sp>
      </p:grpSp>
      <p:grpSp>
        <p:nvGrpSpPr>
          <p:cNvPr id="11" name="Group 11"/>
          <p:cNvGrpSpPr/>
          <p:nvPr/>
        </p:nvGrpSpPr>
        <p:grpSpPr>
          <a:xfrm>
            <a:off x="762000" y="1562100"/>
            <a:ext cx="11153917" cy="638175"/>
            <a:chOff x="762000" y="1562100"/>
            <a:chExt cx="11153917" cy="638175"/>
          </a:xfrm>
        </p:grpSpPr>
        <p:sp>
          <p:nvSpPr>
            <p:cNvPr id="6" name="Rectangle 6"/>
            <p:cNvSpPr/>
            <p:nvPr/>
          </p:nvSpPr>
          <p:spPr>
            <a:xfrm>
              <a:off x="762000" y="1562100"/>
              <a:ext cx="419100" cy="419100"/>
            </a:xfrm>
            <a:prstGeom prst="rect">
              <a:avLst/>
            </a:prstGeom>
            <a:solidFill>
              <a:srgbClr val="0F2A43"/>
            </a:solidFill>
            <a:ln>
              <a:noFill/>
            </a:ln>
          </p:spPr>
        </p:sp>
        <p:sp>
          <p:nvSpPr>
            <p:cNvPr id="7" name="TextBox 7"/>
            <p:cNvSpPr txBox="1"/>
            <p:nvPr/>
          </p:nvSpPr>
          <p:spPr>
            <a:xfrm>
              <a:off x="905623" y="16859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Arial"/>
                  <a:ea typeface="Arial"/>
                  <a:cs typeface="Arial"/>
                </a:rPr>
                <a:t>1</a:t>
              </a:r>
            </a:p>
          </p:txBody>
        </p:sp>
        <p:sp>
          <p:nvSpPr>
            <p:cNvPr id="8" name="TextBox 8"/>
            <p:cNvSpPr txBox="1"/>
            <p:nvPr/>
          </p:nvSpPr>
          <p:spPr>
            <a:xfrm>
              <a:off x="1402080" y="1590675"/>
              <a:ext cx="2277948"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Native iOS, not a PWA</a:t>
              </a:r>
            </a:p>
          </p:txBody>
        </p:sp>
        <p:sp>
          <p:nvSpPr>
            <p:cNvPr id="9" name="TextBox 9"/>
            <p:cNvSpPr txBox="1"/>
            <p:nvPr/>
          </p:nvSpPr>
          <p:spPr>
            <a:xfrm>
              <a:off x="1403604" y="1851660"/>
              <a:ext cx="10512313"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The client's explicit choice. The REST API was built platform-agnostic, so the backend is unchanged; Next.js web stays for desktop.</a:t>
              </a:r>
            </a:p>
          </p:txBody>
        </p:sp>
        <p:sp>
          <p:nvSpPr>
            <p:cNvPr id="10" name="Line 10"/>
            <p:cNvSpPr/>
            <p:nvPr/>
          </p:nvSpPr>
          <p:spPr>
            <a:xfrm>
              <a:off x="762000" y="2190750"/>
              <a:ext cx="10668000" cy="9525"/>
            </a:xfrm>
            <a:custGeom>
              <a:avLst/>
              <a:gdLst/>
              <a:ahLst/>
              <a:cxnLst/>
              <a:rect l="l" t="t" r="r" b="b"/>
              <a:pathLst>
                <a:path w="10668000" h="9525">
                  <a:moveTo>
                    <a:pt x="0" y="0"/>
                  </a:moveTo>
                  <a:lnTo>
                    <a:pt x="10668000" y="0"/>
                  </a:lnTo>
                </a:path>
              </a:pathLst>
            </a:custGeom>
            <a:noFill/>
            <a:ln w="9525">
              <a:solidFill>
                <a:srgbClr val="EAEEF3"/>
              </a:solidFill>
            </a:ln>
          </p:spPr>
        </p:sp>
      </p:grpSp>
      <p:grpSp>
        <p:nvGrpSpPr>
          <p:cNvPr id="17" name="Group 17"/>
          <p:cNvGrpSpPr/>
          <p:nvPr/>
        </p:nvGrpSpPr>
        <p:grpSpPr>
          <a:xfrm>
            <a:off x="762000" y="2362200"/>
            <a:ext cx="10685602" cy="638175"/>
            <a:chOff x="762000" y="2362200"/>
            <a:chExt cx="10685602" cy="638175"/>
          </a:xfrm>
        </p:grpSpPr>
        <p:sp>
          <p:nvSpPr>
            <p:cNvPr id="12" name="Rectangle 12"/>
            <p:cNvSpPr/>
            <p:nvPr/>
          </p:nvSpPr>
          <p:spPr>
            <a:xfrm>
              <a:off x="762000" y="2362200"/>
              <a:ext cx="419100" cy="419100"/>
            </a:xfrm>
            <a:prstGeom prst="rect">
              <a:avLst/>
            </a:prstGeom>
            <a:solidFill>
              <a:srgbClr val="2563EB"/>
            </a:solidFill>
            <a:ln>
              <a:noFill/>
            </a:ln>
          </p:spPr>
        </p:sp>
        <p:sp>
          <p:nvSpPr>
            <p:cNvPr id="13" name="TextBox 13"/>
            <p:cNvSpPr txBox="1"/>
            <p:nvPr/>
          </p:nvSpPr>
          <p:spPr>
            <a:xfrm>
              <a:off x="905623" y="24860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Arial"/>
                  <a:ea typeface="Arial"/>
                  <a:cs typeface="Arial"/>
                </a:rPr>
                <a:t>2</a:t>
              </a:r>
            </a:p>
          </p:txBody>
        </p:sp>
        <p:sp>
          <p:nvSpPr>
            <p:cNvPr id="14" name="TextBox 14"/>
            <p:cNvSpPr txBox="1"/>
            <p:nvPr/>
          </p:nvSpPr>
          <p:spPr>
            <a:xfrm>
              <a:off x="1402080" y="2390775"/>
              <a:ext cx="2088657"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Split authentication</a:t>
              </a:r>
            </a:p>
          </p:txBody>
        </p:sp>
        <p:sp>
          <p:nvSpPr>
            <p:cNvPr id="15" name="TextBox 15"/>
            <p:cNvSpPr txBox="1"/>
            <p:nvPr/>
          </p:nvSpPr>
          <p:spPr>
            <a:xfrm>
              <a:off x="1403604" y="2651760"/>
              <a:ext cx="10043998"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Session cookies for web, short-lived JWT + refresh for iOS — one FastAPI credential verifier, two token-issuance strategies.</a:t>
              </a:r>
            </a:p>
          </p:txBody>
        </p:sp>
        <p:sp>
          <p:nvSpPr>
            <p:cNvPr id="16" name="Line 16"/>
            <p:cNvSpPr/>
            <p:nvPr/>
          </p:nvSpPr>
          <p:spPr>
            <a:xfrm>
              <a:off x="762000" y="2990850"/>
              <a:ext cx="10668000" cy="9525"/>
            </a:xfrm>
            <a:custGeom>
              <a:avLst/>
              <a:gdLst/>
              <a:ahLst/>
              <a:cxnLst/>
              <a:rect l="l" t="t" r="r" b="b"/>
              <a:pathLst>
                <a:path w="10668000" h="9525">
                  <a:moveTo>
                    <a:pt x="0" y="0"/>
                  </a:moveTo>
                  <a:lnTo>
                    <a:pt x="10668000" y="0"/>
                  </a:lnTo>
                </a:path>
              </a:pathLst>
            </a:custGeom>
            <a:noFill/>
            <a:ln w="9525">
              <a:solidFill>
                <a:srgbClr val="EAEEF3"/>
              </a:solidFill>
            </a:ln>
          </p:spPr>
        </p:sp>
      </p:grpSp>
      <p:grpSp>
        <p:nvGrpSpPr>
          <p:cNvPr id="23" name="Group 23"/>
          <p:cNvGrpSpPr/>
          <p:nvPr/>
        </p:nvGrpSpPr>
        <p:grpSpPr>
          <a:xfrm>
            <a:off x="762000" y="3162300"/>
            <a:ext cx="11741217" cy="638175"/>
            <a:chOff x="762000" y="3162300"/>
            <a:chExt cx="11741217" cy="638175"/>
          </a:xfrm>
        </p:grpSpPr>
        <p:sp>
          <p:nvSpPr>
            <p:cNvPr id="18" name="Rectangle 18"/>
            <p:cNvSpPr/>
            <p:nvPr/>
          </p:nvSpPr>
          <p:spPr>
            <a:xfrm>
              <a:off x="762000" y="3162300"/>
              <a:ext cx="419100" cy="419100"/>
            </a:xfrm>
            <a:prstGeom prst="rect">
              <a:avLst/>
            </a:prstGeom>
            <a:solidFill>
              <a:srgbClr val="0F2A43"/>
            </a:solidFill>
            <a:ln>
              <a:noFill/>
            </a:ln>
          </p:spPr>
        </p:sp>
        <p:sp>
          <p:nvSpPr>
            <p:cNvPr id="19" name="TextBox 19"/>
            <p:cNvSpPr txBox="1"/>
            <p:nvPr/>
          </p:nvSpPr>
          <p:spPr>
            <a:xfrm>
              <a:off x="905623" y="32861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Arial"/>
                  <a:ea typeface="Arial"/>
                  <a:cs typeface="Arial"/>
                </a:rPr>
                <a:t>3</a:t>
              </a:r>
            </a:p>
          </p:txBody>
        </p:sp>
        <p:sp>
          <p:nvSpPr>
            <p:cNvPr id="20" name="TextBox 20"/>
            <p:cNvSpPr txBox="1"/>
            <p:nvPr/>
          </p:nvSpPr>
          <p:spPr>
            <a:xfrm>
              <a:off x="1402080" y="3190875"/>
              <a:ext cx="3637348"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Track recommendations &amp; decisions</a:t>
              </a:r>
            </a:p>
          </p:txBody>
        </p:sp>
        <p:sp>
          <p:nvSpPr>
            <p:cNvPr id="21" name="TextBox 21"/>
            <p:cNvSpPr txBox="1"/>
            <p:nvPr/>
          </p:nvSpPr>
          <p:spPr>
            <a:xfrm>
              <a:off x="1403604" y="3451860"/>
              <a:ext cx="11099613"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The recommendation table is the immutable history log; user_decision_log records what the user actually did — annotations never mutate it.</a:t>
              </a:r>
            </a:p>
          </p:txBody>
        </p:sp>
        <p:sp>
          <p:nvSpPr>
            <p:cNvPr id="22" name="Line 22"/>
            <p:cNvSpPr/>
            <p:nvPr/>
          </p:nvSpPr>
          <p:spPr>
            <a:xfrm>
              <a:off x="762000" y="3790950"/>
              <a:ext cx="10668000" cy="9525"/>
            </a:xfrm>
            <a:custGeom>
              <a:avLst/>
              <a:gdLst/>
              <a:ahLst/>
              <a:cxnLst/>
              <a:rect l="l" t="t" r="r" b="b"/>
              <a:pathLst>
                <a:path w="10668000" h="9525">
                  <a:moveTo>
                    <a:pt x="0" y="0"/>
                  </a:moveTo>
                  <a:lnTo>
                    <a:pt x="10668000" y="0"/>
                  </a:lnTo>
                </a:path>
              </a:pathLst>
            </a:custGeom>
            <a:noFill/>
            <a:ln w="9525">
              <a:solidFill>
                <a:srgbClr val="EAEEF3"/>
              </a:solidFill>
            </a:ln>
          </p:spPr>
        </p:sp>
      </p:grpSp>
      <p:grpSp>
        <p:nvGrpSpPr>
          <p:cNvPr id="29" name="Group 29"/>
          <p:cNvGrpSpPr/>
          <p:nvPr/>
        </p:nvGrpSpPr>
        <p:grpSpPr>
          <a:xfrm>
            <a:off x="762000" y="3962400"/>
            <a:ext cx="12426187" cy="638175"/>
            <a:chOff x="762000" y="3962400"/>
            <a:chExt cx="12426187" cy="638175"/>
          </a:xfrm>
        </p:grpSpPr>
        <p:sp>
          <p:nvSpPr>
            <p:cNvPr id="24" name="Rectangle 24"/>
            <p:cNvSpPr/>
            <p:nvPr/>
          </p:nvSpPr>
          <p:spPr>
            <a:xfrm>
              <a:off x="762000" y="3962400"/>
              <a:ext cx="419100" cy="419100"/>
            </a:xfrm>
            <a:prstGeom prst="rect">
              <a:avLst/>
            </a:prstGeom>
            <a:solidFill>
              <a:srgbClr val="0E9AA7"/>
            </a:solidFill>
            <a:ln>
              <a:noFill/>
            </a:ln>
          </p:spPr>
        </p:sp>
        <p:sp>
          <p:nvSpPr>
            <p:cNvPr id="25" name="TextBox 25"/>
            <p:cNvSpPr txBox="1"/>
            <p:nvPr/>
          </p:nvSpPr>
          <p:spPr>
            <a:xfrm>
              <a:off x="905623" y="40862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Arial"/>
                  <a:ea typeface="Arial"/>
                  <a:cs typeface="Arial"/>
                </a:rPr>
                <a:t>4</a:t>
              </a:r>
            </a:p>
          </p:txBody>
        </p:sp>
        <p:sp>
          <p:nvSpPr>
            <p:cNvPr id="26" name="TextBox 26"/>
            <p:cNvSpPr txBox="1"/>
            <p:nvPr/>
          </p:nvSpPr>
          <p:spPr>
            <a:xfrm>
              <a:off x="1402080" y="3990975"/>
              <a:ext cx="3202561"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Encrypt sensitive data at rest</a:t>
              </a:r>
            </a:p>
          </p:txBody>
        </p:sp>
        <p:sp>
          <p:nvSpPr>
            <p:cNvPr id="27" name="TextBox 27"/>
            <p:cNvSpPr txBox="1"/>
            <p:nvPr/>
          </p:nvSpPr>
          <p:spPr>
            <a:xfrm>
              <a:off x="1403604" y="4251960"/>
              <a:ext cx="11784583"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Transaction prices and decision logs are personal financial data (NFR-05) — defense-in-depth: pgcrypto column-level + Key Vault key + database TDE.</a:t>
              </a:r>
            </a:p>
          </p:txBody>
        </p:sp>
        <p:sp>
          <p:nvSpPr>
            <p:cNvPr id="28" name="Line 28"/>
            <p:cNvSpPr/>
            <p:nvPr/>
          </p:nvSpPr>
          <p:spPr>
            <a:xfrm>
              <a:off x="762000" y="4591050"/>
              <a:ext cx="10668000" cy="9525"/>
            </a:xfrm>
            <a:custGeom>
              <a:avLst/>
              <a:gdLst/>
              <a:ahLst/>
              <a:cxnLst/>
              <a:rect l="l" t="t" r="r" b="b"/>
              <a:pathLst>
                <a:path w="10668000" h="9525">
                  <a:moveTo>
                    <a:pt x="0" y="0"/>
                  </a:moveTo>
                  <a:lnTo>
                    <a:pt x="10668000" y="0"/>
                  </a:lnTo>
                </a:path>
              </a:pathLst>
            </a:custGeom>
            <a:noFill/>
            <a:ln w="9525">
              <a:solidFill>
                <a:srgbClr val="EAEEF3"/>
              </a:solidFill>
            </a:ln>
          </p:spPr>
        </p:sp>
      </p:grpSp>
      <p:grpSp>
        <p:nvGrpSpPr>
          <p:cNvPr id="35" name="Group 35"/>
          <p:cNvGrpSpPr/>
          <p:nvPr/>
        </p:nvGrpSpPr>
        <p:grpSpPr>
          <a:xfrm>
            <a:off x="762000" y="4762500"/>
            <a:ext cx="10668000" cy="638175"/>
            <a:chOff x="762000" y="4762500"/>
            <a:chExt cx="10668000" cy="638175"/>
          </a:xfrm>
        </p:grpSpPr>
        <p:sp>
          <p:nvSpPr>
            <p:cNvPr id="30" name="Rectangle 30"/>
            <p:cNvSpPr/>
            <p:nvPr/>
          </p:nvSpPr>
          <p:spPr>
            <a:xfrm>
              <a:off x="762000" y="4762500"/>
              <a:ext cx="419100" cy="419100"/>
            </a:xfrm>
            <a:prstGeom prst="rect">
              <a:avLst/>
            </a:prstGeom>
            <a:solidFill>
              <a:srgbClr val="0F2A43"/>
            </a:solidFill>
            <a:ln>
              <a:noFill/>
            </a:ln>
          </p:spPr>
        </p:sp>
        <p:sp>
          <p:nvSpPr>
            <p:cNvPr id="31" name="TextBox 31"/>
            <p:cNvSpPr txBox="1"/>
            <p:nvPr/>
          </p:nvSpPr>
          <p:spPr>
            <a:xfrm>
              <a:off x="905623" y="4886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Arial"/>
                  <a:ea typeface="Arial"/>
                  <a:cs typeface="Arial"/>
                </a:rPr>
                <a:t>5</a:t>
              </a:r>
            </a:p>
          </p:txBody>
        </p:sp>
        <p:sp>
          <p:nvSpPr>
            <p:cNvPr id="32" name="TextBox 32"/>
            <p:cNvSpPr txBox="1"/>
            <p:nvPr/>
          </p:nvSpPr>
          <p:spPr>
            <a:xfrm>
              <a:off x="1402080" y="4791075"/>
              <a:ext cx="3245340"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English-only, on-demand lookup</a:t>
              </a:r>
            </a:p>
          </p:txBody>
        </p:sp>
        <p:sp>
          <p:nvSpPr>
            <p:cNvPr id="33" name="TextBox 33"/>
            <p:cNvSpPr txBox="1"/>
            <p:nvPr/>
          </p:nvSpPr>
          <p:spPr>
            <a:xfrm>
              <a:off x="1403604" y="5052060"/>
              <a:ext cx="8848170" cy="234696"/>
            </a:xfrm>
            <a:prstGeom prst="rect">
              <a:avLst/>
            </a:prstGeom>
            <a:noFill/>
            <a:ln>
              <a:noFill/>
            </a:ln>
          </p:spPr>
          <p:txBody>
            <a:bodyPr wrap="none" lIns="0" tIns="0" rIns="0" bIns="0" anchor="t" anchorCtr="0">
              <a:spAutoFit/>
            </a:bodyPr>
            <a:lstStyle/>
            <a:p>
              <a:pPr algn="l"/>
              <a:r>
                <a:rPr lang="en-US" sz="1200" dirty="0">
                  <a:solidFill>
                    <a:srgbClr val="5B6B7B"/>
                  </a:solidFill>
                  <a:latin typeface="Arial"/>
                  <a:ea typeface="Arial"/>
                  <a:cs typeface="Arial"/>
                </a:rPr>
                <a:t>No i18n framework and no watchlist entity — the smallest MVP that meets the ask, with room to add both later.</a:t>
              </a:r>
            </a:p>
          </p:txBody>
        </p:sp>
        <p:sp>
          <p:nvSpPr>
            <p:cNvPr id="34" name="Line 34"/>
            <p:cNvSpPr/>
            <p:nvPr/>
          </p:nvSpPr>
          <p:spPr>
            <a:xfrm>
              <a:off x="762000" y="5391150"/>
              <a:ext cx="10668000" cy="9525"/>
            </a:xfrm>
            <a:custGeom>
              <a:avLst/>
              <a:gdLst/>
              <a:ahLst/>
              <a:cxnLst/>
              <a:rect l="l" t="t" r="r" b="b"/>
              <a:pathLst>
                <a:path w="10668000" h="9525">
                  <a:moveTo>
                    <a:pt x="0" y="0"/>
                  </a:moveTo>
                  <a:lnTo>
                    <a:pt x="10668000" y="0"/>
                  </a:lnTo>
                </a:path>
              </a:pathLst>
            </a:custGeom>
            <a:noFill/>
            <a:ln w="9525">
              <a:solidFill>
                <a:srgbClr val="EAEEF3"/>
              </a:solidFill>
            </a:ln>
          </p:spPr>
        </p:sp>
      </p:grpSp>
      <p:grpSp>
        <p:nvGrpSpPr>
          <p:cNvPr id="37" name="Group 37"/>
          <p:cNvGrpSpPr/>
          <p:nvPr/>
        </p:nvGrpSpPr>
        <p:grpSpPr>
          <a:xfrm>
            <a:off x="756285" y="5650706"/>
            <a:ext cx="10739489" cy="220028"/>
            <a:chOff x="756285" y="5650706"/>
            <a:chExt cx="10739489" cy="220028"/>
          </a:xfrm>
        </p:grpSpPr>
        <p:sp>
          <p:nvSpPr>
            <p:cNvPr id="36" name="TextBox 36"/>
            <p:cNvSpPr txBox="1"/>
            <p:nvPr/>
          </p:nvSpPr>
          <p:spPr>
            <a:xfrm>
              <a:off x="756285" y="5650706"/>
              <a:ext cx="10739489"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Each decision keeps the MVP small and reversible — the architecture accommodates native web, more sectors and paid vendors without a rebuild.</a:t>
              </a:r>
            </a:p>
          </p:txBody>
        </p:sp>
      </p:grpSp>
      <p:grpSp>
        <p:nvGrpSpPr>
          <p:cNvPr id="41" name="Group 41"/>
          <p:cNvGrpSpPr/>
          <p:nvPr/>
        </p:nvGrpSpPr>
        <p:grpSpPr>
          <a:xfrm>
            <a:off x="757047" y="6477000"/>
            <a:ext cx="10677906" cy="285464"/>
            <a:chOff x="757047" y="6477000"/>
            <a:chExt cx="10677906" cy="285464"/>
          </a:xfrm>
        </p:grpSpPr>
        <p:sp>
          <p:nvSpPr>
            <p:cNvPr id="38" name="Line 38"/>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39" name="TextBox 39"/>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40" name="TextBox 40"/>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15 / 17</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49808" y="572452"/>
            <a:ext cx="10685145" cy="742760"/>
            <a:chOff x="749808" y="572452"/>
            <a:chExt cx="10685145" cy="742760"/>
          </a:xfrm>
        </p:grpSpPr>
        <p:sp>
          <p:nvSpPr>
            <p:cNvPr id="3" name="TextBox 3"/>
            <p:cNvSpPr txBox="1"/>
            <p:nvPr/>
          </p:nvSpPr>
          <p:spPr>
            <a:xfrm>
              <a:off x="756666" y="572452"/>
              <a:ext cx="3221736"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DEPLOYMENT &amp; OPERATIONS · §23</a:t>
              </a:r>
            </a:p>
          </p:txBody>
        </p:sp>
        <p:sp>
          <p:nvSpPr>
            <p:cNvPr id="4" name="TextBox 4"/>
            <p:cNvSpPr txBox="1"/>
            <p:nvPr/>
          </p:nvSpPr>
          <p:spPr>
            <a:xfrm>
              <a:off x="8823295" y="580549"/>
              <a:ext cx="2611658" cy="190690"/>
            </a:xfrm>
            <a:prstGeom prst="rect">
              <a:avLst/>
            </a:prstGeom>
            <a:noFill/>
            <a:ln>
              <a:noFill/>
            </a:ln>
          </p:spPr>
          <p:txBody>
            <a:bodyPr wrap="none" lIns="0" tIns="0" rIns="0" bIns="0" anchor="t" anchorCtr="0">
              <a:spAutoFit/>
            </a:bodyPr>
            <a:lstStyle/>
            <a:p>
              <a:pPr algn="r"/>
              <a:r>
                <a:rPr lang="en-US" sz="980" spc="75" dirty="0">
                  <a:solidFill>
                    <a:srgbClr val="0E9AA7"/>
                  </a:solidFill>
                  <a:latin typeface="Arial"/>
                  <a:ea typeface="Arial"/>
                  <a:cs typeface="Arial"/>
                </a:rPr>
                <a:t>Azure PaaS v1.2 · client-confirmed</a:t>
              </a:r>
            </a:p>
          </p:txBody>
        </p:sp>
        <p:sp>
          <p:nvSpPr>
            <p:cNvPr id="5" name="TextBox 5"/>
            <p:cNvSpPr txBox="1"/>
            <p:nvPr/>
          </p:nvSpPr>
          <p:spPr>
            <a:xfrm>
              <a:off x="749808" y="845820"/>
              <a:ext cx="9128766"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A managed Azure PaaS footprint runs the whole system</a:t>
              </a:r>
            </a:p>
          </p:txBody>
        </p:sp>
      </p:grpSp>
      <p:grpSp>
        <p:nvGrpSpPr>
          <p:cNvPr id="31" name="Group 31"/>
          <p:cNvGrpSpPr/>
          <p:nvPr/>
        </p:nvGrpSpPr>
        <p:grpSpPr>
          <a:xfrm>
            <a:off x="762000" y="1676400"/>
            <a:ext cx="6667500" cy="3886200"/>
            <a:chOff x="762000" y="1676400"/>
            <a:chExt cx="6667500" cy="3886200"/>
          </a:xfrm>
        </p:grpSpPr>
        <p:sp>
          <p:nvSpPr>
            <p:cNvPr id="7" name="Rectangle 7"/>
            <p:cNvSpPr/>
            <p:nvPr/>
          </p:nvSpPr>
          <p:spPr>
            <a:xfrm>
              <a:off x="762000" y="1676400"/>
              <a:ext cx="6667500" cy="3886200"/>
            </a:xfrm>
            <a:prstGeom prst="rect">
              <a:avLst/>
            </a:prstGeom>
            <a:solidFill>
              <a:srgbClr val="F3F5F8"/>
            </a:solidFill>
            <a:ln w="14288">
              <a:solidFill>
                <a:srgbClr val="0F2A43"/>
              </a:solidFill>
            </a:ln>
          </p:spPr>
        </p:sp>
        <p:sp>
          <p:nvSpPr>
            <p:cNvPr id="8" name="TextBox 8"/>
            <p:cNvSpPr txBox="1"/>
            <p:nvPr/>
          </p:nvSpPr>
          <p:spPr>
            <a:xfrm>
              <a:off x="1059180" y="1895475"/>
              <a:ext cx="3087772" cy="293370"/>
            </a:xfrm>
            <a:prstGeom prst="rect">
              <a:avLst/>
            </a:prstGeom>
            <a:noFill/>
            <a:ln>
              <a:noFill/>
            </a:ln>
          </p:spPr>
          <p:txBody>
            <a:bodyPr wrap="none" lIns="0" tIns="0" rIns="0" bIns="0" anchor="t" anchorCtr="0">
              <a:spAutoFit/>
            </a:bodyPr>
            <a:lstStyle/>
            <a:p>
              <a:pPr algn="l"/>
              <a:r>
                <a:rPr lang="en-US" sz="1500" b="1" dirty="0">
                  <a:solidFill>
                    <a:srgbClr val="0F2A43"/>
                  </a:solidFill>
                  <a:latin typeface="Arial"/>
                  <a:ea typeface="Arial"/>
                  <a:cs typeface="Arial"/>
                </a:rPr>
                <a:t>Microsoft Azure · Japan East</a:t>
              </a:r>
            </a:p>
          </p:txBody>
        </p:sp>
        <p:sp>
          <p:nvSpPr>
            <p:cNvPr id="9" name="TextBox 9"/>
            <p:cNvSpPr txBox="1"/>
            <p:nvPr/>
          </p:nvSpPr>
          <p:spPr>
            <a:xfrm>
              <a:off x="1061085" y="2164556"/>
              <a:ext cx="4308349"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Managed PaaS — no VMs, no Kubernetes, single-user scope</a:t>
              </a:r>
            </a:p>
          </p:txBody>
        </p:sp>
        <p:sp>
          <p:nvSpPr>
            <p:cNvPr id="10" name="Rectangle 10"/>
            <p:cNvSpPr/>
            <p:nvPr/>
          </p:nvSpPr>
          <p:spPr>
            <a:xfrm>
              <a:off x="1066800" y="2495550"/>
              <a:ext cx="6057900" cy="533400"/>
            </a:xfrm>
            <a:prstGeom prst="rect">
              <a:avLst/>
            </a:prstGeom>
            <a:solidFill>
              <a:srgbClr val="FFFFFF"/>
            </a:solidFill>
            <a:ln w="9525">
              <a:solidFill>
                <a:srgbClr val="D6DDE5"/>
              </a:solidFill>
            </a:ln>
          </p:spPr>
        </p:sp>
        <p:sp>
          <p:nvSpPr>
            <p:cNvPr id="11" name="Rectangle 11"/>
            <p:cNvSpPr/>
            <p:nvPr/>
          </p:nvSpPr>
          <p:spPr>
            <a:xfrm>
              <a:off x="1066800" y="2495550"/>
              <a:ext cx="47625" cy="533400"/>
            </a:xfrm>
            <a:prstGeom prst="rect">
              <a:avLst/>
            </a:prstGeom>
            <a:solidFill>
              <a:srgbClr val="2563EB"/>
            </a:solidFill>
            <a:ln>
              <a:noFill/>
            </a:ln>
          </p:spPr>
        </p:sp>
        <p:sp>
          <p:nvSpPr>
            <p:cNvPr id="12" name="TextBox 12"/>
            <p:cNvSpPr txBox="1"/>
            <p:nvPr/>
          </p:nvSpPr>
          <p:spPr>
            <a:xfrm>
              <a:off x="1250823" y="2586514"/>
              <a:ext cx="2573653"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App Service (B2, Always-On)</a:t>
              </a:r>
            </a:p>
          </p:txBody>
        </p:sp>
        <p:sp>
          <p:nvSpPr>
            <p:cNvPr id="13" name="TextBox 13"/>
            <p:cNvSpPr txBox="1"/>
            <p:nvPr/>
          </p:nvSpPr>
          <p:spPr>
            <a:xfrm>
              <a:off x="1251966" y="2820352"/>
              <a:ext cx="3555850" cy="205359"/>
            </a:xfrm>
            <a:prstGeom prst="rect">
              <a:avLst/>
            </a:prstGeom>
            <a:noFill/>
            <a:ln>
              <a:noFill/>
            </a:ln>
          </p:spPr>
          <p:txBody>
            <a:bodyPr wrap="none" lIns="0" tIns="0" rIns="0" bIns="0" anchor="t" anchorCtr="0">
              <a:spAutoFit/>
            </a:bodyPr>
            <a:lstStyle/>
            <a:p>
              <a:pPr algn="l"/>
              <a:r>
                <a:rPr lang="en-US" sz="1050" dirty="0">
                  <a:solidFill>
                    <a:srgbClr val="5B6B7B"/>
                  </a:solidFill>
                  <a:latin typeface="Arial"/>
                  <a:ea typeface="Arial"/>
                  <a:cs typeface="Arial"/>
                </a:rPr>
                <a:t>Next.js web + FastAPI — one shared container image</a:t>
              </a:r>
            </a:p>
          </p:txBody>
        </p:sp>
        <p:sp>
          <p:nvSpPr>
            <p:cNvPr id="14" name="Rectangle 14"/>
            <p:cNvSpPr/>
            <p:nvPr/>
          </p:nvSpPr>
          <p:spPr>
            <a:xfrm>
              <a:off x="1066800" y="3124200"/>
              <a:ext cx="6057900" cy="533400"/>
            </a:xfrm>
            <a:prstGeom prst="rect">
              <a:avLst/>
            </a:prstGeom>
            <a:solidFill>
              <a:srgbClr val="FFFFFF"/>
            </a:solidFill>
            <a:ln w="9525">
              <a:solidFill>
                <a:srgbClr val="D6DDE5"/>
              </a:solidFill>
            </a:ln>
          </p:spPr>
        </p:sp>
        <p:sp>
          <p:nvSpPr>
            <p:cNvPr id="15" name="Rectangle 15"/>
            <p:cNvSpPr/>
            <p:nvPr/>
          </p:nvSpPr>
          <p:spPr>
            <a:xfrm>
              <a:off x="1066800" y="3124200"/>
              <a:ext cx="47625" cy="533400"/>
            </a:xfrm>
            <a:prstGeom prst="rect">
              <a:avLst/>
            </a:prstGeom>
            <a:solidFill>
              <a:srgbClr val="2563EB"/>
            </a:solidFill>
            <a:ln>
              <a:noFill/>
            </a:ln>
          </p:spPr>
        </p:sp>
        <p:sp>
          <p:nvSpPr>
            <p:cNvPr id="16" name="TextBox 16"/>
            <p:cNvSpPr txBox="1"/>
            <p:nvPr/>
          </p:nvSpPr>
          <p:spPr>
            <a:xfrm>
              <a:off x="1250823" y="3215164"/>
              <a:ext cx="1679492"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Container Apps Job</a:t>
              </a:r>
            </a:p>
          </p:txBody>
        </p:sp>
        <p:sp>
          <p:nvSpPr>
            <p:cNvPr id="17" name="TextBox 17"/>
            <p:cNvSpPr txBox="1"/>
            <p:nvPr/>
          </p:nvSpPr>
          <p:spPr>
            <a:xfrm>
              <a:off x="1251966" y="3449002"/>
              <a:ext cx="4793740" cy="205359"/>
            </a:xfrm>
            <a:prstGeom prst="rect">
              <a:avLst/>
            </a:prstGeom>
            <a:noFill/>
            <a:ln>
              <a:noFill/>
            </a:ln>
          </p:spPr>
          <p:txBody>
            <a:bodyPr wrap="none" lIns="0" tIns="0" rIns="0" bIns="0" anchor="t" anchorCtr="0">
              <a:spAutoFit/>
            </a:bodyPr>
            <a:lstStyle/>
            <a:p>
              <a:pPr algn="l"/>
              <a:r>
                <a:rPr lang="en-US" sz="1050" dirty="0">
                  <a:solidFill>
                    <a:srgbClr val="5B6B7B"/>
                  </a:solidFill>
                  <a:latin typeface="Arial"/>
                  <a:ea typeface="Arial"/>
                  <a:cs typeface="Arial"/>
                </a:rPr>
                <a:t>Nightly batch on cron — completes by 07:00, independent of web sleep</a:t>
              </a:r>
            </a:p>
          </p:txBody>
        </p:sp>
        <p:sp>
          <p:nvSpPr>
            <p:cNvPr id="18" name="Rectangle 18"/>
            <p:cNvSpPr/>
            <p:nvPr/>
          </p:nvSpPr>
          <p:spPr>
            <a:xfrm>
              <a:off x="1066800" y="3752850"/>
              <a:ext cx="6057900" cy="533400"/>
            </a:xfrm>
            <a:prstGeom prst="rect">
              <a:avLst/>
            </a:prstGeom>
            <a:solidFill>
              <a:srgbClr val="FFFFFF"/>
            </a:solidFill>
            <a:ln w="9525">
              <a:solidFill>
                <a:srgbClr val="D6DDE5"/>
              </a:solidFill>
            </a:ln>
          </p:spPr>
        </p:sp>
        <p:sp>
          <p:nvSpPr>
            <p:cNvPr id="19" name="Rectangle 19"/>
            <p:cNvSpPr/>
            <p:nvPr/>
          </p:nvSpPr>
          <p:spPr>
            <a:xfrm>
              <a:off x="1066800" y="3752850"/>
              <a:ext cx="47625" cy="533400"/>
            </a:xfrm>
            <a:prstGeom prst="rect">
              <a:avLst/>
            </a:prstGeom>
            <a:solidFill>
              <a:srgbClr val="0E9AA7"/>
            </a:solidFill>
            <a:ln>
              <a:noFill/>
            </a:ln>
          </p:spPr>
        </p:sp>
        <p:sp>
          <p:nvSpPr>
            <p:cNvPr id="20" name="TextBox 20"/>
            <p:cNvSpPr txBox="1"/>
            <p:nvPr/>
          </p:nvSpPr>
          <p:spPr>
            <a:xfrm>
              <a:off x="1250823" y="3843814"/>
              <a:ext cx="2995349"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PostgreSQL Flexible Server (B2s)</a:t>
              </a:r>
            </a:p>
          </p:txBody>
        </p:sp>
        <p:sp>
          <p:nvSpPr>
            <p:cNvPr id="21" name="TextBox 21"/>
            <p:cNvSpPr txBox="1"/>
            <p:nvPr/>
          </p:nvSpPr>
          <p:spPr>
            <a:xfrm>
              <a:off x="1251966" y="4077652"/>
              <a:ext cx="4597402" cy="205359"/>
            </a:xfrm>
            <a:prstGeom prst="rect">
              <a:avLst/>
            </a:prstGeom>
            <a:noFill/>
            <a:ln>
              <a:noFill/>
            </a:ln>
          </p:spPr>
          <p:txBody>
            <a:bodyPr wrap="none" lIns="0" tIns="0" rIns="0" bIns="0" anchor="t" anchorCtr="0">
              <a:spAutoFit/>
            </a:bodyPr>
            <a:lstStyle/>
            <a:p>
              <a:pPr algn="l"/>
              <a:r>
                <a:rPr lang="en-US" sz="1050" dirty="0">
                  <a:solidFill>
                    <a:srgbClr val="5B6B7B"/>
                  </a:solidFill>
                  <a:latin typeface="Arial"/>
                  <a:ea typeface="Arial"/>
                  <a:cs typeface="Arial"/>
                </a:rPr>
                <a:t>Private Endpoint / VNet · relational + hypertables · §20 unchanged</a:t>
              </a:r>
            </a:p>
          </p:txBody>
        </p:sp>
        <p:sp>
          <p:nvSpPr>
            <p:cNvPr id="22" name="Rectangle 22"/>
            <p:cNvSpPr/>
            <p:nvPr/>
          </p:nvSpPr>
          <p:spPr>
            <a:xfrm>
              <a:off x="1066800" y="4381500"/>
              <a:ext cx="2952750" cy="533400"/>
            </a:xfrm>
            <a:prstGeom prst="rect">
              <a:avLst/>
            </a:prstGeom>
            <a:solidFill>
              <a:srgbClr val="FFFFFF"/>
            </a:solidFill>
            <a:ln w="9525">
              <a:solidFill>
                <a:srgbClr val="D6DDE5"/>
              </a:solidFill>
            </a:ln>
          </p:spPr>
        </p:sp>
        <p:sp>
          <p:nvSpPr>
            <p:cNvPr id="23" name="Rectangle 23"/>
            <p:cNvSpPr/>
            <p:nvPr/>
          </p:nvSpPr>
          <p:spPr>
            <a:xfrm>
              <a:off x="1066800" y="4381500"/>
              <a:ext cx="47625" cy="533400"/>
            </a:xfrm>
            <a:prstGeom prst="rect">
              <a:avLst/>
            </a:prstGeom>
            <a:solidFill>
              <a:srgbClr val="0E9AA7"/>
            </a:solidFill>
            <a:ln>
              <a:noFill/>
            </a:ln>
          </p:spPr>
        </p:sp>
        <p:sp>
          <p:nvSpPr>
            <p:cNvPr id="24" name="TextBox 24"/>
            <p:cNvSpPr txBox="1"/>
            <p:nvPr/>
          </p:nvSpPr>
          <p:spPr>
            <a:xfrm>
              <a:off x="1250823" y="4472464"/>
              <a:ext cx="1837039"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Cache for Redis (C0)</a:t>
              </a:r>
            </a:p>
          </p:txBody>
        </p:sp>
        <p:sp>
          <p:nvSpPr>
            <p:cNvPr id="25" name="TextBox 25"/>
            <p:cNvSpPr txBox="1"/>
            <p:nvPr/>
          </p:nvSpPr>
          <p:spPr>
            <a:xfrm>
              <a:off x="1251966" y="4706302"/>
              <a:ext cx="1075416" cy="205359"/>
            </a:xfrm>
            <a:prstGeom prst="rect">
              <a:avLst/>
            </a:prstGeom>
            <a:noFill/>
            <a:ln>
              <a:noFill/>
            </a:ln>
          </p:spPr>
          <p:txBody>
            <a:bodyPr wrap="none" lIns="0" tIns="0" rIns="0" bIns="0" anchor="t" anchorCtr="0">
              <a:spAutoFit/>
            </a:bodyPr>
            <a:lstStyle/>
            <a:p>
              <a:pPr algn="l"/>
              <a:r>
                <a:rPr lang="en-US" sz="1050" dirty="0">
                  <a:solidFill>
                    <a:srgbClr val="5B6B7B"/>
                  </a:solidFill>
                  <a:latin typeface="Arial"/>
                  <a:ea typeface="Arial"/>
                  <a:cs typeface="Arial"/>
                </a:rPr>
                <a:t>Read cache only</a:t>
              </a:r>
            </a:p>
          </p:txBody>
        </p:sp>
        <p:sp>
          <p:nvSpPr>
            <p:cNvPr id="26" name="Rectangle 26"/>
            <p:cNvSpPr/>
            <p:nvPr/>
          </p:nvSpPr>
          <p:spPr>
            <a:xfrm>
              <a:off x="4171950" y="4381500"/>
              <a:ext cx="2952750" cy="533400"/>
            </a:xfrm>
            <a:prstGeom prst="rect">
              <a:avLst/>
            </a:prstGeom>
            <a:solidFill>
              <a:srgbClr val="FFFFFF"/>
            </a:solidFill>
            <a:ln w="9525">
              <a:solidFill>
                <a:srgbClr val="D6DDE5"/>
              </a:solidFill>
            </a:ln>
          </p:spPr>
        </p:sp>
        <p:sp>
          <p:nvSpPr>
            <p:cNvPr id="27" name="Rectangle 27"/>
            <p:cNvSpPr/>
            <p:nvPr/>
          </p:nvSpPr>
          <p:spPr>
            <a:xfrm>
              <a:off x="4171950" y="4381500"/>
              <a:ext cx="47625" cy="533400"/>
            </a:xfrm>
            <a:prstGeom prst="rect">
              <a:avLst/>
            </a:prstGeom>
            <a:solidFill>
              <a:srgbClr val="0F2A43"/>
            </a:solidFill>
            <a:ln>
              <a:noFill/>
            </a:ln>
          </p:spPr>
        </p:sp>
        <p:sp>
          <p:nvSpPr>
            <p:cNvPr id="28" name="TextBox 28"/>
            <p:cNvSpPr txBox="1"/>
            <p:nvPr/>
          </p:nvSpPr>
          <p:spPr>
            <a:xfrm>
              <a:off x="4355973" y="4472464"/>
              <a:ext cx="2521322"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Key Vault + managed identity</a:t>
              </a:r>
            </a:p>
          </p:txBody>
        </p:sp>
        <p:sp>
          <p:nvSpPr>
            <p:cNvPr id="29" name="TextBox 29"/>
            <p:cNvSpPr txBox="1"/>
            <p:nvPr/>
          </p:nvSpPr>
          <p:spPr>
            <a:xfrm>
              <a:off x="4357116" y="4706302"/>
              <a:ext cx="2015313" cy="205359"/>
            </a:xfrm>
            <a:prstGeom prst="rect">
              <a:avLst/>
            </a:prstGeom>
            <a:noFill/>
            <a:ln>
              <a:noFill/>
            </a:ln>
          </p:spPr>
          <p:txBody>
            <a:bodyPr wrap="none" lIns="0" tIns="0" rIns="0" bIns="0" anchor="t" anchorCtr="0">
              <a:spAutoFit/>
            </a:bodyPr>
            <a:lstStyle/>
            <a:p>
              <a:pPr algn="l"/>
              <a:r>
                <a:rPr lang="en-US" sz="1050" dirty="0">
                  <a:solidFill>
                    <a:srgbClr val="5B6B7B"/>
                  </a:solidFill>
                  <a:latin typeface="Arial"/>
                  <a:ea typeface="Arial"/>
                  <a:cs typeface="Arial"/>
                </a:rPr>
                <a:t>No stored connection strings</a:t>
              </a:r>
            </a:p>
          </p:txBody>
        </p:sp>
        <p:sp>
          <p:nvSpPr>
            <p:cNvPr id="30" name="TextBox 30"/>
            <p:cNvSpPr txBox="1"/>
            <p:nvPr/>
          </p:nvSpPr>
          <p:spPr>
            <a:xfrm>
              <a:off x="1061466" y="5144452"/>
              <a:ext cx="4937466" cy="205359"/>
            </a:xfrm>
            <a:prstGeom prst="rect">
              <a:avLst/>
            </a:prstGeom>
            <a:noFill/>
            <a:ln>
              <a:noFill/>
            </a:ln>
          </p:spPr>
          <p:txBody>
            <a:bodyPr wrap="none" lIns="0" tIns="0" rIns="0" bIns="0" anchor="t" anchorCtr="0">
              <a:spAutoFit/>
            </a:bodyPr>
            <a:lstStyle/>
            <a:p>
              <a:pPr algn="l"/>
              <a:r>
                <a:rPr lang="en-US" sz="1050" dirty="0">
                  <a:solidFill>
                    <a:srgbClr val="0E9AA7"/>
                  </a:solidFill>
                  <a:latin typeface="Arial"/>
                  <a:ea typeface="Arial"/>
                  <a:cs typeface="Arial"/>
                </a:rPr>
                <a:t>Same platform-agnostic REST API — native iOS + web clients unchanged.</a:t>
              </a:r>
            </a:p>
          </p:txBody>
        </p:sp>
      </p:grpSp>
      <p:grpSp>
        <p:nvGrpSpPr>
          <p:cNvPr id="47" name="Group 47"/>
          <p:cNvGrpSpPr/>
          <p:nvPr/>
        </p:nvGrpSpPr>
        <p:grpSpPr>
          <a:xfrm>
            <a:off x="7734300" y="1676400"/>
            <a:ext cx="4329360" cy="3902011"/>
            <a:chOff x="7734300" y="1676400"/>
            <a:chExt cx="4329360" cy="3902011"/>
          </a:xfrm>
        </p:grpSpPr>
        <p:sp>
          <p:nvSpPr>
            <p:cNvPr id="32" name="Rectangle 32"/>
            <p:cNvSpPr/>
            <p:nvPr/>
          </p:nvSpPr>
          <p:spPr>
            <a:xfrm>
              <a:off x="7734300" y="1676400"/>
              <a:ext cx="3695700" cy="1143000"/>
            </a:xfrm>
            <a:prstGeom prst="rect">
              <a:avLst/>
            </a:prstGeom>
            <a:solidFill>
              <a:srgbClr val="0F2A43"/>
            </a:solidFill>
            <a:ln>
              <a:noFill/>
            </a:ln>
          </p:spPr>
        </p:sp>
        <p:sp>
          <p:nvSpPr>
            <p:cNvPr id="33" name="Rectangle 33"/>
            <p:cNvSpPr/>
            <p:nvPr/>
          </p:nvSpPr>
          <p:spPr>
            <a:xfrm>
              <a:off x="7734300" y="1676400"/>
              <a:ext cx="57150" cy="1143000"/>
            </a:xfrm>
            <a:prstGeom prst="rect">
              <a:avLst/>
            </a:prstGeom>
            <a:solidFill>
              <a:srgbClr val="2563EB"/>
            </a:solidFill>
            <a:ln>
              <a:noFill/>
            </a:ln>
          </p:spPr>
        </p:sp>
        <p:sp>
          <p:nvSpPr>
            <p:cNvPr id="34" name="TextBox 34"/>
            <p:cNvSpPr txBox="1"/>
            <p:nvPr/>
          </p:nvSpPr>
          <p:spPr>
            <a:xfrm>
              <a:off x="7996047" y="1914049"/>
              <a:ext cx="1208456" cy="190690"/>
            </a:xfrm>
            <a:prstGeom prst="rect">
              <a:avLst/>
            </a:prstGeom>
            <a:noFill/>
            <a:ln>
              <a:noFill/>
            </a:ln>
          </p:spPr>
          <p:txBody>
            <a:bodyPr wrap="none" lIns="0" tIns="0" rIns="0" bIns="0" anchor="t" anchorCtr="0">
              <a:spAutoFit/>
            </a:bodyPr>
            <a:lstStyle/>
            <a:p>
              <a:pPr algn="l"/>
              <a:r>
                <a:rPr lang="en-US" sz="980" spc="150" dirty="0">
                  <a:solidFill>
                    <a:srgbClr val="8FB4F5"/>
                  </a:solidFill>
                  <a:latin typeface="Arial"/>
                  <a:ea typeface="Arial"/>
                  <a:cs typeface="Arial"/>
                </a:rPr>
                <a:t>MONTHLY COST</a:t>
              </a:r>
            </a:p>
          </p:txBody>
        </p:sp>
        <p:sp>
          <p:nvSpPr>
            <p:cNvPr id="35" name="TextBox 35"/>
            <p:cNvSpPr txBox="1"/>
            <p:nvPr/>
          </p:nvSpPr>
          <p:spPr>
            <a:xfrm>
              <a:off x="7988046" y="2163128"/>
              <a:ext cx="1932026" cy="498729"/>
            </a:xfrm>
            <a:prstGeom prst="rect">
              <a:avLst/>
            </a:prstGeom>
            <a:noFill/>
            <a:ln>
              <a:noFill/>
            </a:ln>
          </p:spPr>
          <p:txBody>
            <a:bodyPr wrap="none" lIns="0" tIns="0" rIns="0" bIns="0" anchor="t" anchorCtr="0">
              <a:spAutoFit/>
            </a:bodyPr>
            <a:lstStyle/>
            <a:p>
              <a:pPr algn="l"/>
              <a:r>
                <a:rPr lang="en-US" sz="2550" b="1" dirty="0">
                  <a:solidFill>
                    <a:srgbClr val="FFFFFF"/>
                  </a:solidFill>
                  <a:latin typeface="Arial"/>
                  <a:ea typeface="Arial"/>
                  <a:cs typeface="Arial"/>
                </a:rPr>
                <a:t xml:space="preserve">~$84–89 </a:t>
              </a:r>
              <a:r>
                <a:rPr lang="en-US" sz="1350" b="1" dirty="0">
                  <a:solidFill>
                    <a:srgbClr val="8FB4F5"/>
                  </a:solidFill>
                  <a:latin typeface="Arial"/>
                  <a:ea typeface="Arial"/>
                  <a:cs typeface="Arial"/>
                </a:rPr>
                <a:t>/ mo</a:t>
              </a:r>
            </a:p>
          </p:txBody>
        </p:sp>
        <p:sp>
          <p:nvSpPr>
            <p:cNvPr id="36" name="TextBox 36"/>
            <p:cNvSpPr txBox="1"/>
            <p:nvPr/>
          </p:nvSpPr>
          <p:spPr>
            <a:xfrm>
              <a:off x="7995666" y="2572702"/>
              <a:ext cx="3429662" cy="205359"/>
            </a:xfrm>
            <a:prstGeom prst="rect">
              <a:avLst/>
            </a:prstGeom>
            <a:noFill/>
            <a:ln>
              <a:noFill/>
            </a:ln>
          </p:spPr>
          <p:txBody>
            <a:bodyPr wrap="none" lIns="0" tIns="0" rIns="0" bIns="0" anchor="t" anchorCtr="0">
              <a:spAutoFit/>
            </a:bodyPr>
            <a:lstStyle/>
            <a:p>
              <a:pPr algn="l"/>
              <a:r>
                <a:rPr lang="en-US" sz="1050" dirty="0">
                  <a:solidFill>
                    <a:srgbClr val="C9D8EE"/>
                  </a:solidFill>
                  <a:latin typeface="Arial"/>
                  <a:ea typeface="Arial"/>
                  <a:cs typeface="Arial"/>
                </a:rPr>
                <a:t>safe tier · private networking · Budget alert $80</a:t>
              </a:r>
            </a:p>
          </p:txBody>
        </p:sp>
        <p:sp>
          <p:nvSpPr>
            <p:cNvPr id="37" name="Rectangle 37"/>
            <p:cNvSpPr/>
            <p:nvPr/>
          </p:nvSpPr>
          <p:spPr>
            <a:xfrm>
              <a:off x="7734300" y="2971800"/>
              <a:ext cx="3695700" cy="762000"/>
            </a:xfrm>
            <a:prstGeom prst="rect">
              <a:avLst/>
            </a:prstGeom>
            <a:solidFill>
              <a:srgbClr val="FFFFFF"/>
            </a:solidFill>
            <a:ln w="9525">
              <a:solidFill>
                <a:srgbClr val="D6DDE5"/>
              </a:solidFill>
            </a:ln>
          </p:spPr>
        </p:sp>
        <p:sp>
          <p:nvSpPr>
            <p:cNvPr id="38" name="TextBox 38"/>
            <p:cNvSpPr txBox="1"/>
            <p:nvPr/>
          </p:nvSpPr>
          <p:spPr>
            <a:xfrm>
              <a:off x="7994523" y="3158014"/>
              <a:ext cx="712421"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Backups</a:t>
              </a:r>
            </a:p>
          </p:txBody>
        </p:sp>
        <p:sp>
          <p:nvSpPr>
            <p:cNvPr id="39" name="TextBox 39"/>
            <p:cNvSpPr txBox="1"/>
            <p:nvPr/>
          </p:nvSpPr>
          <p:spPr>
            <a:xfrm>
              <a:off x="7995666" y="3429952"/>
              <a:ext cx="2858789" cy="205359"/>
            </a:xfrm>
            <a:prstGeom prst="rect">
              <a:avLst/>
            </a:prstGeom>
            <a:noFill/>
            <a:ln>
              <a:noFill/>
            </a:ln>
          </p:spPr>
          <p:txBody>
            <a:bodyPr wrap="none" lIns="0" tIns="0" rIns="0" bIns="0" anchor="t" anchorCtr="0">
              <a:spAutoFit/>
            </a:bodyPr>
            <a:lstStyle/>
            <a:p>
              <a:pPr algn="l"/>
              <a:r>
                <a:rPr lang="en-US" sz="1050" dirty="0">
                  <a:solidFill>
                    <a:srgbClr val="5B6B7B"/>
                  </a:solidFill>
                  <a:latin typeface="Arial"/>
                  <a:ea typeface="Arial"/>
                  <a:cs typeface="Arial"/>
                </a:rPr>
                <a:t>Flexible Server automated backups + PITR</a:t>
              </a:r>
            </a:p>
          </p:txBody>
        </p:sp>
        <p:sp>
          <p:nvSpPr>
            <p:cNvPr id="40" name="Rectangle 40"/>
            <p:cNvSpPr/>
            <p:nvPr/>
          </p:nvSpPr>
          <p:spPr>
            <a:xfrm>
              <a:off x="7734300" y="3848100"/>
              <a:ext cx="3695700" cy="762000"/>
            </a:xfrm>
            <a:prstGeom prst="rect">
              <a:avLst/>
            </a:prstGeom>
            <a:solidFill>
              <a:srgbClr val="FFFFFF"/>
            </a:solidFill>
            <a:ln w="9525">
              <a:solidFill>
                <a:srgbClr val="D6DDE5"/>
              </a:solidFill>
            </a:ln>
          </p:spPr>
        </p:sp>
        <p:sp>
          <p:nvSpPr>
            <p:cNvPr id="41" name="TextBox 41"/>
            <p:cNvSpPr txBox="1"/>
            <p:nvPr/>
          </p:nvSpPr>
          <p:spPr>
            <a:xfrm>
              <a:off x="7994523" y="4034314"/>
              <a:ext cx="1479845"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Monitoring &amp; TLS</a:t>
              </a:r>
            </a:p>
          </p:txBody>
        </p:sp>
        <p:sp>
          <p:nvSpPr>
            <p:cNvPr id="42" name="TextBox 42"/>
            <p:cNvSpPr txBox="1"/>
            <p:nvPr/>
          </p:nvSpPr>
          <p:spPr>
            <a:xfrm>
              <a:off x="7995666" y="4306252"/>
              <a:ext cx="4067994" cy="205359"/>
            </a:xfrm>
            <a:prstGeom prst="rect">
              <a:avLst/>
            </a:prstGeom>
            <a:noFill/>
            <a:ln>
              <a:noFill/>
            </a:ln>
          </p:spPr>
          <p:txBody>
            <a:bodyPr wrap="none" lIns="0" tIns="0" rIns="0" bIns="0" anchor="t" anchorCtr="0">
              <a:spAutoFit/>
            </a:bodyPr>
            <a:lstStyle/>
            <a:p>
              <a:pPr algn="l"/>
              <a:r>
                <a:rPr lang="en-US" sz="1050" dirty="0">
                  <a:solidFill>
                    <a:srgbClr val="5B6B7B"/>
                  </a:solidFill>
                  <a:latin typeface="Arial"/>
                  <a:ea typeface="Arial"/>
                  <a:cs typeface="Arial"/>
                </a:rPr>
                <a:t>App Insights (1GB/day) + /pipeline/status · managed certs</a:t>
              </a:r>
            </a:p>
          </p:txBody>
        </p:sp>
        <p:sp>
          <p:nvSpPr>
            <p:cNvPr id="43" name="Rectangle 43"/>
            <p:cNvSpPr/>
            <p:nvPr/>
          </p:nvSpPr>
          <p:spPr>
            <a:xfrm>
              <a:off x="7734300" y="4724400"/>
              <a:ext cx="3695700" cy="838200"/>
            </a:xfrm>
            <a:prstGeom prst="rect">
              <a:avLst/>
            </a:prstGeom>
            <a:solidFill>
              <a:srgbClr val="FFFFFF"/>
            </a:solidFill>
            <a:ln w="9525">
              <a:solidFill>
                <a:srgbClr val="D6DDE5"/>
              </a:solidFill>
            </a:ln>
          </p:spPr>
        </p:sp>
        <p:sp>
          <p:nvSpPr>
            <p:cNvPr id="44" name="TextBox 44"/>
            <p:cNvSpPr txBox="1"/>
            <p:nvPr/>
          </p:nvSpPr>
          <p:spPr>
            <a:xfrm>
              <a:off x="7994523" y="4910614"/>
              <a:ext cx="603268" cy="249364"/>
            </a:xfrm>
            <a:prstGeom prst="rect">
              <a:avLst/>
            </a:prstGeom>
            <a:noFill/>
            <a:ln>
              <a:noFill/>
            </a:ln>
          </p:spPr>
          <p:txBody>
            <a:bodyPr wrap="none" lIns="0" tIns="0" rIns="0" bIns="0" anchor="t" anchorCtr="0">
              <a:spAutoFit/>
            </a:bodyPr>
            <a:lstStyle/>
            <a:p>
              <a:pPr algn="l"/>
              <a:r>
                <a:rPr lang="en-US" sz="1280" b="1" dirty="0">
                  <a:solidFill>
                    <a:srgbClr val="0F2A43"/>
                  </a:solidFill>
                  <a:latin typeface="Arial"/>
                  <a:ea typeface="Arial"/>
                  <a:cs typeface="Arial"/>
                </a:rPr>
                <a:t>CI / CD</a:t>
              </a:r>
            </a:p>
          </p:txBody>
        </p:sp>
        <p:sp>
          <p:nvSpPr>
            <p:cNvPr id="45" name="TextBox 45"/>
            <p:cNvSpPr txBox="1"/>
            <p:nvPr/>
          </p:nvSpPr>
          <p:spPr>
            <a:xfrm>
              <a:off x="7995666" y="5182552"/>
              <a:ext cx="2766988" cy="205359"/>
            </a:xfrm>
            <a:prstGeom prst="rect">
              <a:avLst/>
            </a:prstGeom>
            <a:noFill/>
            <a:ln>
              <a:noFill/>
            </a:ln>
          </p:spPr>
          <p:txBody>
            <a:bodyPr wrap="none" lIns="0" tIns="0" rIns="0" bIns="0" anchor="t" anchorCtr="0">
              <a:spAutoFit/>
            </a:bodyPr>
            <a:lstStyle/>
            <a:p>
              <a:pPr algn="l"/>
              <a:r>
                <a:rPr lang="en-US" sz="1050" dirty="0">
                  <a:solidFill>
                    <a:srgbClr val="5B6B7B"/>
                  </a:solidFill>
                  <a:latin typeface="Arial"/>
                  <a:ea typeface="Arial"/>
                  <a:cs typeface="Arial"/>
                </a:rPr>
                <a:t>GitHub Actions → shared container image</a:t>
              </a:r>
            </a:p>
          </p:txBody>
        </p:sp>
        <p:sp>
          <p:nvSpPr>
            <p:cNvPr id="46" name="TextBox 46"/>
            <p:cNvSpPr txBox="1"/>
            <p:nvPr/>
          </p:nvSpPr>
          <p:spPr>
            <a:xfrm>
              <a:off x="7995666" y="5373052"/>
              <a:ext cx="2473619" cy="205359"/>
            </a:xfrm>
            <a:prstGeom prst="rect">
              <a:avLst/>
            </a:prstGeom>
            <a:noFill/>
            <a:ln>
              <a:noFill/>
            </a:ln>
          </p:spPr>
          <p:txBody>
            <a:bodyPr wrap="none" lIns="0" tIns="0" rIns="0" bIns="0" anchor="t" anchorCtr="0">
              <a:spAutoFit/>
            </a:bodyPr>
            <a:lstStyle/>
            <a:p>
              <a:pPr algn="l"/>
              <a:r>
                <a:rPr lang="en-US" sz="1050" dirty="0">
                  <a:solidFill>
                    <a:srgbClr val="5B6B7B"/>
                  </a:solidFill>
                  <a:latin typeface="Arial"/>
                  <a:ea typeface="Arial"/>
                  <a:cs typeface="Arial"/>
                </a:rPr>
                <a:t>to App Service + Container Apps Job</a:t>
              </a:r>
            </a:p>
          </p:txBody>
        </p:sp>
      </p:grpSp>
      <p:grpSp>
        <p:nvGrpSpPr>
          <p:cNvPr id="49" name="Group 49"/>
          <p:cNvGrpSpPr/>
          <p:nvPr/>
        </p:nvGrpSpPr>
        <p:grpSpPr>
          <a:xfrm>
            <a:off x="756285" y="5841206"/>
            <a:ext cx="11973766" cy="220028"/>
            <a:chOff x="756285" y="5841206"/>
            <a:chExt cx="11973766" cy="220028"/>
          </a:xfrm>
        </p:grpSpPr>
        <p:sp>
          <p:nvSpPr>
            <p:cNvPr id="48" name="TextBox 48"/>
            <p:cNvSpPr txBox="1"/>
            <p:nvPr/>
          </p:nvSpPr>
          <p:spPr>
            <a:xfrm>
              <a:off x="756285" y="5841206"/>
              <a:ext cx="11973766"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07:00 TW completion is guaranteed by a right-sized, steady-state B2s (no runtime scaling) + a 6-hour job timeout, validated by a pre-launch load test (NFR-01).</a:t>
              </a:r>
            </a:p>
          </p:txBody>
        </p:sp>
      </p:grpSp>
      <p:grpSp>
        <p:nvGrpSpPr>
          <p:cNvPr id="53" name="Group 53"/>
          <p:cNvGrpSpPr/>
          <p:nvPr/>
        </p:nvGrpSpPr>
        <p:grpSpPr>
          <a:xfrm>
            <a:off x="757047" y="6477000"/>
            <a:ext cx="10677906" cy="285464"/>
            <a:chOff x="757047" y="6477000"/>
            <a:chExt cx="10677906" cy="285464"/>
          </a:xfrm>
        </p:grpSpPr>
        <p:sp>
          <p:nvSpPr>
            <p:cNvPr id="50" name="Line 50"/>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51" name="TextBox 51"/>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52" name="TextBox 52"/>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16 / 17</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49808" y="572452"/>
            <a:ext cx="9450202" cy="742760"/>
            <a:chOff x="749808" y="572452"/>
            <a:chExt cx="9450202" cy="742760"/>
          </a:xfrm>
        </p:grpSpPr>
        <p:sp>
          <p:nvSpPr>
            <p:cNvPr id="3" name="TextBox 3"/>
            <p:cNvSpPr txBox="1"/>
            <p:nvPr/>
          </p:nvSpPr>
          <p:spPr>
            <a:xfrm>
              <a:off x="756666" y="572452"/>
              <a:ext cx="2057857" cy="205359"/>
            </a:xfrm>
            <a:prstGeom prst="rect">
              <a:avLst/>
            </a:prstGeom>
            <a:noFill/>
            <a:ln>
              <a:noFill/>
            </a:ln>
          </p:spPr>
          <p:txBody>
            <a:bodyPr wrap="none" lIns="0" tIns="0" rIns="0" bIns="0" anchor="t" anchorCtr="0">
              <a:spAutoFit/>
            </a:bodyPr>
            <a:lstStyle/>
            <a:p>
              <a:pPr algn="l"/>
              <a:r>
                <a:rPr lang="en-US" sz="1050" spc="225" dirty="0">
                  <a:solidFill>
                    <a:srgbClr val="2563EB"/>
                  </a:solidFill>
                  <a:latin typeface="Arial"/>
                  <a:ea typeface="Arial"/>
                  <a:cs typeface="Arial"/>
                </a:rPr>
                <a:t>BUILD ROADMAP · §25</a:t>
              </a:r>
            </a:p>
          </p:txBody>
        </p:sp>
        <p:sp>
          <p:nvSpPr>
            <p:cNvPr id="4" name="TextBox 4"/>
            <p:cNvSpPr txBox="1"/>
            <p:nvPr/>
          </p:nvSpPr>
          <p:spPr>
            <a:xfrm>
              <a:off x="749808" y="845820"/>
              <a:ext cx="9450202" cy="469392"/>
            </a:xfrm>
            <a:prstGeom prst="rect">
              <a:avLst/>
            </a:prstGeom>
            <a:noFill/>
            <a:ln>
              <a:noFill/>
            </a:ln>
          </p:spPr>
          <p:txBody>
            <a:bodyPr wrap="none" lIns="0" tIns="0" rIns="0" bIns="0" anchor="t" anchorCtr="0">
              <a:spAutoFit/>
            </a:bodyPr>
            <a:lstStyle/>
            <a:p>
              <a:pPr algn="l"/>
              <a:r>
                <a:rPr lang="en-US" sz="2400" b="1" dirty="0">
                  <a:solidFill>
                    <a:srgbClr val="0F2A43"/>
                  </a:solidFill>
                  <a:latin typeface="Arial"/>
                  <a:ea typeface="Arial"/>
                  <a:cs typeface="Arial"/>
                </a:rPr>
                <a:t>Nine sequenced steps, each a ready-to-assign dev ticket</a:t>
              </a:r>
            </a:p>
          </p:txBody>
        </p:sp>
      </p:grpSp>
      <p:grpSp>
        <p:nvGrpSpPr>
          <p:cNvPr id="25" name="Group 25"/>
          <p:cNvGrpSpPr/>
          <p:nvPr/>
        </p:nvGrpSpPr>
        <p:grpSpPr>
          <a:xfrm>
            <a:off x="755523" y="1568768"/>
            <a:ext cx="5149977" cy="3444716"/>
            <a:chOff x="755523" y="1568768"/>
            <a:chExt cx="5149977" cy="3444716"/>
          </a:xfrm>
        </p:grpSpPr>
        <p:sp>
          <p:nvSpPr>
            <p:cNvPr id="6" name="TextBox 6"/>
            <p:cNvSpPr txBox="1"/>
            <p:nvPr/>
          </p:nvSpPr>
          <p:spPr>
            <a:xfrm>
              <a:off x="755523" y="1576864"/>
              <a:ext cx="112076" cy="249364"/>
            </a:xfrm>
            <a:prstGeom prst="rect">
              <a:avLst/>
            </a:prstGeom>
            <a:noFill/>
            <a:ln>
              <a:noFill/>
            </a:ln>
          </p:spPr>
          <p:txBody>
            <a:bodyPr wrap="none" lIns="0" tIns="0" rIns="0" bIns="0" anchor="t" anchorCtr="0">
              <a:spAutoFit/>
            </a:bodyPr>
            <a:lstStyle/>
            <a:p>
              <a:pPr algn="l"/>
              <a:r>
                <a:rPr lang="en-US" sz="1280" b="1" dirty="0">
                  <a:solidFill>
                    <a:srgbClr val="2563EB"/>
                  </a:solidFill>
                  <a:latin typeface="Arial"/>
                  <a:ea typeface="Arial"/>
                  <a:cs typeface="Arial"/>
                </a:rPr>
                <a:t>1</a:t>
              </a:r>
            </a:p>
          </p:txBody>
        </p:sp>
        <p:sp>
          <p:nvSpPr>
            <p:cNvPr id="7" name="TextBox 7"/>
            <p:cNvSpPr txBox="1"/>
            <p:nvPr/>
          </p:nvSpPr>
          <p:spPr>
            <a:xfrm>
              <a:off x="1098042" y="1568768"/>
              <a:ext cx="1021212" cy="264033"/>
            </a:xfrm>
            <a:prstGeom prst="rect">
              <a:avLst/>
            </a:prstGeom>
            <a:noFill/>
            <a:ln>
              <a:noFill/>
            </a:ln>
          </p:spPr>
          <p:txBody>
            <a:bodyPr wrap="none" lIns="0" tIns="0" rIns="0" bIns="0" anchor="t" anchorCtr="0">
              <a:spAutoFit/>
            </a:bodyPr>
            <a:lstStyle/>
            <a:p>
              <a:pPr algn="l"/>
              <a:r>
                <a:rPr lang="en-US" sz="1350" b="1" dirty="0">
                  <a:solidFill>
                    <a:srgbClr val="0F2A43"/>
                  </a:solidFill>
                  <a:latin typeface="Arial"/>
                  <a:ea typeface="Arial"/>
                  <a:cs typeface="Arial"/>
                </a:rPr>
                <a:t>Foundation</a:t>
              </a:r>
            </a:p>
          </p:txBody>
        </p:sp>
        <p:sp>
          <p:nvSpPr>
            <p:cNvPr id="8" name="TextBox 8"/>
            <p:cNvSpPr txBox="1"/>
            <p:nvPr/>
          </p:nvSpPr>
          <p:spPr>
            <a:xfrm>
              <a:off x="1099185" y="1821656"/>
              <a:ext cx="3945532"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Schema, FastAPI skeleton, auth, Docker Compose, CI</a:t>
              </a:r>
            </a:p>
          </p:txBody>
        </p:sp>
        <p:sp>
          <p:nvSpPr>
            <p:cNvPr id="9" name="Line 9"/>
            <p:cNvSpPr/>
            <p:nvPr/>
          </p:nvSpPr>
          <p:spPr>
            <a:xfrm>
              <a:off x="762000" y="2133600"/>
              <a:ext cx="5143500" cy="9525"/>
            </a:xfrm>
            <a:custGeom>
              <a:avLst/>
              <a:gdLst/>
              <a:ahLst/>
              <a:cxnLst/>
              <a:rect l="l" t="t" r="r" b="b"/>
              <a:pathLst>
                <a:path w="5143500" h="9525">
                  <a:moveTo>
                    <a:pt x="0" y="0"/>
                  </a:moveTo>
                  <a:lnTo>
                    <a:pt x="5143500" y="0"/>
                  </a:lnTo>
                </a:path>
              </a:pathLst>
            </a:custGeom>
            <a:noFill/>
            <a:ln w="9525">
              <a:solidFill>
                <a:srgbClr val="EAEEF3"/>
              </a:solidFill>
            </a:ln>
          </p:spPr>
        </p:sp>
        <p:sp>
          <p:nvSpPr>
            <p:cNvPr id="10" name="TextBox 10"/>
            <p:cNvSpPr txBox="1"/>
            <p:nvPr/>
          </p:nvSpPr>
          <p:spPr>
            <a:xfrm>
              <a:off x="755523" y="2319814"/>
              <a:ext cx="112076" cy="249364"/>
            </a:xfrm>
            <a:prstGeom prst="rect">
              <a:avLst/>
            </a:prstGeom>
            <a:noFill/>
            <a:ln>
              <a:noFill/>
            </a:ln>
          </p:spPr>
          <p:txBody>
            <a:bodyPr wrap="none" lIns="0" tIns="0" rIns="0" bIns="0" anchor="t" anchorCtr="0">
              <a:spAutoFit/>
            </a:bodyPr>
            <a:lstStyle/>
            <a:p>
              <a:pPr algn="l"/>
              <a:r>
                <a:rPr lang="en-US" sz="1280" b="1" dirty="0">
                  <a:solidFill>
                    <a:srgbClr val="2563EB"/>
                  </a:solidFill>
                  <a:latin typeface="Arial"/>
                  <a:ea typeface="Arial"/>
                  <a:cs typeface="Arial"/>
                </a:rPr>
                <a:t>2</a:t>
              </a:r>
            </a:p>
          </p:txBody>
        </p:sp>
        <p:sp>
          <p:nvSpPr>
            <p:cNvPr id="11" name="TextBox 11"/>
            <p:cNvSpPr txBox="1"/>
            <p:nvPr/>
          </p:nvSpPr>
          <p:spPr>
            <a:xfrm>
              <a:off x="1098042" y="2311718"/>
              <a:ext cx="1880443" cy="264033"/>
            </a:xfrm>
            <a:prstGeom prst="rect">
              <a:avLst/>
            </a:prstGeom>
            <a:noFill/>
            <a:ln>
              <a:noFill/>
            </a:ln>
          </p:spPr>
          <p:txBody>
            <a:bodyPr wrap="none" lIns="0" tIns="0" rIns="0" bIns="0" anchor="t" anchorCtr="0">
              <a:spAutoFit/>
            </a:bodyPr>
            <a:lstStyle/>
            <a:p>
              <a:pPr algn="l"/>
              <a:r>
                <a:rPr lang="en-US" sz="1350" b="1" dirty="0">
                  <a:solidFill>
                    <a:srgbClr val="0F2A43"/>
                  </a:solidFill>
                  <a:latin typeface="Arial"/>
                  <a:ea typeface="Arial"/>
                  <a:cs typeface="Arial"/>
                </a:rPr>
                <a:t>Ingestion — yfinance</a:t>
              </a:r>
            </a:p>
          </p:txBody>
        </p:sp>
        <p:sp>
          <p:nvSpPr>
            <p:cNvPr id="12" name="TextBox 12"/>
            <p:cNvSpPr txBox="1"/>
            <p:nvPr/>
          </p:nvSpPr>
          <p:spPr>
            <a:xfrm>
              <a:off x="1099185" y="2564606"/>
              <a:ext cx="3881352"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Unlocks Technical + Fundamental end-to-end fastest</a:t>
              </a:r>
            </a:p>
          </p:txBody>
        </p:sp>
        <p:sp>
          <p:nvSpPr>
            <p:cNvPr id="13" name="Line 13"/>
            <p:cNvSpPr/>
            <p:nvPr/>
          </p:nvSpPr>
          <p:spPr>
            <a:xfrm>
              <a:off x="762000" y="2876550"/>
              <a:ext cx="5143500" cy="9525"/>
            </a:xfrm>
            <a:custGeom>
              <a:avLst/>
              <a:gdLst/>
              <a:ahLst/>
              <a:cxnLst/>
              <a:rect l="l" t="t" r="r" b="b"/>
              <a:pathLst>
                <a:path w="5143500" h="9525">
                  <a:moveTo>
                    <a:pt x="0" y="0"/>
                  </a:moveTo>
                  <a:lnTo>
                    <a:pt x="5143500" y="0"/>
                  </a:lnTo>
                </a:path>
              </a:pathLst>
            </a:custGeom>
            <a:noFill/>
            <a:ln w="9525">
              <a:solidFill>
                <a:srgbClr val="EAEEF3"/>
              </a:solidFill>
            </a:ln>
          </p:spPr>
        </p:sp>
        <p:sp>
          <p:nvSpPr>
            <p:cNvPr id="14" name="TextBox 14"/>
            <p:cNvSpPr txBox="1"/>
            <p:nvPr/>
          </p:nvSpPr>
          <p:spPr>
            <a:xfrm>
              <a:off x="755523" y="3062764"/>
              <a:ext cx="112076" cy="249364"/>
            </a:xfrm>
            <a:prstGeom prst="rect">
              <a:avLst/>
            </a:prstGeom>
            <a:noFill/>
            <a:ln>
              <a:noFill/>
            </a:ln>
          </p:spPr>
          <p:txBody>
            <a:bodyPr wrap="none" lIns="0" tIns="0" rIns="0" bIns="0" anchor="t" anchorCtr="0">
              <a:spAutoFit/>
            </a:bodyPr>
            <a:lstStyle/>
            <a:p>
              <a:pPr algn="l"/>
              <a:r>
                <a:rPr lang="en-US" sz="1280" b="1" dirty="0">
                  <a:solidFill>
                    <a:srgbClr val="2563EB"/>
                  </a:solidFill>
                  <a:latin typeface="Arial"/>
                  <a:ea typeface="Arial"/>
                  <a:cs typeface="Arial"/>
                </a:rPr>
                <a:t>3</a:t>
              </a:r>
            </a:p>
          </p:txBody>
        </p:sp>
        <p:sp>
          <p:nvSpPr>
            <p:cNvPr id="15" name="TextBox 15"/>
            <p:cNvSpPr txBox="1"/>
            <p:nvPr/>
          </p:nvSpPr>
          <p:spPr>
            <a:xfrm>
              <a:off x="1098042" y="3054668"/>
              <a:ext cx="1288680" cy="264033"/>
            </a:xfrm>
            <a:prstGeom prst="rect">
              <a:avLst/>
            </a:prstGeom>
            <a:noFill/>
            <a:ln>
              <a:noFill/>
            </a:ln>
          </p:spPr>
          <p:txBody>
            <a:bodyPr wrap="none" lIns="0" tIns="0" rIns="0" bIns="0" anchor="t" anchorCtr="0">
              <a:spAutoFit/>
            </a:bodyPr>
            <a:lstStyle/>
            <a:p>
              <a:pPr algn="l"/>
              <a:r>
                <a:rPr lang="en-US" sz="1350" b="1" dirty="0">
                  <a:solidFill>
                    <a:srgbClr val="0F2A43"/>
                  </a:solidFill>
                  <a:latin typeface="Arial"/>
                  <a:ea typeface="Arial"/>
                  <a:cs typeface="Arial"/>
                </a:rPr>
                <a:t>Chip adapters</a:t>
              </a:r>
            </a:p>
          </p:txBody>
        </p:sp>
        <p:sp>
          <p:nvSpPr>
            <p:cNvPr id="16" name="TextBox 16"/>
            <p:cNvSpPr txBox="1"/>
            <p:nvPr/>
          </p:nvSpPr>
          <p:spPr>
            <a:xfrm>
              <a:off x="1099185" y="3307556"/>
              <a:ext cx="2810566"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TWSE / TPEx OpenAPI + SEC EDGAR 13F</a:t>
              </a:r>
            </a:p>
          </p:txBody>
        </p:sp>
        <p:sp>
          <p:nvSpPr>
            <p:cNvPr id="17" name="Line 17"/>
            <p:cNvSpPr/>
            <p:nvPr/>
          </p:nvSpPr>
          <p:spPr>
            <a:xfrm>
              <a:off x="762000" y="3619500"/>
              <a:ext cx="5143500" cy="9525"/>
            </a:xfrm>
            <a:custGeom>
              <a:avLst/>
              <a:gdLst/>
              <a:ahLst/>
              <a:cxnLst/>
              <a:rect l="l" t="t" r="r" b="b"/>
              <a:pathLst>
                <a:path w="5143500" h="9525">
                  <a:moveTo>
                    <a:pt x="0" y="0"/>
                  </a:moveTo>
                  <a:lnTo>
                    <a:pt x="5143500" y="0"/>
                  </a:lnTo>
                </a:path>
              </a:pathLst>
            </a:custGeom>
            <a:noFill/>
            <a:ln w="9525">
              <a:solidFill>
                <a:srgbClr val="EAEEF3"/>
              </a:solidFill>
            </a:ln>
          </p:spPr>
        </p:sp>
        <p:sp>
          <p:nvSpPr>
            <p:cNvPr id="18" name="TextBox 18"/>
            <p:cNvSpPr txBox="1"/>
            <p:nvPr/>
          </p:nvSpPr>
          <p:spPr>
            <a:xfrm>
              <a:off x="755523" y="3805714"/>
              <a:ext cx="112076" cy="249364"/>
            </a:xfrm>
            <a:prstGeom prst="rect">
              <a:avLst/>
            </a:prstGeom>
            <a:noFill/>
            <a:ln>
              <a:noFill/>
            </a:ln>
          </p:spPr>
          <p:txBody>
            <a:bodyPr wrap="none" lIns="0" tIns="0" rIns="0" bIns="0" anchor="t" anchorCtr="0">
              <a:spAutoFit/>
            </a:bodyPr>
            <a:lstStyle/>
            <a:p>
              <a:pPr algn="l"/>
              <a:r>
                <a:rPr lang="en-US" sz="1280" b="1" dirty="0">
                  <a:solidFill>
                    <a:srgbClr val="2563EB"/>
                  </a:solidFill>
                  <a:latin typeface="Arial"/>
                  <a:ea typeface="Arial"/>
                  <a:cs typeface="Arial"/>
                </a:rPr>
                <a:t>4</a:t>
              </a:r>
            </a:p>
          </p:txBody>
        </p:sp>
        <p:sp>
          <p:nvSpPr>
            <p:cNvPr id="19" name="TextBox 19"/>
            <p:cNvSpPr txBox="1"/>
            <p:nvPr/>
          </p:nvSpPr>
          <p:spPr>
            <a:xfrm>
              <a:off x="1098042" y="3797618"/>
              <a:ext cx="3028493" cy="264033"/>
            </a:xfrm>
            <a:prstGeom prst="rect">
              <a:avLst/>
            </a:prstGeom>
            <a:noFill/>
            <a:ln>
              <a:noFill/>
            </a:ln>
          </p:spPr>
          <p:txBody>
            <a:bodyPr wrap="none" lIns="0" tIns="0" rIns="0" bIns="0" anchor="t" anchorCtr="0">
              <a:spAutoFit/>
            </a:bodyPr>
            <a:lstStyle/>
            <a:p>
              <a:pPr algn="l"/>
              <a:r>
                <a:rPr lang="en-US" sz="1350" b="1" dirty="0">
                  <a:solidFill>
                    <a:srgbClr val="0F2A43"/>
                  </a:solidFill>
                  <a:latin typeface="Arial"/>
                  <a:ea typeface="Arial"/>
                  <a:cs typeface="Arial"/>
                </a:rPr>
                <a:t>Signals + Recommendation Engine</a:t>
              </a:r>
            </a:p>
          </p:txBody>
        </p:sp>
        <p:sp>
          <p:nvSpPr>
            <p:cNvPr id="20" name="TextBox 20"/>
            <p:cNvSpPr txBox="1"/>
            <p:nvPr/>
          </p:nvSpPr>
          <p:spPr>
            <a:xfrm>
              <a:off x="1099185" y="4050506"/>
              <a:ext cx="3954248"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Per-module signals; composite scoring + target price</a:t>
              </a:r>
            </a:p>
          </p:txBody>
        </p:sp>
        <p:sp>
          <p:nvSpPr>
            <p:cNvPr id="21" name="Line 21"/>
            <p:cNvSpPr/>
            <p:nvPr/>
          </p:nvSpPr>
          <p:spPr>
            <a:xfrm>
              <a:off x="762000" y="4362450"/>
              <a:ext cx="5143500" cy="9525"/>
            </a:xfrm>
            <a:custGeom>
              <a:avLst/>
              <a:gdLst/>
              <a:ahLst/>
              <a:cxnLst/>
              <a:rect l="l" t="t" r="r" b="b"/>
              <a:pathLst>
                <a:path w="5143500" h="9525">
                  <a:moveTo>
                    <a:pt x="0" y="0"/>
                  </a:moveTo>
                  <a:lnTo>
                    <a:pt x="5143500" y="0"/>
                  </a:lnTo>
                </a:path>
              </a:pathLst>
            </a:custGeom>
            <a:noFill/>
            <a:ln w="9525">
              <a:solidFill>
                <a:srgbClr val="EAEEF3"/>
              </a:solidFill>
            </a:ln>
          </p:spPr>
        </p:sp>
        <p:sp>
          <p:nvSpPr>
            <p:cNvPr id="22" name="TextBox 22"/>
            <p:cNvSpPr txBox="1"/>
            <p:nvPr/>
          </p:nvSpPr>
          <p:spPr>
            <a:xfrm>
              <a:off x="755523" y="4548664"/>
              <a:ext cx="112076" cy="249364"/>
            </a:xfrm>
            <a:prstGeom prst="rect">
              <a:avLst/>
            </a:prstGeom>
            <a:noFill/>
            <a:ln>
              <a:noFill/>
            </a:ln>
          </p:spPr>
          <p:txBody>
            <a:bodyPr wrap="none" lIns="0" tIns="0" rIns="0" bIns="0" anchor="t" anchorCtr="0">
              <a:spAutoFit/>
            </a:bodyPr>
            <a:lstStyle/>
            <a:p>
              <a:pPr algn="l"/>
              <a:r>
                <a:rPr lang="en-US" sz="1280" b="1" dirty="0">
                  <a:solidFill>
                    <a:srgbClr val="0E9AA7"/>
                  </a:solidFill>
                  <a:latin typeface="Arial"/>
                  <a:ea typeface="Arial"/>
                  <a:cs typeface="Arial"/>
                </a:rPr>
                <a:t>5</a:t>
              </a:r>
            </a:p>
          </p:txBody>
        </p:sp>
        <p:sp>
          <p:nvSpPr>
            <p:cNvPr id="23" name="TextBox 23"/>
            <p:cNvSpPr txBox="1"/>
            <p:nvPr/>
          </p:nvSpPr>
          <p:spPr>
            <a:xfrm>
              <a:off x="1098042" y="4540568"/>
              <a:ext cx="1897867" cy="264033"/>
            </a:xfrm>
            <a:prstGeom prst="rect">
              <a:avLst/>
            </a:prstGeom>
            <a:noFill/>
            <a:ln>
              <a:noFill/>
            </a:ln>
          </p:spPr>
          <p:txBody>
            <a:bodyPr wrap="none" lIns="0" tIns="0" rIns="0" bIns="0" anchor="t" anchorCtr="0">
              <a:spAutoFit/>
            </a:bodyPr>
            <a:lstStyle/>
            <a:p>
              <a:pPr algn="l"/>
              <a:r>
                <a:rPr lang="en-US" sz="1350" b="1" dirty="0">
                  <a:solidFill>
                    <a:srgbClr val="0F2A43"/>
                  </a:solidFill>
                  <a:latin typeface="Arial"/>
                  <a:ea typeface="Arial"/>
                  <a:cs typeface="Arial"/>
                </a:rPr>
                <a:t xml:space="preserve">Supply chain </a:t>
              </a:r>
              <a:r>
                <a:rPr lang="en-US" sz="1050" b="1" dirty="0">
                  <a:solidFill>
                    <a:srgbClr val="0E9AA7"/>
                  </a:solidFill>
                  <a:latin typeface="Arial"/>
                  <a:ea typeface="Arial"/>
                  <a:cs typeface="Arial"/>
                </a:rPr>
                <a:t>(parallel)</a:t>
              </a:r>
            </a:p>
          </p:txBody>
        </p:sp>
        <p:sp>
          <p:nvSpPr>
            <p:cNvPr id="24" name="TextBox 24"/>
            <p:cNvSpPr txBox="1"/>
            <p:nvPr/>
          </p:nvSpPr>
          <p:spPr>
            <a:xfrm>
              <a:off x="1099185" y="4793456"/>
              <a:ext cx="3507622"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Wafer YAML seed + node/edge tables + endpoint</a:t>
              </a:r>
            </a:p>
          </p:txBody>
        </p:sp>
      </p:grpSp>
      <p:grpSp>
        <p:nvGrpSpPr>
          <p:cNvPr id="45" name="Group 45"/>
          <p:cNvGrpSpPr/>
          <p:nvPr/>
        </p:nvGrpSpPr>
        <p:grpSpPr>
          <a:xfrm>
            <a:off x="6242304" y="1568768"/>
            <a:ext cx="5187696" cy="3444716"/>
            <a:chOff x="6242304" y="1568768"/>
            <a:chExt cx="5187696" cy="3444716"/>
          </a:xfrm>
        </p:grpSpPr>
        <p:sp>
          <p:nvSpPr>
            <p:cNvPr id="26" name="TextBox 26"/>
            <p:cNvSpPr txBox="1"/>
            <p:nvPr/>
          </p:nvSpPr>
          <p:spPr>
            <a:xfrm>
              <a:off x="6280023" y="1576864"/>
              <a:ext cx="112076" cy="249364"/>
            </a:xfrm>
            <a:prstGeom prst="rect">
              <a:avLst/>
            </a:prstGeom>
            <a:noFill/>
            <a:ln>
              <a:noFill/>
            </a:ln>
          </p:spPr>
          <p:txBody>
            <a:bodyPr wrap="none" lIns="0" tIns="0" rIns="0" bIns="0" anchor="t" anchorCtr="0">
              <a:spAutoFit/>
            </a:bodyPr>
            <a:lstStyle/>
            <a:p>
              <a:pPr algn="l"/>
              <a:r>
                <a:rPr lang="en-US" sz="1280" b="1" dirty="0">
                  <a:solidFill>
                    <a:srgbClr val="2563EB"/>
                  </a:solidFill>
                  <a:latin typeface="Arial"/>
                  <a:ea typeface="Arial"/>
                  <a:cs typeface="Arial"/>
                </a:rPr>
                <a:t>6</a:t>
              </a:r>
            </a:p>
          </p:txBody>
        </p:sp>
        <p:sp>
          <p:nvSpPr>
            <p:cNvPr id="27" name="TextBox 27"/>
            <p:cNvSpPr txBox="1"/>
            <p:nvPr/>
          </p:nvSpPr>
          <p:spPr>
            <a:xfrm>
              <a:off x="6622542" y="1568768"/>
              <a:ext cx="2046684" cy="264033"/>
            </a:xfrm>
            <a:prstGeom prst="rect">
              <a:avLst/>
            </a:prstGeom>
            <a:noFill/>
            <a:ln>
              <a:noFill/>
            </a:ln>
          </p:spPr>
          <p:txBody>
            <a:bodyPr wrap="none" lIns="0" tIns="0" rIns="0" bIns="0" anchor="t" anchorCtr="0">
              <a:spAutoFit/>
            </a:bodyPr>
            <a:lstStyle/>
            <a:p>
              <a:pPr algn="l"/>
              <a:r>
                <a:rPr lang="en-US" sz="1350" b="1" dirty="0">
                  <a:solidFill>
                    <a:srgbClr val="0F2A43"/>
                  </a:solidFill>
                  <a:latin typeface="Arial"/>
                  <a:ea typeface="Arial"/>
                  <a:cs typeface="Arial"/>
                </a:rPr>
                <a:t>News — GDELT + VADER</a:t>
              </a:r>
            </a:p>
          </p:txBody>
        </p:sp>
        <p:sp>
          <p:nvSpPr>
            <p:cNvPr id="28" name="TextBox 28"/>
            <p:cNvSpPr txBox="1"/>
            <p:nvPr/>
          </p:nvSpPr>
          <p:spPr>
            <a:xfrm>
              <a:off x="6623685" y="1821656"/>
              <a:ext cx="2833185"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Headline ingestion + sentiment tagging</a:t>
              </a:r>
            </a:p>
          </p:txBody>
        </p:sp>
        <p:sp>
          <p:nvSpPr>
            <p:cNvPr id="29" name="Line 29"/>
            <p:cNvSpPr/>
            <p:nvPr/>
          </p:nvSpPr>
          <p:spPr>
            <a:xfrm>
              <a:off x="6286500" y="2133600"/>
              <a:ext cx="5143500" cy="9525"/>
            </a:xfrm>
            <a:custGeom>
              <a:avLst/>
              <a:gdLst/>
              <a:ahLst/>
              <a:cxnLst/>
              <a:rect l="l" t="t" r="r" b="b"/>
              <a:pathLst>
                <a:path w="5143500" h="9525">
                  <a:moveTo>
                    <a:pt x="0" y="0"/>
                  </a:moveTo>
                  <a:lnTo>
                    <a:pt x="5143500" y="0"/>
                  </a:lnTo>
                </a:path>
              </a:pathLst>
            </a:custGeom>
            <a:noFill/>
            <a:ln w="9525">
              <a:solidFill>
                <a:srgbClr val="EAEEF3"/>
              </a:solidFill>
            </a:ln>
          </p:spPr>
        </p:sp>
        <p:sp>
          <p:nvSpPr>
            <p:cNvPr id="30" name="TextBox 30"/>
            <p:cNvSpPr txBox="1"/>
            <p:nvPr/>
          </p:nvSpPr>
          <p:spPr>
            <a:xfrm>
              <a:off x="6280023" y="2319814"/>
              <a:ext cx="112076" cy="249364"/>
            </a:xfrm>
            <a:prstGeom prst="rect">
              <a:avLst/>
            </a:prstGeom>
            <a:noFill/>
            <a:ln>
              <a:noFill/>
            </a:ln>
          </p:spPr>
          <p:txBody>
            <a:bodyPr wrap="none" lIns="0" tIns="0" rIns="0" bIns="0" anchor="t" anchorCtr="0">
              <a:spAutoFit/>
            </a:bodyPr>
            <a:lstStyle/>
            <a:p>
              <a:pPr algn="l"/>
              <a:r>
                <a:rPr lang="en-US" sz="1280" b="1" dirty="0">
                  <a:solidFill>
                    <a:srgbClr val="2563EB"/>
                  </a:solidFill>
                  <a:latin typeface="Arial"/>
                  <a:ea typeface="Arial"/>
                  <a:cs typeface="Arial"/>
                </a:rPr>
                <a:t>7</a:t>
              </a:r>
            </a:p>
          </p:txBody>
        </p:sp>
        <p:sp>
          <p:nvSpPr>
            <p:cNvPr id="31" name="TextBox 31"/>
            <p:cNvSpPr txBox="1"/>
            <p:nvPr/>
          </p:nvSpPr>
          <p:spPr>
            <a:xfrm>
              <a:off x="6622542" y="2311718"/>
              <a:ext cx="1498580" cy="264033"/>
            </a:xfrm>
            <a:prstGeom prst="rect">
              <a:avLst/>
            </a:prstGeom>
            <a:noFill/>
            <a:ln>
              <a:noFill/>
            </a:ln>
          </p:spPr>
          <p:txBody>
            <a:bodyPr wrap="none" lIns="0" tIns="0" rIns="0" bIns="0" anchor="t" anchorCtr="0">
              <a:spAutoFit/>
            </a:bodyPr>
            <a:lstStyle/>
            <a:p>
              <a:pPr algn="l"/>
              <a:r>
                <a:rPr lang="en-US" sz="1350" b="1" dirty="0">
                  <a:solidFill>
                    <a:srgbClr val="0F2A43"/>
                  </a:solidFill>
                  <a:latin typeface="Arial"/>
                  <a:ea typeface="Arial"/>
                  <a:cs typeface="Arial"/>
                </a:rPr>
                <a:t>Backtest engine</a:t>
              </a:r>
            </a:p>
          </p:txBody>
        </p:sp>
        <p:sp>
          <p:nvSpPr>
            <p:cNvPr id="32" name="TextBox 32"/>
            <p:cNvSpPr txBox="1"/>
            <p:nvPr/>
          </p:nvSpPr>
          <p:spPr>
            <a:xfrm>
              <a:off x="6623685" y="2564606"/>
              <a:ext cx="3038508"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Needs 12–24 months of backfilled history</a:t>
              </a:r>
            </a:p>
          </p:txBody>
        </p:sp>
        <p:sp>
          <p:nvSpPr>
            <p:cNvPr id="33" name="Line 33"/>
            <p:cNvSpPr/>
            <p:nvPr/>
          </p:nvSpPr>
          <p:spPr>
            <a:xfrm>
              <a:off x="6286500" y="2876550"/>
              <a:ext cx="5143500" cy="9525"/>
            </a:xfrm>
            <a:custGeom>
              <a:avLst/>
              <a:gdLst/>
              <a:ahLst/>
              <a:cxnLst/>
              <a:rect l="l" t="t" r="r" b="b"/>
              <a:pathLst>
                <a:path w="5143500" h="9525">
                  <a:moveTo>
                    <a:pt x="0" y="0"/>
                  </a:moveTo>
                  <a:lnTo>
                    <a:pt x="5143500" y="0"/>
                  </a:lnTo>
                </a:path>
              </a:pathLst>
            </a:custGeom>
            <a:noFill/>
            <a:ln w="9525">
              <a:solidFill>
                <a:srgbClr val="EAEEF3"/>
              </a:solidFill>
            </a:ln>
          </p:spPr>
        </p:sp>
        <p:sp>
          <p:nvSpPr>
            <p:cNvPr id="34" name="TextBox 34"/>
            <p:cNvSpPr txBox="1"/>
            <p:nvPr/>
          </p:nvSpPr>
          <p:spPr>
            <a:xfrm>
              <a:off x="6280023" y="3062764"/>
              <a:ext cx="112076" cy="249364"/>
            </a:xfrm>
            <a:prstGeom prst="rect">
              <a:avLst/>
            </a:prstGeom>
            <a:noFill/>
            <a:ln>
              <a:noFill/>
            </a:ln>
          </p:spPr>
          <p:txBody>
            <a:bodyPr wrap="none" lIns="0" tIns="0" rIns="0" bIns="0" anchor="t" anchorCtr="0">
              <a:spAutoFit/>
            </a:bodyPr>
            <a:lstStyle/>
            <a:p>
              <a:pPr algn="l"/>
              <a:r>
                <a:rPr lang="en-US" sz="1280" b="1" dirty="0">
                  <a:solidFill>
                    <a:srgbClr val="2563EB"/>
                  </a:solidFill>
                  <a:latin typeface="Arial"/>
                  <a:ea typeface="Arial"/>
                  <a:cs typeface="Arial"/>
                </a:rPr>
                <a:t>8</a:t>
              </a:r>
            </a:p>
          </p:txBody>
        </p:sp>
        <p:sp>
          <p:nvSpPr>
            <p:cNvPr id="35" name="TextBox 35"/>
            <p:cNvSpPr txBox="1"/>
            <p:nvPr/>
          </p:nvSpPr>
          <p:spPr>
            <a:xfrm>
              <a:off x="6622542" y="3054668"/>
              <a:ext cx="1270044" cy="264033"/>
            </a:xfrm>
            <a:prstGeom prst="rect">
              <a:avLst/>
            </a:prstGeom>
            <a:noFill/>
            <a:ln>
              <a:noFill/>
            </a:ln>
          </p:spPr>
          <p:txBody>
            <a:bodyPr wrap="none" lIns="0" tIns="0" rIns="0" bIns="0" anchor="t" anchorCtr="0">
              <a:spAutoFit/>
            </a:bodyPr>
            <a:lstStyle/>
            <a:p>
              <a:pPr algn="l"/>
              <a:r>
                <a:rPr lang="en-US" sz="1350" b="1" dirty="0">
                  <a:solidFill>
                    <a:srgbClr val="0F2A43"/>
                  </a:solidFill>
                  <a:latin typeface="Arial"/>
                  <a:ea typeface="Arial"/>
                  <a:cs typeface="Arial"/>
                </a:rPr>
                <a:t>Web frontend</a:t>
              </a:r>
            </a:p>
          </p:txBody>
        </p:sp>
        <p:sp>
          <p:nvSpPr>
            <p:cNvPr id="36" name="TextBox 36"/>
            <p:cNvSpPr txBox="1"/>
            <p:nvPr/>
          </p:nvSpPr>
          <p:spPr>
            <a:xfrm>
              <a:off x="6623685" y="3307556"/>
              <a:ext cx="4113606"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Next.js — dashboard, module views, settings, backtest</a:t>
              </a:r>
            </a:p>
          </p:txBody>
        </p:sp>
        <p:sp>
          <p:nvSpPr>
            <p:cNvPr id="37" name="Line 37"/>
            <p:cNvSpPr/>
            <p:nvPr/>
          </p:nvSpPr>
          <p:spPr>
            <a:xfrm>
              <a:off x="6286500" y="3619500"/>
              <a:ext cx="5143500" cy="9525"/>
            </a:xfrm>
            <a:custGeom>
              <a:avLst/>
              <a:gdLst/>
              <a:ahLst/>
              <a:cxnLst/>
              <a:rect l="l" t="t" r="r" b="b"/>
              <a:pathLst>
                <a:path w="5143500" h="9525">
                  <a:moveTo>
                    <a:pt x="0" y="0"/>
                  </a:moveTo>
                  <a:lnTo>
                    <a:pt x="5143500" y="0"/>
                  </a:lnTo>
                </a:path>
              </a:pathLst>
            </a:custGeom>
            <a:noFill/>
            <a:ln w="9525">
              <a:solidFill>
                <a:srgbClr val="EAEEF3"/>
              </a:solidFill>
            </a:ln>
          </p:spPr>
        </p:sp>
        <p:sp>
          <p:nvSpPr>
            <p:cNvPr id="38" name="TextBox 38"/>
            <p:cNvSpPr txBox="1"/>
            <p:nvPr/>
          </p:nvSpPr>
          <p:spPr>
            <a:xfrm>
              <a:off x="6242304" y="3813810"/>
              <a:ext cx="198775" cy="234696"/>
            </a:xfrm>
            <a:prstGeom prst="rect">
              <a:avLst/>
            </a:prstGeom>
            <a:noFill/>
            <a:ln>
              <a:noFill/>
            </a:ln>
          </p:spPr>
          <p:txBody>
            <a:bodyPr wrap="none" lIns="0" tIns="0" rIns="0" bIns="0" anchor="t" anchorCtr="0">
              <a:spAutoFit/>
            </a:bodyPr>
            <a:lstStyle/>
            <a:p>
              <a:pPr algn="l"/>
              <a:r>
                <a:rPr lang="en-US" sz="1200" b="1" dirty="0">
                  <a:solidFill>
                    <a:srgbClr val="0E9AA7"/>
                  </a:solidFill>
                  <a:latin typeface="Arial"/>
                  <a:ea typeface="Arial"/>
                  <a:cs typeface="Arial"/>
                </a:rPr>
                <a:t>8b</a:t>
              </a:r>
            </a:p>
          </p:txBody>
        </p:sp>
        <p:sp>
          <p:nvSpPr>
            <p:cNvPr id="39" name="TextBox 39"/>
            <p:cNvSpPr txBox="1"/>
            <p:nvPr/>
          </p:nvSpPr>
          <p:spPr>
            <a:xfrm>
              <a:off x="6622542" y="3797618"/>
              <a:ext cx="2329052" cy="264033"/>
            </a:xfrm>
            <a:prstGeom prst="rect">
              <a:avLst/>
            </a:prstGeom>
            <a:noFill/>
            <a:ln>
              <a:noFill/>
            </a:ln>
          </p:spPr>
          <p:txBody>
            <a:bodyPr wrap="none" lIns="0" tIns="0" rIns="0" bIns="0" anchor="t" anchorCtr="0">
              <a:spAutoFit/>
            </a:bodyPr>
            <a:lstStyle/>
            <a:p>
              <a:pPr algn="l"/>
              <a:r>
                <a:rPr lang="en-US" sz="1350" b="1" dirty="0">
                  <a:solidFill>
                    <a:srgbClr val="0F2A43"/>
                  </a:solidFill>
                  <a:latin typeface="Arial"/>
                  <a:ea typeface="Arial"/>
                  <a:cs typeface="Arial"/>
                </a:rPr>
                <a:t xml:space="preserve">Native iOS client </a:t>
              </a:r>
              <a:r>
                <a:rPr lang="en-US" sz="1050" b="1" dirty="0">
                  <a:solidFill>
                    <a:srgbClr val="0E9AA7"/>
                  </a:solidFill>
                  <a:latin typeface="Arial"/>
                  <a:ea typeface="Arial"/>
                  <a:cs typeface="Arial"/>
                </a:rPr>
                <a:t>(parallel)</a:t>
              </a:r>
            </a:p>
          </p:txBody>
        </p:sp>
        <p:sp>
          <p:nvSpPr>
            <p:cNvPr id="40" name="TextBox 40"/>
            <p:cNvSpPr txBox="1"/>
            <p:nvPr/>
          </p:nvSpPr>
          <p:spPr>
            <a:xfrm>
              <a:off x="6623685" y="4050506"/>
              <a:ext cx="3538694"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SwiftUI — consumes the same OpenAPI endpoints</a:t>
              </a:r>
            </a:p>
          </p:txBody>
        </p:sp>
        <p:sp>
          <p:nvSpPr>
            <p:cNvPr id="41" name="Line 41"/>
            <p:cNvSpPr/>
            <p:nvPr/>
          </p:nvSpPr>
          <p:spPr>
            <a:xfrm>
              <a:off x="6286500" y="4362450"/>
              <a:ext cx="5143500" cy="9525"/>
            </a:xfrm>
            <a:custGeom>
              <a:avLst/>
              <a:gdLst/>
              <a:ahLst/>
              <a:cxnLst/>
              <a:rect l="l" t="t" r="r" b="b"/>
              <a:pathLst>
                <a:path w="5143500" h="9525">
                  <a:moveTo>
                    <a:pt x="0" y="0"/>
                  </a:moveTo>
                  <a:lnTo>
                    <a:pt x="5143500" y="0"/>
                  </a:lnTo>
                </a:path>
              </a:pathLst>
            </a:custGeom>
            <a:noFill/>
            <a:ln w="9525">
              <a:solidFill>
                <a:srgbClr val="EAEEF3"/>
              </a:solidFill>
            </a:ln>
          </p:spPr>
        </p:sp>
        <p:sp>
          <p:nvSpPr>
            <p:cNvPr id="42" name="TextBox 42"/>
            <p:cNvSpPr txBox="1"/>
            <p:nvPr/>
          </p:nvSpPr>
          <p:spPr>
            <a:xfrm>
              <a:off x="6280023" y="4548664"/>
              <a:ext cx="112076" cy="249364"/>
            </a:xfrm>
            <a:prstGeom prst="rect">
              <a:avLst/>
            </a:prstGeom>
            <a:noFill/>
            <a:ln>
              <a:noFill/>
            </a:ln>
          </p:spPr>
          <p:txBody>
            <a:bodyPr wrap="none" lIns="0" tIns="0" rIns="0" bIns="0" anchor="t" anchorCtr="0">
              <a:spAutoFit/>
            </a:bodyPr>
            <a:lstStyle/>
            <a:p>
              <a:pPr algn="l"/>
              <a:r>
                <a:rPr lang="en-US" sz="1280" b="1" dirty="0">
                  <a:solidFill>
                    <a:srgbClr val="2563EB"/>
                  </a:solidFill>
                  <a:latin typeface="Arial"/>
                  <a:ea typeface="Arial"/>
                  <a:cs typeface="Arial"/>
                </a:rPr>
                <a:t>9</a:t>
              </a:r>
            </a:p>
          </p:txBody>
        </p:sp>
        <p:sp>
          <p:nvSpPr>
            <p:cNvPr id="43" name="TextBox 43"/>
            <p:cNvSpPr txBox="1"/>
            <p:nvPr/>
          </p:nvSpPr>
          <p:spPr>
            <a:xfrm>
              <a:off x="6622542" y="4540568"/>
              <a:ext cx="1327025" cy="264033"/>
            </a:xfrm>
            <a:prstGeom prst="rect">
              <a:avLst/>
            </a:prstGeom>
            <a:noFill/>
            <a:ln>
              <a:noFill/>
            </a:ln>
          </p:spPr>
          <p:txBody>
            <a:bodyPr wrap="none" lIns="0" tIns="0" rIns="0" bIns="0" anchor="t" anchorCtr="0">
              <a:spAutoFit/>
            </a:bodyPr>
            <a:lstStyle/>
            <a:p>
              <a:pPr algn="l"/>
              <a:r>
                <a:rPr lang="en-US" sz="1350" b="1" dirty="0">
                  <a:solidFill>
                    <a:srgbClr val="0F2A43"/>
                  </a:solidFill>
                  <a:latin typeface="Arial"/>
                  <a:ea typeface="Arial"/>
                  <a:cs typeface="Arial"/>
                </a:rPr>
                <a:t>Ops hardening</a:t>
              </a:r>
            </a:p>
          </p:txBody>
        </p:sp>
        <p:sp>
          <p:nvSpPr>
            <p:cNvPr id="44" name="TextBox 44"/>
            <p:cNvSpPr txBox="1"/>
            <p:nvPr/>
          </p:nvSpPr>
          <p:spPr>
            <a:xfrm>
              <a:off x="6623685" y="4793456"/>
              <a:ext cx="1910639" cy="220028"/>
            </a:xfrm>
            <a:prstGeom prst="rect">
              <a:avLst/>
            </a:prstGeom>
            <a:noFill/>
            <a:ln>
              <a:noFill/>
            </a:ln>
          </p:spPr>
          <p:txBody>
            <a:bodyPr wrap="none" lIns="0" tIns="0" rIns="0" bIns="0" anchor="t" anchorCtr="0">
              <a:spAutoFit/>
            </a:bodyPr>
            <a:lstStyle/>
            <a:p>
              <a:pPr algn="l"/>
              <a:r>
                <a:rPr lang="en-US" sz="1120" dirty="0">
                  <a:solidFill>
                    <a:srgbClr val="5B6B7B"/>
                  </a:solidFill>
                  <a:latin typeface="Arial"/>
                  <a:ea typeface="Arial"/>
                  <a:cs typeface="Arial"/>
                </a:rPr>
                <a:t>Monitoring, backups, TLS</a:t>
              </a:r>
            </a:p>
          </p:txBody>
        </p:sp>
      </p:grpSp>
      <p:grpSp>
        <p:nvGrpSpPr>
          <p:cNvPr id="50" name="Group 50"/>
          <p:cNvGrpSpPr/>
          <p:nvPr/>
        </p:nvGrpSpPr>
        <p:grpSpPr>
          <a:xfrm>
            <a:off x="762000" y="5295900"/>
            <a:ext cx="10668000" cy="762000"/>
            <a:chOff x="762000" y="5295900"/>
            <a:chExt cx="10668000" cy="762000"/>
          </a:xfrm>
        </p:grpSpPr>
        <p:sp>
          <p:nvSpPr>
            <p:cNvPr id="46" name="Rectangle 46"/>
            <p:cNvSpPr/>
            <p:nvPr/>
          </p:nvSpPr>
          <p:spPr>
            <a:xfrm>
              <a:off x="762000" y="5295900"/>
              <a:ext cx="10668000" cy="762000"/>
            </a:xfrm>
            <a:prstGeom prst="rect">
              <a:avLst/>
            </a:prstGeom>
            <a:solidFill>
              <a:srgbClr val="0F2A43"/>
            </a:solidFill>
            <a:ln>
              <a:noFill/>
            </a:ln>
          </p:spPr>
        </p:sp>
        <p:sp>
          <p:nvSpPr>
            <p:cNvPr id="47" name="Rectangle 47"/>
            <p:cNvSpPr/>
            <p:nvPr/>
          </p:nvSpPr>
          <p:spPr>
            <a:xfrm>
              <a:off x="762000" y="5295900"/>
              <a:ext cx="57150" cy="762000"/>
            </a:xfrm>
            <a:prstGeom prst="rect">
              <a:avLst/>
            </a:prstGeom>
            <a:solidFill>
              <a:srgbClr val="2563EB"/>
            </a:solidFill>
            <a:ln>
              <a:noFill/>
            </a:ln>
          </p:spPr>
        </p:sp>
        <p:sp>
          <p:nvSpPr>
            <p:cNvPr id="48" name="TextBox 48"/>
            <p:cNvSpPr txBox="1"/>
            <p:nvPr/>
          </p:nvSpPr>
          <p:spPr>
            <a:xfrm>
              <a:off x="1136523" y="5482114"/>
              <a:ext cx="9803598" cy="249364"/>
            </a:xfrm>
            <a:prstGeom prst="rect">
              <a:avLst/>
            </a:prstGeom>
            <a:noFill/>
            <a:ln>
              <a:noFill/>
            </a:ln>
          </p:spPr>
          <p:txBody>
            <a:bodyPr wrap="none" lIns="0" tIns="0" rIns="0" bIns="0" anchor="t" anchorCtr="0">
              <a:spAutoFit/>
            </a:bodyPr>
            <a:lstStyle/>
            <a:p>
              <a:pPr algn="l"/>
              <a:r>
                <a:rPr lang="en-US" sz="1280" dirty="0">
                  <a:solidFill>
                    <a:srgbClr val="FFFFFF"/>
                  </a:solidFill>
                  <a:latin typeface="Arial"/>
                  <a:ea typeface="Arial"/>
                  <a:cs typeface="Arial"/>
                </a:rPr>
                <a:t>Each step maps 1:1 to a dev-assignable ticket — data model, API contract and acceptance criteria already specified.</a:t>
              </a:r>
            </a:p>
          </p:txBody>
        </p:sp>
        <p:sp>
          <p:nvSpPr>
            <p:cNvPr id="49" name="TextBox 49"/>
            <p:cNvSpPr txBox="1"/>
            <p:nvPr/>
          </p:nvSpPr>
          <p:spPr>
            <a:xfrm>
              <a:off x="1136523" y="5748814"/>
              <a:ext cx="5002666" cy="249364"/>
            </a:xfrm>
            <a:prstGeom prst="rect">
              <a:avLst/>
            </a:prstGeom>
            <a:noFill/>
            <a:ln>
              <a:noFill/>
            </a:ln>
          </p:spPr>
          <p:txBody>
            <a:bodyPr wrap="none" lIns="0" tIns="0" rIns="0" bIns="0" anchor="t" anchorCtr="0">
              <a:spAutoFit/>
            </a:bodyPr>
            <a:lstStyle/>
            <a:p>
              <a:pPr algn="l"/>
              <a:r>
                <a:rPr lang="en-US" sz="1280" b="1" dirty="0">
                  <a:solidFill>
                    <a:srgbClr val="8FB4F5"/>
                  </a:solidFill>
                  <a:latin typeface="Arial"/>
                  <a:ea typeface="Arial"/>
                  <a:cs typeface="Arial"/>
                </a:rPr>
                <a:t>Next: formal team review round → revisions → final deck.</a:t>
              </a:r>
            </a:p>
          </p:txBody>
        </p:sp>
      </p:grpSp>
      <p:grpSp>
        <p:nvGrpSpPr>
          <p:cNvPr id="54" name="Group 54"/>
          <p:cNvGrpSpPr/>
          <p:nvPr/>
        </p:nvGrpSpPr>
        <p:grpSpPr>
          <a:xfrm>
            <a:off x="757047" y="6477000"/>
            <a:ext cx="10677906" cy="285464"/>
            <a:chOff x="757047" y="6477000"/>
            <a:chExt cx="10677906" cy="285464"/>
          </a:xfrm>
        </p:grpSpPr>
        <p:sp>
          <p:nvSpPr>
            <p:cNvPr id="51" name="Line 51"/>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rgbClr val="D6DDE5"/>
              </a:solidFill>
            </a:ln>
          </p:spPr>
        </p:sp>
        <p:sp>
          <p:nvSpPr>
            <p:cNvPr id="52" name="TextBox 52"/>
            <p:cNvSpPr txBox="1"/>
            <p:nvPr/>
          </p:nvSpPr>
          <p:spPr>
            <a:xfrm>
              <a:off x="757047" y="6571774"/>
              <a:ext cx="3452241" cy="190690"/>
            </a:xfrm>
            <a:prstGeom prst="rect">
              <a:avLst/>
            </a:prstGeom>
            <a:noFill/>
            <a:ln>
              <a:noFill/>
            </a:ln>
          </p:spPr>
          <p:txBody>
            <a:bodyPr wrap="none" lIns="0" tIns="0" rIns="0" bIns="0" anchor="t" anchorCtr="0">
              <a:spAutoFit/>
            </a:bodyPr>
            <a:lstStyle/>
            <a:p>
              <a:pPr algn="l"/>
              <a:r>
                <a:rPr lang="en-US" sz="980" dirty="0">
                  <a:solidFill>
                    <a:srgbClr val="5B6B7B"/>
                  </a:solidFill>
                  <a:latin typeface="Arial"/>
                  <a:ea typeface="Arial"/>
                  <a:cs typeface="Arial"/>
                </a:rPr>
                <a:t>Stock Investment Analysis App · System Design · v1.0</a:t>
              </a:r>
            </a:p>
          </p:txBody>
        </p:sp>
        <p:sp>
          <p:nvSpPr>
            <p:cNvPr id="53" name="TextBox 53"/>
            <p:cNvSpPr txBox="1"/>
            <p:nvPr/>
          </p:nvSpPr>
          <p:spPr>
            <a:xfrm>
              <a:off x="10985344" y="6571774"/>
              <a:ext cx="449609" cy="190690"/>
            </a:xfrm>
            <a:prstGeom prst="rect">
              <a:avLst/>
            </a:prstGeom>
            <a:noFill/>
            <a:ln>
              <a:noFill/>
            </a:ln>
          </p:spPr>
          <p:txBody>
            <a:bodyPr wrap="none" lIns="0" tIns="0" rIns="0" bIns="0" anchor="t" anchorCtr="0">
              <a:spAutoFit/>
            </a:bodyPr>
            <a:lstStyle/>
            <a:p>
              <a:pPr algn="r"/>
              <a:r>
                <a:rPr lang="en-US" sz="980" dirty="0">
                  <a:solidFill>
                    <a:srgbClr val="5B6B7B"/>
                  </a:solidFill>
                  <a:latin typeface="Arial"/>
                  <a:ea typeface="Arial"/>
                  <a:cs typeface="Arial"/>
                </a:rPr>
                <a:t>17 / 17</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2026-07-07T08:38:10Z</dcterms:created>
  <dcterms:modified xsi:type="dcterms:W3CDTF">2026-07-07T08:38:10Z</dcterms:modified>
  <cp:category/>
  <cp:contentStatus/>
</cp:coreProperties>
</file>